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72" r:id="rId4"/>
    <p:sldId id="258" r:id="rId5"/>
    <p:sldId id="259" r:id="rId6"/>
    <p:sldId id="260" r:id="rId7"/>
    <p:sldId id="261" r:id="rId8"/>
    <p:sldId id="262" r:id="rId9"/>
    <p:sldId id="273" r:id="rId10"/>
    <p:sldId id="263" r:id="rId11"/>
    <p:sldId id="264" r:id="rId12"/>
    <p:sldId id="265" r:id="rId13"/>
    <p:sldId id="266" r:id="rId14"/>
    <p:sldId id="267" r:id="rId15"/>
    <p:sldId id="268" r:id="rId16"/>
    <p:sldId id="270"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03"/>
    <p:restoredTop sz="82043"/>
  </p:normalViewPr>
  <p:slideViewPr>
    <p:cSldViewPr snapToGrid="0">
      <p:cViewPr varScale="1">
        <p:scale>
          <a:sx n="161" d="100"/>
          <a:sy n="161" d="100"/>
        </p:scale>
        <p:origin x="248"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Introduce principal axes as directions for which angular velocity and angular momentum align. Decorative cover sculpture does not depict the example body.</a:t>
            </a:r>
          </a:p>
          <a:p>
            <a:r>
              <a:t>Artwork: AI-generated decorative background, not a physical diagram.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Ask: do angular momentum and angular velocity always point in the same direction? Left schematic shows the general case, right shows a principal-axis case.</a:t>
            </a:r>
          </a:p>
          <a:p>
            <a:r>
              <a:t>Artwork: AI-generated decorative background, not a physical diagram.</a:t>
            </a:r>
          </a:p>
          <a:p>
            <a:endParaRPr/>
          </a:p>
          <a:p>
            <a:br/>
            <a:r>
              <a:t>LaTeX equation:</a:t>
            </a:r>
            <a:br/>
            <a:r>
              <a:t>\mathbf L=\mathbf I\boldsymbol\omega</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CC2EC-E1C8-A142-6913-00448A54B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506EA-2783-16CE-74CB-51D813A45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FDA7A-41FC-56D3-8C00-E39C7E707E03}"/>
              </a:ext>
            </a:extLst>
          </p:cNvPr>
          <p:cNvSpPr>
            <a:spLocks noGrp="1"/>
          </p:cNvSpPr>
          <p:nvPr>
            <p:ph type="body" idx="1"/>
          </p:nvPr>
        </p:nvSpPr>
        <p:spPr/>
        <p:txBody>
          <a:bodyPr/>
          <a:lstStyle/>
          <a:p>
            <a:r>
              <a:t>Source: supplied B1.1 Principal Axes in Rotational Dynamics course PDF. Ask: do angular momentum and angular velocity always point in the same direction? Left schematic shows the general case, right shows a principal-axis case.</a:t>
            </a:r>
          </a:p>
          <a:p>
            <a:r>
              <a:t>Artwork: AI-generated decorative background, not a physical diagram.</a:t>
            </a:r>
          </a:p>
          <a:p>
            <a:endParaRPr/>
          </a:p>
          <a:p>
            <a:br/>
            <a:r>
              <a:t>LaTeX equation:</a:t>
            </a:r>
            <a:br/>
            <a:r>
              <a:t>\mathbf L=\mathbf I\boldsymbol\omega</a:t>
            </a:r>
            <a:br/>
            <a:endParaRPr/>
          </a:p>
        </p:txBody>
      </p:sp>
      <p:sp>
        <p:nvSpPr>
          <p:cNvPr id="4" name="Slide Number Placeholder 3">
            <a:extLst>
              <a:ext uri="{FF2B5EF4-FFF2-40B4-BE49-F238E27FC236}">
                <a16:creationId xmlns:a16="http://schemas.microsoft.com/office/drawing/2014/main" id="{B6BA0E48-E5F7-8425-3DC9-CF93F48875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65282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A principal axis is an eigenvector direction of I at a specified origin. For a free rigid body use the center of mass. Exact torque-free spin about a principal axis has constant omega direction, including the intermediate axis, though that solution is unstable to perturbations.</a:t>
            </a:r>
          </a:p>
          <a:p>
            <a:r>
              <a:t>Artwork: AI-generated decorative background, not a physical diagram.</a:t>
            </a:r>
          </a:p>
          <a:p>
            <a:endParaRPr/>
          </a:p>
          <a:p>
            <a:br/>
            <a:r>
              <a:t>LaTeX equation:</a:t>
            </a:r>
            <a:br/>
            <a:r>
              <a:t>\mathbf I\hat{\mathbf e}_k=I_k\hat{\mathbf e}_k</a:t>
            </a:r>
            <a:br/>
            <a:endParaRPr/>
          </a:p>
          <a:p>
            <a:br/>
            <a:r>
              <a:t>LaTeX equation:</a:t>
            </a:r>
            <a:br/>
            <a:r>
              <a:t>\boldsymbol\omega=\omega\hat{\mathbf e}_k\quad\Longrightarrow\quad\mathbf L=I_k\boldsymbol\omega</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All positions refer to one chosen origin. Principal axes depend on that origin. For free-body rotation use the center of mass. The tensor does not change physically when coordinates change, but its components do.</a:t>
            </a:r>
          </a:p>
          <a:p>
            <a:r>
              <a:t>Artwork: AI-generated decorative background, not a physical diagram.</a:t>
            </a:r>
          </a:p>
          <a:p>
            <a:endParaRPr/>
          </a:p>
          <a:p>
            <a:br/>
            <a:r>
              <a:t>LaTeX equation:</a:t>
            </a:r>
            <a:br/>
            <a:r>
              <a:t>I_{ij}=\int_V\rho(\mathbf r)\left(r^2\delta_{ij}-r_i r_j\right)\,dV</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Convention: Ixy denotes the actual matrix entry, including the minus sign. The PDF matrix sometimes places a separate minus sign before products of inertia. Do not combine the conventions. I is symmetric.</a:t>
            </a:r>
          </a:p>
          <a:p>
            <a:r>
              <a:t>Artwork: AI-generated decorative background, not a physical diagram.</a:t>
            </a:r>
          </a:p>
          <a:p>
            <a:endParaRPr/>
          </a:p>
          <a:p>
            <a:br/>
            <a:r>
              <a:t>LaTeX equation:</a:t>
            </a:r>
            <a:br/>
            <a:r>
              <a:t>\mathbf I=\begin{pmatrix}I_{xx}&amp;I_{xy}&amp;I_{xz}\\I_{xy}&amp;I_{yy}&amp;I_{yz}\\I_{xz}&amp;I_{yz}&amp;I_{zz}\end{pmatrix}</a:t>
            </a:r>
            <a:br/>
            <a:endParaRPr/>
          </a:p>
          <a:p>
            <a:br/>
            <a:r>
              <a:t>LaTeX equation:</a:t>
            </a:r>
            <a:br/>
            <a:r>
              <a:t>I_{xx}=\int(y^2+z^2)\,dm\qquad I_{xy}=-\int xy\,dm</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The real symmetric inertia tensor admits an orthonormal eigenbasis. For repeated eigenvalues, any orthonormal basis within the corresponding eigenspace works. Nonnegative principal moments follow from I_n = integral r_perp² dm.</a:t>
            </a:r>
          </a:p>
          <a:p>
            <a:r>
              <a:t>Artwork: AI-generated decorative background, not a physical diagram.</a:t>
            </a:r>
          </a:p>
          <a:p>
            <a:endParaRPr/>
          </a:p>
          <a:p>
            <a:br/>
            <a:r>
              <a:t>LaTeX equation:</a:t>
            </a:r>
            <a:br/>
            <a:r>
              <a:t>\det(\mathbf I-\lambda\mathbf 1)=0</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R has principal-axis unit vectors as columns, expressed in the original basis. Choose signs so det R = +1 for a proper rotation. R inverse equals R transpose. The body stays fixed while we change coordinate axes.</a:t>
            </a:r>
          </a:p>
          <a:p>
            <a:r>
              <a:t>Artwork: AI-generated decorative background, not a physical diagram.</a:t>
            </a:r>
          </a:p>
          <a:p>
            <a:endParaRPr/>
          </a:p>
          <a:p>
            <a:br/>
            <a:r>
              <a:t>LaTeX equation:</a:t>
            </a:r>
            <a:br/>
            <a:r>
              <a:t>\mathbf R=\begin{pmatrix}|&amp;|&amp;|\\\hat{\mathbf e}_1&amp;\hat{\mathbf e}_2&amp;\hat{\mathbf e}_3\\|&amp;|&amp;|\end{pmatrix}\qquad\mathbf R^T\mathbf R=\mathbf1</a:t>
            </a:r>
            <a:br/>
            <a:endParaRPr/>
          </a:p>
          <a:p>
            <a:br/>
            <a:r>
              <a:t>LaTeX equation:</a:t>
            </a:r>
            <a:br/>
            <a:r>
              <a:t>\mathbf I^{\prime}=\mathbf R^T\mathbf I\mathbf R=\operatorname{diag}(I_1,I_2,I_3)</a:t>
            </a:r>
            <a:br/>
            <a:endParaRPr/>
          </a:p>
          <a:p>
            <a:br/>
            <a:r>
              <a:t>LaTeX equation:</a:t>
            </a:r>
            <a:br/>
            <a:r>
              <a:t>\mathbf L^{\prime}=\mathbf R^T\mathbf L\qquad\boldsymbol\omega^{\prime}=\mathbf R^T\boldsymbol\omega</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change of basis with normalized principal eigenvectors as columns. The columns of R are unit principal eigenvectors expressed in the original basis. Choose a right-handed orthonormal set, giving det R = +1. This example assumes the principal basis lies 30 degrees counterclockwise about the old z axis. e1=(sqrt3/2,1/2,0), e2=(−1/2,sqrt3/2,0), e3=(0,0,1). The diagram is a view down +z with z perpendicular to the page. R maps new components to old; R transpose maps old to new. Eigenvalue ordering must match the corresponding column ordering.</a:t>
            </a:r>
          </a:p>
          <a:p>
            <a:r>
              <a:rPr dirty="0"/>
              <a:t>Artwork: AI-generated decorative background, not a physical diagram.</a:t>
            </a:r>
          </a:p>
          <a:p>
            <a:endParaRPr dirty="0"/>
          </a:p>
          <a:p>
            <a:br>
              <a:rPr dirty="0"/>
            </a:br>
            <a:r>
              <a:rPr dirty="0"/>
              <a:t>LaTeX equation:</a:t>
            </a:r>
            <a:br>
              <a:rPr dirty="0"/>
            </a:br>
            <a:r>
              <a:rPr dirty="0"/>
              <a:t>\</a:t>
            </a:r>
            <a:r>
              <a:rPr dirty="0" err="1"/>
              <a:t>mathbf</a:t>
            </a:r>
            <a:r>
              <a:rPr dirty="0"/>
              <a:t> R=\left(\hat{\</a:t>
            </a:r>
            <a:r>
              <a:rPr dirty="0" err="1"/>
              <a:t>mathbf</a:t>
            </a:r>
            <a:r>
              <a:rPr dirty="0"/>
              <a:t> e}_1\ \hat{\</a:t>
            </a:r>
            <a:r>
              <a:rPr dirty="0" err="1"/>
              <a:t>mathbf</a:t>
            </a:r>
            <a:r>
              <a:rPr dirty="0"/>
              <a:t> e}_2\ \hat{\</a:t>
            </a:r>
            <a:r>
              <a:rPr dirty="0" err="1"/>
              <a:t>mathbf</a:t>
            </a:r>
            <a:r>
              <a:rPr dirty="0"/>
              <a:t> e}_3\right)=\begin{</a:t>
            </a:r>
            <a:r>
              <a:rPr dirty="0" err="1"/>
              <a:t>pmatrix</a:t>
            </a:r>
            <a:r>
              <a:rPr dirty="0"/>
              <a:t>}{\color[HTML]{55F3D2}e_{1x}}&amp;{\color[HTML]{B5A2FF}e_{2x}}&amp;{\color[HTML]{FFC978}e_{3x}}\\{\color[HTML]{55F3D2}e_{1y}}&amp;{\color[HTML]{B5A2FF}e_{2y}}&amp;{\color[HTML]{FFC978}e_{3y}}\\{\color[HTML]{55F3D2}e_{1z}}&amp;{\color[HTML]{B5A2FF}e_{2z}}&amp;{\color[HTML]{FFC978}e_{3z}}\end{</a:t>
            </a:r>
            <a:r>
              <a:rPr dirty="0" err="1"/>
              <a:t>pmatrix</a:t>
            </a:r>
            <a:r>
              <a:rPr dirty="0"/>
              <a:t>}</a:t>
            </a:r>
            <a:br>
              <a:rPr dirty="0"/>
            </a:br>
            <a:endParaRPr dirty="0"/>
          </a:p>
          <a:p>
            <a:br>
              <a:rPr dirty="0"/>
            </a:br>
            <a:r>
              <a:rPr dirty="0"/>
              <a:t>LaTeX equation:</a:t>
            </a:r>
            <a:br>
              <a:rPr dirty="0"/>
            </a:br>
            <a:r>
              <a:rPr dirty="0"/>
              <a:t>\</a:t>
            </a:r>
            <a:r>
              <a:rPr dirty="0" err="1"/>
              <a:t>mathbf</a:t>
            </a:r>
            <a:r>
              <a:rPr dirty="0"/>
              <a:t> R=\begin{</a:t>
            </a:r>
            <a:r>
              <a:rPr dirty="0" err="1"/>
              <a:t>pmatrix</a:t>
            </a:r>
            <a:r>
              <a:rPr dirty="0"/>
              <a:t>}{\color[HTML]{55F3D2}\sqrt3/2}&amp;{\color[HTML]{B5A2FF}-1/2}&amp;{\color[HTML]{FFC978}0}\\{\color[HTML]{55F3D2}1/2}&amp;{\color[HTML]{B5A2FF}\sqrt3/2}&amp;{\color[HTML]{FFC978}0}\\{\color[HTML]{55F3D2}0}&amp;{\color[HTML]{B5A2FF}0}&amp;{\color[HTML]{FFC978}1}\end{</a:t>
            </a:r>
            <a:r>
              <a:rPr dirty="0" err="1"/>
              <a:t>pmatrix</a:t>
            </a:r>
            <a:r>
              <a:rPr dirty="0"/>
              <a:t>}</a:t>
            </a:r>
            <a:br>
              <a:rPr dirty="0"/>
            </a:br>
            <a:endParaRPr dirty="0"/>
          </a:p>
          <a:p>
            <a:br>
              <a:rPr dirty="0"/>
            </a:br>
            <a:r>
              <a:rPr dirty="0"/>
              <a:t>LaTeX equation:</a:t>
            </a:r>
            <a:br>
              <a:rPr dirty="0"/>
            </a:br>
            <a:r>
              <a:rPr dirty="0"/>
              <a:t>\</a:t>
            </a:r>
            <a:r>
              <a:rPr dirty="0" err="1"/>
              <a:t>mathbf</a:t>
            </a:r>
            <a:r>
              <a:rPr dirty="0"/>
              <a:t> R^T\</a:t>
            </a:r>
            <a:r>
              <a:rPr dirty="0" err="1"/>
              <a:t>mathbf</a:t>
            </a:r>
            <a:r>
              <a:rPr dirty="0"/>
              <a:t> R=\mathbf1\</a:t>
            </a:r>
            <a:r>
              <a:rPr dirty="0" err="1"/>
              <a:t>qquad</a:t>
            </a:r>
            <a:r>
              <a:rPr dirty="0"/>
              <a:t>\</a:t>
            </a:r>
            <a:r>
              <a:rPr dirty="0" err="1"/>
              <a:t>mathbf</a:t>
            </a:r>
            <a:r>
              <a:rPr dirty="0"/>
              <a:t> I^{\prime}=\</a:t>
            </a:r>
            <a:r>
              <a:rPr dirty="0" err="1"/>
              <a:t>mathbf</a:t>
            </a:r>
            <a:r>
              <a:rPr dirty="0"/>
              <a:t> R^T\</a:t>
            </a:r>
            <a:r>
              <a:rPr dirty="0" err="1"/>
              <a:t>mathbf</a:t>
            </a:r>
            <a:r>
              <a:rPr dirty="0"/>
              <a:t> I\</a:t>
            </a:r>
            <a:r>
              <a:rPr dirty="0" err="1"/>
              <a:t>mathbf</a:t>
            </a:r>
            <a:r>
              <a:rPr dirty="0"/>
              <a:t> R=\</a:t>
            </a:r>
            <a:r>
              <a:rPr dirty="0" err="1"/>
              <a:t>operatorname</a:t>
            </a:r>
            <a:r>
              <a:rPr dirty="0"/>
              <a:t>{</a:t>
            </a:r>
            <a:r>
              <a:rPr dirty="0" err="1"/>
              <a:t>diag</a:t>
            </a:r>
            <a:r>
              <a:rPr dirty="0"/>
              <a:t>}(I_1,I_2,I_3)</a:t>
            </a:r>
            <a:br>
              <a:rPr dirty="0"/>
            </a:b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For a uniform sphere about its center, every direction is principal. For an axially symmetric body at its CM, the symmetry axis is principal and every perpendicular direction is principal. Degenerate eigenvalues allow freedom within the perpendicular plane.</a:t>
            </a:r>
          </a:p>
          <a:p>
            <a:r>
              <a:t>Artwork: AI-generated decorative background, not a physical diagram.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Clarification of the cube-corner example: four equal masses m=1 kg at (1,1,1), (1,−1,−1), (−1,1,−1), (−1,−1,1) metres yield I=8 identity kg m². These are four alternating cube vertices. The PDF does not expose its source code or coordinates, so this is an explicit illustrative realization of its reported tensor.</a:t>
            </a:r>
          </a:p>
          <a:p>
            <a:r>
              <a:t>Artwork: AI-generated decorative background, not a physical diagram.</a:t>
            </a:r>
          </a:p>
          <a:p>
            <a:endParaRPr/>
          </a:p>
          <a:p>
            <a:br/>
            <a:r>
              <a:t>LaTeX equation:</a:t>
            </a:r>
            <a:br/>
            <a:r>
              <a:t>\mathbf I=I_0\mathbf1\quad\Longrightarrow\quad\mathbf I\hat{\mathbf n}=I_0\hat{\mathbf n}</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supplied B1.1 Principal Axes in Rotational Dynamics course PDF. Box 1. Pause here. The </a:t>
            </a:r>
            <a:r>
              <a:rPr dirty="0" err="1"/>
              <a:t>xy</a:t>
            </a:r>
            <a:r>
              <a:rPr dirty="0"/>
              <a:t> block couples x and y while z is decoupled. Ask students to identify an eigenvector before finding any eigenvalues.</a:t>
            </a:r>
          </a:p>
          <a:p>
            <a:r>
              <a:rPr dirty="0"/>
              <a:t>Artwork: AI-generated decorative background, not a physical diagram.</a:t>
            </a:r>
          </a:p>
          <a:p>
            <a:endParaRPr dirty="0"/>
          </a:p>
          <a:p>
            <a:br>
              <a:rPr dirty="0"/>
            </a:br>
            <a:r>
              <a:rPr dirty="0"/>
              <a:t>LaTeX equation:</a:t>
            </a:r>
            <a:br>
              <a:rPr dirty="0"/>
            </a:br>
            <a:r>
              <a:rPr dirty="0"/>
              <a:t>\</a:t>
            </a:r>
            <a:r>
              <a:rPr dirty="0" err="1"/>
              <a:t>mathbf</a:t>
            </a:r>
            <a:r>
              <a:rPr dirty="0"/>
              <a:t> I=\begin{</a:t>
            </a:r>
            <a:r>
              <a:rPr dirty="0" err="1"/>
              <a:t>pmatrix</a:t>
            </a:r>
            <a:r>
              <a:rPr dirty="0"/>
              <a:t>}4&amp;1&amp;0\\1&amp;3&amp;0\\0&amp;0&amp;2\end{</a:t>
            </a:r>
            <a:r>
              <a:rPr dirty="0" err="1"/>
              <a:t>pmatrix</a:t>
            </a:r>
            <a:r>
              <a:rPr dirty="0"/>
              <a:t>}\ \</a:t>
            </a:r>
            <a:r>
              <a:rPr dirty="0" err="1"/>
              <a:t>mathrm</a:t>
            </a:r>
            <a:r>
              <a:rPr dirty="0"/>
              <a:t>{kg\,m^2}</a:t>
            </a:r>
            <a:br>
              <a:rPr dirty="0"/>
            </a:b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Box 1 solution. det(I−lambda identity)=(2−lambda)[(4−lambda)(3−lambda)−1]. The principal moments have units kg m². They are positive and obey the inertia triangle inequality.</a:t>
            </a:r>
          </a:p>
          <a:p>
            <a:r>
              <a:t>Artwork: AI-generated decorative background, not a physical diagram.</a:t>
            </a:r>
          </a:p>
          <a:p>
            <a:endParaRPr/>
          </a:p>
          <a:p>
            <a:br/>
            <a:r>
              <a:t>LaTeX equation:</a:t>
            </a:r>
            <a:br/>
            <a:r>
              <a:t>(2-\lambda)(\lambda^2-7\lambda+11)=0</a:t>
            </a:r>
            <a:br/>
            <a:endParaRPr/>
          </a:p>
          <a:p>
            <a:br/>
            <a:r>
              <a:t>LaTeX equation:</a:t>
            </a:r>
            <a:br/>
            <a:r>
              <a:t>I_1=2,\quad I_2=\frac{7-\sqrt5}{2}\approx2.382,\quad I_3=\frac{7+\sqrt5}{2}\approx4.618</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The eigenvector signs differ from one possible numerical output but define the same axes. Here the columns form a right-handed basis. e3 is 31.717 degrees counterclockwise from +x. e2 is perpendicular. z remains e1.</a:t>
            </a:r>
          </a:p>
          <a:p>
            <a:r>
              <a:t>Artwork: AI-generated decorative background, not a physical diagram.</a:t>
            </a:r>
          </a:p>
          <a:p>
            <a:endParaRPr/>
          </a:p>
          <a:p>
            <a:br/>
            <a:r>
              <a:t>LaTeX equation:</a:t>
            </a:r>
            <a:br/>
            <a:r>
              <a:t>\hat{\mathbf e}_1=\begin{pmatrix}0\\0\\1\end{pmatrix},\quad\hat{\mathbf e}_2=\begin{pmatrix}0.526\\-0.851\\0\end{pmatrix},\quad\hat{\mathbf e}_3=\begin{pmatrix}0.851\\0.526\\0\end{pmatrix}</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I prime = diag(2,2.381966,4.618034) in the principal basis. Angular momentum components are Lk = Ik omega_k. Diagonal does not mean that omega has only one nonzero component.</a:t>
            </a:r>
          </a:p>
          <a:p>
            <a:r>
              <a:t>Artwork: AI-generated decorative background, not a physical diagram.</a:t>
            </a:r>
          </a:p>
          <a:p>
            <a:endParaRPr/>
          </a:p>
          <a:p>
            <a:br/>
            <a:r>
              <a:t>LaTeX equation:</a:t>
            </a:r>
            <a:br/>
            <a:r>
              <a:t>\mathbf I^{\prime}=\begin{pmatrix}2&amp;0&amp;0\\0&amp;2.382&amp;0\\0&amp;0&amp;4.618\end{pmatrix}\ \mathrm{kg\,m^2}</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Use numpy.linalg.eigh for a real symmetric matrix. Eigenvectors are columns, eigenvalues ascending. Eigenvector signs can change without changing the axes. Check that R transpose I R equals diag(values) and R transpose R equals identity. For a proper rotation, flip one column if det R is negative.</a:t>
            </a:r>
          </a:p>
          <a:p>
            <a:r>
              <a:t>Artwork: AI-generated decorative background, not a physical diagram.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B1.1 Principal Axes in Rotational Dynamics course PDF. Correction to the source summary and Box 1: for distinct principal moments I1&lt;I2&lt;I3, torque-free spins about smallest and largest moments are stable to small angular-velocity perturbations. The intermediate-axis spin is unstable. Exact rotation about each principal axis is possible. This concerns ideal rigid-body dynamics without dissipation.</a:t>
            </a:r>
          </a:p>
          <a:p>
            <a:r>
              <a:t>Artwork: AI-generated decorative background, not a physical diagram.</a:t>
            </a:r>
          </a:p>
          <a:p>
            <a:endParaRPr/>
          </a:p>
          <a:p>
            <a:br/>
            <a:r>
              <a:t>LaTeX equation:</a:t>
            </a:r>
            <a:br/>
            <a:r>
              <a:t>I_1&lt;I_2&lt;I_3</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EA80B7B-F1A2-4184-A7CB-0DDDD46FB4A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8520E5D-59C0-4F78-9E5F-24E8309E16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E75DDF0-319C-4AA2-883C-F1443A8B883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FA6A15A-EFCA-4464-A1E1-E71EEE182E0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F42C345-5EC7-42C9-99A3-AE79E8ADAFD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44C98BCF-6F7A-4BD3-9530-07F805C5F60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D441027-81F4-4EE5-A6E0-F59F364B76B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4F275BD-1ED0-48B1-BAAE-1471005A09C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1ADC2E0-C549-4B41-B283-3411B174382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656AD11-CDBF-419B-AE17-25C78BB219F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gif"/><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gif"/><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B268F6-6065-4F2E-944B-BC2F1289A1D4}"/>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C44AA21-8F64-41A2-9CCB-B796F9184113}"/>
              </a:ext>
            </a:extLst>
          </p:cNvPr>
          <p:cNvSpPr>
            <a:spLocks noGrp="1"/>
          </p:cNvSpPr>
          <p:nvPr/>
        </p:nvSpPr>
        <p:spPr>
          <a:xfrm>
            <a:off x="0" y="0"/>
            <a:ext cx="6953250" cy="6858000"/>
          </a:xfrm>
          <a:prstGeom prst="rect">
            <a:avLst/>
          </a:prstGeom>
          <a:gradFill>
            <a:gsLst>
              <a:gs pos="0">
                <a:srgbClr val="030817">
                  <a:alpha val="0"/>
                </a:srgbClr>
              </a:gs>
              <a:gs pos="90000">
                <a:srgbClr val="030817">
                  <a:alpha val="78000"/>
                </a:srgbClr>
              </a:gs>
            </a:gsLst>
            <a:lin ang="0"/>
          </a:gradFill>
          <a:ln w="0">
            <a:noFill/>
            <a:prstDash val="solid"/>
          </a:ln>
        </p:spPr>
        <p:txBody>
          <a:bodyPr/>
          <a:lstStyle/>
          <a:p>
            <a:endParaRPr lang="en-US"/>
          </a:p>
        </p:txBody>
      </p:sp>
      <p:sp>
        <p:nvSpPr>
          <p:cNvPr id="3" name="Rectangle 2">
            <a:extLst>
              <a:ext uri="{FF2B5EF4-FFF2-40B4-BE49-F238E27FC236}">
                <a16:creationId xmlns:a16="http://schemas.microsoft.com/office/drawing/2014/main" id="{8E034225-5AD2-472E-BDFD-6AD8A2CEE8F8}"/>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BF05BBD0-A721-443B-A8EA-67DF5F645E20}"/>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5" name="Rectangle 4">
            <a:extLst>
              <a:ext uri="{FF2B5EF4-FFF2-40B4-BE49-F238E27FC236}">
                <a16:creationId xmlns:a16="http://schemas.microsoft.com/office/drawing/2014/main" id="{2A4D26FA-1000-4235-B165-DF050BDD3E14}"/>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01</a:t>
            </a:r>
          </a:p>
        </p:txBody>
      </p:sp>
      <p:sp>
        <p:nvSpPr>
          <p:cNvPr id="6" name="Rectangle 5">
            <a:extLst>
              <a:ext uri="{FF2B5EF4-FFF2-40B4-BE49-F238E27FC236}">
                <a16:creationId xmlns:a16="http://schemas.microsoft.com/office/drawing/2014/main" id="{4343809F-6470-4A96-B61B-052457CB4581}"/>
              </a:ext>
            </a:extLst>
          </p:cNvPr>
          <p:cNvSpPr>
            <a:spLocks noGrp="1"/>
          </p:cNvSpPr>
          <p:nvPr/>
        </p:nvSpPr>
        <p:spPr>
          <a:xfrm>
            <a:off x="609600" y="1676400"/>
            <a:ext cx="6572250" cy="1952625"/>
          </a:xfrm>
          <a:prstGeom prst="rect">
            <a:avLst/>
          </a:prstGeom>
          <a:noFill/>
          <a:ln w="0">
            <a:noFill/>
            <a:prstDash val="solid"/>
          </a:ln>
        </p:spPr>
        <p:txBody>
          <a:bodyPr/>
          <a:lstStyle>
            <a:defPPr>
              <a:defRPr sz="6450" b="1">
                <a:solidFill>
                  <a:srgbClr val="F6F7FF"/>
                </a:solidFill>
                <a:latin typeface="DejaVu Sans"/>
                <a:ea typeface="DejaVu Sans"/>
                <a:cs typeface="DejaVu Sans"/>
              </a:defRPr>
            </a:defPPr>
            <a:lvl1pPr>
              <a:defRPr sz="6450" b="1">
                <a:solidFill>
                  <a:srgbClr val="F6F7FF"/>
                </a:solidFill>
                <a:latin typeface="DejaVu Sans"/>
                <a:ea typeface="DejaVu Sans"/>
                <a:cs typeface="DejaVu Sans"/>
              </a:defRPr>
            </a:lvl1pPr>
            <a:lvl2pPr>
              <a:defRPr sz="6450" b="1">
                <a:solidFill>
                  <a:srgbClr val="F6F7FF"/>
                </a:solidFill>
                <a:latin typeface="DejaVu Sans"/>
                <a:ea typeface="DejaVu Sans"/>
                <a:cs typeface="DejaVu Sans"/>
              </a:defRPr>
            </a:lvl2pPr>
            <a:lvl3pPr>
              <a:defRPr sz="6450" b="1">
                <a:solidFill>
                  <a:srgbClr val="F6F7FF"/>
                </a:solidFill>
                <a:latin typeface="DejaVu Sans"/>
                <a:ea typeface="DejaVu Sans"/>
                <a:cs typeface="DejaVu Sans"/>
              </a:defRPr>
            </a:lvl3pPr>
            <a:lvl4pPr>
              <a:defRPr sz="6450" b="1">
                <a:solidFill>
                  <a:srgbClr val="F6F7FF"/>
                </a:solidFill>
                <a:latin typeface="DejaVu Sans"/>
                <a:ea typeface="DejaVu Sans"/>
                <a:cs typeface="DejaVu Sans"/>
              </a:defRPr>
            </a:lvl4pPr>
            <a:lvl5pPr>
              <a:defRPr sz="6450" b="1">
                <a:solidFill>
                  <a:srgbClr val="F6F7FF"/>
                </a:solidFill>
                <a:latin typeface="DejaVu Sans"/>
                <a:ea typeface="DejaVu Sans"/>
                <a:cs typeface="DejaVu Sans"/>
              </a:defRPr>
            </a:lvl5pPr>
            <a:lvl6pPr>
              <a:defRPr sz="6450" b="1">
                <a:solidFill>
                  <a:srgbClr val="F6F7FF"/>
                </a:solidFill>
                <a:latin typeface="DejaVu Sans"/>
                <a:ea typeface="DejaVu Sans"/>
                <a:cs typeface="DejaVu Sans"/>
              </a:defRPr>
            </a:lvl6pPr>
            <a:lvl7pPr>
              <a:defRPr sz="6450" b="1">
                <a:solidFill>
                  <a:srgbClr val="F6F7FF"/>
                </a:solidFill>
                <a:latin typeface="DejaVu Sans"/>
                <a:ea typeface="DejaVu Sans"/>
                <a:cs typeface="DejaVu Sans"/>
              </a:defRPr>
            </a:lvl7pPr>
            <a:lvl8pPr>
              <a:defRPr sz="6450" b="1">
                <a:solidFill>
                  <a:srgbClr val="F6F7FF"/>
                </a:solidFill>
                <a:latin typeface="DejaVu Sans"/>
                <a:ea typeface="DejaVu Sans"/>
                <a:cs typeface="DejaVu Sans"/>
              </a:defRPr>
            </a:lvl8pPr>
            <a:lvl9pPr>
              <a:defRPr sz="6450" b="1">
                <a:solidFill>
                  <a:srgbClr val="F6F7FF"/>
                </a:solidFill>
                <a:latin typeface="DejaVu Sans"/>
                <a:ea typeface="DejaVu Sans"/>
                <a:cs typeface="DejaVu Sans"/>
              </a:defRPr>
            </a:lvl9pPr>
          </a:lstStyle>
          <a:p>
            <a:pPr>
              <a:defRPr sz="6450" b="1">
                <a:solidFill>
                  <a:srgbClr val="F6F7FF"/>
                </a:solidFill>
                <a:latin typeface="DejaVu Sans"/>
                <a:ea typeface="DejaVu Sans"/>
                <a:cs typeface="DejaVu Sans"/>
              </a:defRPr>
            </a:pPr>
            <a:r>
              <a:rPr sz="6450" b="1">
                <a:solidFill>
                  <a:srgbClr val="F6F7FF"/>
                </a:solidFill>
                <a:latin typeface="DejaVu Sans"/>
                <a:ea typeface="DejaVu Sans"/>
                <a:cs typeface="DejaVu Sans"/>
              </a:rPr>
              <a:t>PRINCIPAL</a:t>
            </a:r>
          </a:p>
          <a:p>
            <a:pPr>
              <a:defRPr sz="6450" b="1">
                <a:solidFill>
                  <a:srgbClr val="F6F7FF"/>
                </a:solidFill>
                <a:latin typeface="DejaVu Sans"/>
                <a:ea typeface="DejaVu Sans"/>
                <a:cs typeface="DejaVu Sans"/>
              </a:defRPr>
            </a:pPr>
            <a:r>
              <a:rPr sz="6450" b="1">
                <a:solidFill>
                  <a:srgbClr val="F6F7FF"/>
                </a:solidFill>
                <a:latin typeface="DejaVu Sans"/>
                <a:ea typeface="DejaVu Sans"/>
                <a:cs typeface="DejaVu Sans"/>
              </a:rPr>
              <a:t>AXES</a:t>
            </a:r>
          </a:p>
        </p:txBody>
      </p:sp>
      <p:sp>
        <p:nvSpPr>
          <p:cNvPr id="7" name="Rectangle 6">
            <a:extLst>
              <a:ext uri="{FF2B5EF4-FFF2-40B4-BE49-F238E27FC236}">
                <a16:creationId xmlns:a16="http://schemas.microsoft.com/office/drawing/2014/main" id="{113BA12D-33AE-4931-AA7E-00218D416049}"/>
              </a:ext>
            </a:extLst>
          </p:cNvPr>
          <p:cNvSpPr>
            <a:spLocks noGrp="1"/>
          </p:cNvSpPr>
          <p:nvPr/>
        </p:nvSpPr>
        <p:spPr>
          <a:xfrm>
            <a:off x="657225" y="3933825"/>
            <a:ext cx="6000750" cy="571500"/>
          </a:xfrm>
          <a:prstGeom prst="rect">
            <a:avLst/>
          </a:prstGeom>
          <a:noFill/>
          <a:ln w="0">
            <a:noFill/>
            <a:prstDash val="solid"/>
          </a:ln>
        </p:spPr>
        <p:txBody>
          <a:bodyPr/>
          <a:lstStyle>
            <a:defPPr>
              <a:defRPr sz="2175" b="0">
                <a:solidFill>
                  <a:srgbClr val="55F3D2"/>
                </a:solidFill>
                <a:latin typeface="DejaVu Sans"/>
                <a:ea typeface="DejaVu Sans"/>
                <a:cs typeface="DejaVu Sans"/>
              </a:defRPr>
            </a:defPPr>
            <a:lvl1pPr>
              <a:defRPr sz="2175" b="0">
                <a:solidFill>
                  <a:srgbClr val="55F3D2"/>
                </a:solidFill>
                <a:latin typeface="DejaVu Sans"/>
                <a:ea typeface="DejaVu Sans"/>
                <a:cs typeface="DejaVu Sans"/>
              </a:defRPr>
            </a:lvl1pPr>
            <a:lvl2pPr>
              <a:defRPr sz="2175" b="0">
                <a:solidFill>
                  <a:srgbClr val="55F3D2"/>
                </a:solidFill>
                <a:latin typeface="DejaVu Sans"/>
                <a:ea typeface="DejaVu Sans"/>
                <a:cs typeface="DejaVu Sans"/>
              </a:defRPr>
            </a:lvl2pPr>
            <a:lvl3pPr>
              <a:defRPr sz="2175" b="0">
                <a:solidFill>
                  <a:srgbClr val="55F3D2"/>
                </a:solidFill>
                <a:latin typeface="DejaVu Sans"/>
                <a:ea typeface="DejaVu Sans"/>
                <a:cs typeface="DejaVu Sans"/>
              </a:defRPr>
            </a:lvl3pPr>
            <a:lvl4pPr>
              <a:defRPr sz="2175" b="0">
                <a:solidFill>
                  <a:srgbClr val="55F3D2"/>
                </a:solidFill>
                <a:latin typeface="DejaVu Sans"/>
                <a:ea typeface="DejaVu Sans"/>
                <a:cs typeface="DejaVu Sans"/>
              </a:defRPr>
            </a:lvl4pPr>
            <a:lvl5pPr>
              <a:defRPr sz="2175" b="0">
                <a:solidFill>
                  <a:srgbClr val="55F3D2"/>
                </a:solidFill>
                <a:latin typeface="DejaVu Sans"/>
                <a:ea typeface="DejaVu Sans"/>
                <a:cs typeface="DejaVu Sans"/>
              </a:defRPr>
            </a:lvl5pPr>
            <a:lvl6pPr>
              <a:defRPr sz="2175" b="0">
                <a:solidFill>
                  <a:srgbClr val="55F3D2"/>
                </a:solidFill>
                <a:latin typeface="DejaVu Sans"/>
                <a:ea typeface="DejaVu Sans"/>
                <a:cs typeface="DejaVu Sans"/>
              </a:defRPr>
            </a:lvl6pPr>
            <a:lvl7pPr>
              <a:defRPr sz="2175" b="0">
                <a:solidFill>
                  <a:srgbClr val="55F3D2"/>
                </a:solidFill>
                <a:latin typeface="DejaVu Sans"/>
                <a:ea typeface="DejaVu Sans"/>
                <a:cs typeface="DejaVu Sans"/>
              </a:defRPr>
            </a:lvl7pPr>
            <a:lvl8pPr>
              <a:defRPr sz="2175" b="0">
                <a:solidFill>
                  <a:srgbClr val="55F3D2"/>
                </a:solidFill>
                <a:latin typeface="DejaVu Sans"/>
                <a:ea typeface="DejaVu Sans"/>
                <a:cs typeface="DejaVu Sans"/>
              </a:defRPr>
            </a:lvl8pPr>
            <a:lvl9pPr>
              <a:defRPr sz="2175" b="0">
                <a:solidFill>
                  <a:srgbClr val="55F3D2"/>
                </a:solidFill>
                <a:latin typeface="DejaVu Sans"/>
                <a:ea typeface="DejaVu Sans"/>
                <a:cs typeface="DejaVu Sans"/>
              </a:defRPr>
            </a:lvl9pPr>
          </a:lstStyle>
          <a:p>
            <a:pPr>
              <a:defRPr sz="2175" b="0">
                <a:solidFill>
                  <a:srgbClr val="55F3D2"/>
                </a:solidFill>
                <a:latin typeface="DejaVu Sans"/>
                <a:ea typeface="DejaVu Sans"/>
                <a:cs typeface="DejaVu Sans"/>
              </a:defRPr>
            </a:pPr>
            <a:r>
              <a:rPr sz="2175" b="0">
                <a:solidFill>
                  <a:srgbClr val="55F3D2"/>
                </a:solidFill>
                <a:latin typeface="DejaVu Sans"/>
                <a:ea typeface="DejaVu Sans"/>
                <a:cs typeface="DejaVu Sans"/>
              </a:rPr>
              <a:t>The geometry behind a clean spin</a:t>
            </a:r>
          </a:p>
        </p:txBody>
      </p:sp>
      <p:sp>
        <p:nvSpPr>
          <p:cNvPr id="8" name="Rectangle 7">
            <a:extLst>
              <a:ext uri="{FF2B5EF4-FFF2-40B4-BE49-F238E27FC236}">
                <a16:creationId xmlns:a16="http://schemas.microsoft.com/office/drawing/2014/main" id="{B6202CB4-A9D7-432E-B566-8E45B2BD882C}"/>
              </a:ext>
            </a:extLst>
          </p:cNvPr>
          <p:cNvSpPr>
            <a:spLocks noGrp="1"/>
          </p:cNvSpPr>
          <p:nvPr/>
        </p:nvSpPr>
        <p:spPr>
          <a:xfrm>
            <a:off x="657225" y="4838700"/>
            <a:ext cx="5524500" cy="400050"/>
          </a:xfrm>
          <a:prstGeom prst="rect">
            <a:avLst/>
          </a:prstGeom>
          <a:noFill/>
          <a:ln w="0">
            <a:noFill/>
            <a:prstDash val="solid"/>
          </a:ln>
        </p:spPr>
        <p:txBody>
          <a:bodyPr/>
          <a:lstStyle>
            <a:defPPr>
              <a:defRPr sz="1725" b="0">
                <a:solidFill>
                  <a:srgbClr val="B6C3D8"/>
                </a:solidFill>
                <a:latin typeface="DejaVu Sans"/>
                <a:ea typeface="DejaVu Sans"/>
                <a:cs typeface="DejaVu Sans"/>
              </a:defRPr>
            </a:defPPr>
            <a:lvl1pPr>
              <a:defRPr sz="1725" b="0">
                <a:solidFill>
                  <a:srgbClr val="B6C3D8"/>
                </a:solidFill>
                <a:latin typeface="DejaVu Sans"/>
                <a:ea typeface="DejaVu Sans"/>
                <a:cs typeface="DejaVu Sans"/>
              </a:defRPr>
            </a:lvl1pPr>
            <a:lvl2pPr>
              <a:defRPr sz="1725" b="0">
                <a:solidFill>
                  <a:srgbClr val="B6C3D8"/>
                </a:solidFill>
                <a:latin typeface="DejaVu Sans"/>
                <a:ea typeface="DejaVu Sans"/>
                <a:cs typeface="DejaVu Sans"/>
              </a:defRPr>
            </a:lvl2pPr>
            <a:lvl3pPr>
              <a:defRPr sz="1725" b="0">
                <a:solidFill>
                  <a:srgbClr val="B6C3D8"/>
                </a:solidFill>
                <a:latin typeface="DejaVu Sans"/>
                <a:ea typeface="DejaVu Sans"/>
                <a:cs typeface="DejaVu Sans"/>
              </a:defRPr>
            </a:lvl3pPr>
            <a:lvl4pPr>
              <a:defRPr sz="1725" b="0">
                <a:solidFill>
                  <a:srgbClr val="B6C3D8"/>
                </a:solidFill>
                <a:latin typeface="DejaVu Sans"/>
                <a:ea typeface="DejaVu Sans"/>
                <a:cs typeface="DejaVu Sans"/>
              </a:defRPr>
            </a:lvl4pPr>
            <a:lvl5pPr>
              <a:defRPr sz="1725" b="0">
                <a:solidFill>
                  <a:srgbClr val="B6C3D8"/>
                </a:solidFill>
                <a:latin typeface="DejaVu Sans"/>
                <a:ea typeface="DejaVu Sans"/>
                <a:cs typeface="DejaVu Sans"/>
              </a:defRPr>
            </a:lvl5pPr>
            <a:lvl6pPr>
              <a:defRPr sz="1725" b="0">
                <a:solidFill>
                  <a:srgbClr val="B6C3D8"/>
                </a:solidFill>
                <a:latin typeface="DejaVu Sans"/>
                <a:ea typeface="DejaVu Sans"/>
                <a:cs typeface="DejaVu Sans"/>
              </a:defRPr>
            </a:lvl6pPr>
            <a:lvl7pPr>
              <a:defRPr sz="1725" b="0">
                <a:solidFill>
                  <a:srgbClr val="B6C3D8"/>
                </a:solidFill>
                <a:latin typeface="DejaVu Sans"/>
                <a:ea typeface="DejaVu Sans"/>
                <a:cs typeface="DejaVu Sans"/>
              </a:defRPr>
            </a:lvl7pPr>
            <a:lvl8pPr>
              <a:defRPr sz="1725" b="0">
                <a:solidFill>
                  <a:srgbClr val="B6C3D8"/>
                </a:solidFill>
                <a:latin typeface="DejaVu Sans"/>
                <a:ea typeface="DejaVu Sans"/>
                <a:cs typeface="DejaVu Sans"/>
              </a:defRPr>
            </a:lvl8pPr>
            <a:lvl9pPr>
              <a:defRPr sz="1725" b="0">
                <a:solidFill>
                  <a:srgbClr val="B6C3D8"/>
                </a:solidFill>
                <a:latin typeface="DejaVu Sans"/>
                <a:ea typeface="DejaVu Sans"/>
                <a:cs typeface="DejaVu Sans"/>
              </a:defRPr>
            </a:lvl9pPr>
          </a:lstStyle>
          <a:p>
            <a:pPr>
              <a:defRPr sz="1725" b="0">
                <a:solidFill>
                  <a:srgbClr val="B6C3D8"/>
                </a:solidFill>
                <a:latin typeface="DejaVu Sans"/>
                <a:ea typeface="DejaVu Sans"/>
                <a:cs typeface="DejaVu Sans"/>
              </a:defRPr>
            </a:pPr>
            <a:r>
              <a:rPr sz="1725" b="0">
                <a:solidFill>
                  <a:srgbClr val="B6C3D8"/>
                </a:solidFill>
                <a:latin typeface="DejaVu Sans"/>
                <a:ea typeface="DejaVu Sans"/>
                <a:cs typeface="DejaVu Sans"/>
              </a:rPr>
              <a:t>Advanced rotational dynamics</a:t>
            </a:r>
          </a:p>
        </p:txBody>
      </p:sp>
    </p:spTree>
    <p:extLst>
      <p:ext uri="{BB962C8B-B14F-4D97-AF65-F5344CB8AC3E}">
        <p14:creationId xmlns:p14="http://schemas.microsoft.com/office/powerpoint/2010/main" val="122819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356E02F-5E7C-4E27-BCDF-789E046CC7F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5C2DA89-9815-4327-BB16-3061543B7051}"/>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839DD6BC-4214-4E9D-B495-C7D106040734}"/>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5" name="Rectangle 4">
            <a:extLst>
              <a:ext uri="{FF2B5EF4-FFF2-40B4-BE49-F238E27FC236}">
                <a16:creationId xmlns:a16="http://schemas.microsoft.com/office/drawing/2014/main" id="{395206DA-6911-4AE2-B39C-7E032274C727}"/>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037E864B-BDFC-425D-9934-863A317CAF61}"/>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02</a:t>
            </a:r>
          </a:p>
        </p:txBody>
      </p:sp>
      <p:pic>
        <p:nvPicPr>
          <p:cNvPr id="16" name="Picture 15">
            <a:extLst>
              <a:ext uri="{FF2B5EF4-FFF2-40B4-BE49-F238E27FC236}">
                <a16:creationId xmlns:a16="http://schemas.microsoft.com/office/drawing/2014/main" id="{49557B4A-2F48-761F-9FEF-A2E5640F02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643" y="604300"/>
            <a:ext cx="10313136" cy="5804223"/>
          </a:xfrm>
          <a:prstGeom prst="rect">
            <a:avLst/>
          </a:prstGeom>
        </p:spPr>
      </p:pic>
    </p:spTree>
    <p:extLst>
      <p:ext uri="{BB962C8B-B14F-4D97-AF65-F5344CB8AC3E}">
        <p14:creationId xmlns:p14="http://schemas.microsoft.com/office/powerpoint/2010/main" val="539313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a:extLst>
            <a:ext uri="{FF2B5EF4-FFF2-40B4-BE49-F238E27FC236}">
              <a16:creationId xmlns:a16="http://schemas.microsoft.com/office/drawing/2014/main" id="{A24B6D4F-6C03-469C-8646-ADD4EED6C0C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E48F48A-1D9A-4ADE-9930-8434FBB59D5C}"/>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7E8A699-CA2A-A198-F3F6-59FC65D63C5A}"/>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D3DA4D9E-0C53-129D-3C0B-12FE45C31EE7}"/>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FF5D5BC0-7E0F-DC22-C899-15884C8064A3}"/>
              </a:ext>
            </a:extLst>
          </p:cNvPr>
          <p:cNvSpPr>
            <a:spLocks noGrp="1"/>
          </p:cNvSpPr>
          <p:nvPr/>
        </p:nvSpPr>
        <p:spPr>
          <a:xfrm>
            <a:off x="577795" y="647203"/>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lang="en-US" dirty="0"/>
              <a:t>Angular velocity and angular momentum can point in different directions</a:t>
            </a:r>
            <a:endParaRPr sz="3225" b="1" dirty="0">
              <a:solidFill>
                <a:srgbClr val="F6F7FF"/>
              </a:solidFill>
              <a:latin typeface="DejaVu Sans"/>
              <a:ea typeface="DejaVu Sans"/>
              <a:cs typeface="DejaVu Sans"/>
            </a:endParaRPr>
          </a:p>
        </p:txBody>
      </p:sp>
      <p:sp>
        <p:nvSpPr>
          <p:cNvPr id="5" name="Rectangle 4">
            <a:extLst>
              <a:ext uri="{FF2B5EF4-FFF2-40B4-BE49-F238E27FC236}">
                <a16:creationId xmlns:a16="http://schemas.microsoft.com/office/drawing/2014/main" id="{D8F62183-8B75-E7DD-4087-E2596FA40696}"/>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06BB4658-006D-48F0-E3CA-97FFB9E0EF60}"/>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02</a:t>
            </a:r>
          </a:p>
        </p:txBody>
      </p:sp>
      <p:pic>
        <p:nvPicPr>
          <p:cNvPr id="7" name="Picture 6">
            <a:extLst>
              <a:ext uri="{FF2B5EF4-FFF2-40B4-BE49-F238E27FC236}">
                <a16:creationId xmlns:a16="http://schemas.microsoft.com/office/drawing/2014/main" id="{DAF73C92-CE8C-E193-EF54-6BC52143C4C2}"/>
              </a:ext>
            </a:extLst>
          </p:cNvPr>
          <p:cNvPicPr>
            <a:picLocks noChangeAspect="1"/>
          </p:cNvPicPr>
          <p:nvPr/>
        </p:nvPicPr>
        <p:blipFill>
          <a:blip r:embed="rId4"/>
          <a:stretch/>
        </p:blipFill>
        <p:spPr>
          <a:xfrm>
            <a:off x="568625" y="3347655"/>
            <a:ext cx="2381250" cy="952500"/>
          </a:xfrm>
          <a:prstGeom prst="rect">
            <a:avLst/>
          </a:prstGeom>
        </p:spPr>
      </p:pic>
      <p:pic>
        <p:nvPicPr>
          <p:cNvPr id="14" name="Picture 13">
            <a:extLst>
              <a:ext uri="{FF2B5EF4-FFF2-40B4-BE49-F238E27FC236}">
                <a16:creationId xmlns:a16="http://schemas.microsoft.com/office/drawing/2014/main" id="{596729B2-7D73-BEFB-67BB-5E6F15AB9F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1740" y="1836256"/>
            <a:ext cx="8225625" cy="4626914"/>
          </a:xfrm>
          <a:prstGeom prst="rect">
            <a:avLst/>
          </a:prstGeom>
        </p:spPr>
      </p:pic>
    </p:spTree>
    <p:extLst>
      <p:ext uri="{BB962C8B-B14F-4D97-AF65-F5344CB8AC3E}">
        <p14:creationId xmlns:p14="http://schemas.microsoft.com/office/powerpoint/2010/main" val="559674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0A4E0D6-BB6F-4065-A38B-F48A26838DF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13D0D76-A9DC-4ED1-A814-A80D38509427}"/>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D14F8E1C-5EDB-4351-BF3F-F24636B9C18D}"/>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5C125897-7B2D-424E-A570-E3B83BD1DDC5}"/>
              </a:ext>
            </a:extLst>
          </p:cNvPr>
          <p:cNvSpPr>
            <a:spLocks noGrp="1"/>
          </p:cNvSpPr>
          <p:nvPr/>
        </p:nvSpPr>
        <p:spPr>
          <a:xfrm>
            <a:off x="561892" y="599495"/>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lang="en-US" dirty="0"/>
              <a:t>Along a principal axis, angular momentum aligns with angular velocity</a:t>
            </a:r>
            <a:endParaRPr sz="3225" b="1" dirty="0">
              <a:solidFill>
                <a:srgbClr val="F6F7FF"/>
              </a:solidFill>
              <a:latin typeface="DejaVu Sans"/>
              <a:ea typeface="DejaVu Sans"/>
              <a:cs typeface="DejaVu Sans"/>
            </a:endParaRPr>
          </a:p>
        </p:txBody>
      </p:sp>
      <p:sp>
        <p:nvSpPr>
          <p:cNvPr id="5" name="Rectangle 4">
            <a:extLst>
              <a:ext uri="{FF2B5EF4-FFF2-40B4-BE49-F238E27FC236}">
                <a16:creationId xmlns:a16="http://schemas.microsoft.com/office/drawing/2014/main" id="{FC47C2B7-F3D8-4570-B9E4-BBB9E9365444}"/>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B98E0735-9D87-4F95-9145-940690B0F5F0}"/>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03</a:t>
            </a:r>
          </a:p>
        </p:txBody>
      </p:sp>
      <p:pic>
        <p:nvPicPr>
          <p:cNvPr id="7" name="Picture 6">
            <a:extLst>
              <a:ext uri="{FF2B5EF4-FFF2-40B4-BE49-F238E27FC236}">
                <a16:creationId xmlns:a16="http://schemas.microsoft.com/office/drawing/2014/main" id="{9E3444BC-1116-47A0-96AA-0974BE0E2EDA}"/>
              </a:ext>
            </a:extLst>
          </p:cNvPr>
          <p:cNvPicPr>
            <a:picLocks noChangeAspect="1"/>
          </p:cNvPicPr>
          <p:nvPr/>
        </p:nvPicPr>
        <p:blipFill>
          <a:blip r:embed="rId4"/>
          <a:stretch/>
        </p:blipFill>
        <p:spPr>
          <a:xfrm>
            <a:off x="359593" y="3538080"/>
            <a:ext cx="3379049" cy="1095375"/>
          </a:xfrm>
          <a:prstGeom prst="rect">
            <a:avLst/>
          </a:prstGeom>
        </p:spPr>
      </p:pic>
      <p:pic>
        <p:nvPicPr>
          <p:cNvPr id="8" name="Picture 7">
            <a:extLst>
              <a:ext uri="{FF2B5EF4-FFF2-40B4-BE49-F238E27FC236}">
                <a16:creationId xmlns:a16="http://schemas.microsoft.com/office/drawing/2014/main" id="{6A511914-3A43-4CDC-95D8-D6004DA00FC8}"/>
              </a:ext>
            </a:extLst>
          </p:cNvPr>
          <p:cNvPicPr>
            <a:picLocks noChangeAspect="1"/>
          </p:cNvPicPr>
          <p:nvPr/>
        </p:nvPicPr>
        <p:blipFill>
          <a:blip r:embed="rId5"/>
          <a:stretch/>
        </p:blipFill>
        <p:spPr>
          <a:xfrm>
            <a:off x="342970" y="4398811"/>
            <a:ext cx="6799717" cy="1000125"/>
          </a:xfrm>
          <a:prstGeom prst="rect">
            <a:avLst/>
          </a:prstGeom>
        </p:spPr>
      </p:pic>
      <p:sp>
        <p:nvSpPr>
          <p:cNvPr id="9" name="Rectangle 8">
            <a:extLst>
              <a:ext uri="{FF2B5EF4-FFF2-40B4-BE49-F238E27FC236}">
                <a16:creationId xmlns:a16="http://schemas.microsoft.com/office/drawing/2014/main" id="{C2A14EBB-6900-44CC-BFDD-95E3E8BF2561}"/>
              </a:ext>
            </a:extLst>
          </p:cNvPr>
          <p:cNvSpPr>
            <a:spLocks noGrp="1"/>
          </p:cNvSpPr>
          <p:nvPr/>
        </p:nvSpPr>
        <p:spPr>
          <a:xfrm>
            <a:off x="639749" y="5580656"/>
            <a:ext cx="10477500" cy="762000"/>
          </a:xfrm>
          <a:prstGeom prst="rect">
            <a:avLst/>
          </a:prstGeom>
          <a:noFill/>
          <a:ln w="0">
            <a:noFill/>
            <a:prstDash val="solid"/>
          </a:ln>
        </p:spPr>
        <p:txBody>
          <a:bodyPr/>
          <a:lstStyle>
            <a:defPPr>
              <a:defRPr sz="2250" b="0">
                <a:solidFill>
                  <a:srgbClr val="55F3D2"/>
                </a:solidFill>
                <a:latin typeface="DejaVu Sans"/>
                <a:ea typeface="DejaVu Sans"/>
                <a:cs typeface="DejaVu Sans"/>
              </a:defRPr>
            </a:defPPr>
            <a:lvl1pPr>
              <a:defRPr sz="2250" b="0">
                <a:solidFill>
                  <a:srgbClr val="55F3D2"/>
                </a:solidFill>
                <a:latin typeface="DejaVu Sans"/>
                <a:ea typeface="DejaVu Sans"/>
                <a:cs typeface="DejaVu Sans"/>
              </a:defRPr>
            </a:lvl1pPr>
            <a:lvl2pPr>
              <a:defRPr sz="2250" b="0">
                <a:solidFill>
                  <a:srgbClr val="55F3D2"/>
                </a:solidFill>
                <a:latin typeface="DejaVu Sans"/>
                <a:ea typeface="DejaVu Sans"/>
                <a:cs typeface="DejaVu Sans"/>
              </a:defRPr>
            </a:lvl2pPr>
            <a:lvl3pPr>
              <a:defRPr sz="2250" b="0">
                <a:solidFill>
                  <a:srgbClr val="55F3D2"/>
                </a:solidFill>
                <a:latin typeface="DejaVu Sans"/>
                <a:ea typeface="DejaVu Sans"/>
                <a:cs typeface="DejaVu Sans"/>
              </a:defRPr>
            </a:lvl3pPr>
            <a:lvl4pPr>
              <a:defRPr sz="2250" b="0">
                <a:solidFill>
                  <a:srgbClr val="55F3D2"/>
                </a:solidFill>
                <a:latin typeface="DejaVu Sans"/>
                <a:ea typeface="DejaVu Sans"/>
                <a:cs typeface="DejaVu Sans"/>
              </a:defRPr>
            </a:lvl4pPr>
            <a:lvl5pPr>
              <a:defRPr sz="2250" b="0">
                <a:solidFill>
                  <a:srgbClr val="55F3D2"/>
                </a:solidFill>
                <a:latin typeface="DejaVu Sans"/>
                <a:ea typeface="DejaVu Sans"/>
                <a:cs typeface="DejaVu Sans"/>
              </a:defRPr>
            </a:lvl5pPr>
            <a:lvl6pPr>
              <a:defRPr sz="2250" b="0">
                <a:solidFill>
                  <a:srgbClr val="55F3D2"/>
                </a:solidFill>
                <a:latin typeface="DejaVu Sans"/>
                <a:ea typeface="DejaVu Sans"/>
                <a:cs typeface="DejaVu Sans"/>
              </a:defRPr>
            </a:lvl6pPr>
            <a:lvl7pPr>
              <a:defRPr sz="2250" b="0">
                <a:solidFill>
                  <a:srgbClr val="55F3D2"/>
                </a:solidFill>
                <a:latin typeface="DejaVu Sans"/>
                <a:ea typeface="DejaVu Sans"/>
                <a:cs typeface="DejaVu Sans"/>
              </a:defRPr>
            </a:lvl7pPr>
            <a:lvl8pPr>
              <a:defRPr sz="2250" b="0">
                <a:solidFill>
                  <a:srgbClr val="55F3D2"/>
                </a:solidFill>
                <a:latin typeface="DejaVu Sans"/>
                <a:ea typeface="DejaVu Sans"/>
                <a:cs typeface="DejaVu Sans"/>
              </a:defRPr>
            </a:lvl8pPr>
            <a:lvl9pPr>
              <a:defRPr sz="2250" b="0">
                <a:solidFill>
                  <a:srgbClr val="55F3D2"/>
                </a:solidFill>
                <a:latin typeface="DejaVu Sans"/>
                <a:ea typeface="DejaVu Sans"/>
                <a:cs typeface="DejaVu Sans"/>
              </a:defRPr>
            </a:lvl9pPr>
          </a:lstStyle>
          <a:p>
            <a:pPr>
              <a:defRPr sz="2250" b="0">
                <a:solidFill>
                  <a:srgbClr val="55F3D2"/>
                </a:solidFill>
                <a:latin typeface="DejaVu Sans"/>
                <a:ea typeface="DejaVu Sans"/>
                <a:cs typeface="DejaVu Sans"/>
              </a:defRPr>
            </a:pPr>
            <a:r>
              <a:rPr sz="2250" b="0" dirty="0">
                <a:solidFill>
                  <a:srgbClr val="55F3D2"/>
                </a:solidFill>
                <a:latin typeface="DejaVu Sans"/>
                <a:ea typeface="DejaVu Sans"/>
                <a:cs typeface="DejaVu Sans"/>
              </a:rPr>
              <a:t>The inertia tensor scales this direction without turning it.</a:t>
            </a:r>
          </a:p>
        </p:txBody>
      </p:sp>
      <p:pic>
        <p:nvPicPr>
          <p:cNvPr id="12" name="Picture 11">
            <a:extLst>
              <a:ext uri="{FF2B5EF4-FFF2-40B4-BE49-F238E27FC236}">
                <a16:creationId xmlns:a16="http://schemas.microsoft.com/office/drawing/2014/main" id="{3C507F5C-132B-507E-674C-EA0EB23483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85776" y="0"/>
            <a:ext cx="5406224" cy="5406224"/>
          </a:xfrm>
          <a:prstGeom prst="rect">
            <a:avLst/>
          </a:prstGeom>
        </p:spPr>
      </p:pic>
      <p:sp>
        <p:nvSpPr>
          <p:cNvPr id="13" name="TextBox 12">
            <a:extLst>
              <a:ext uri="{FF2B5EF4-FFF2-40B4-BE49-F238E27FC236}">
                <a16:creationId xmlns:a16="http://schemas.microsoft.com/office/drawing/2014/main" id="{AF68D3CE-FDEC-9FB1-3BEE-7D7CC15B4E5B}"/>
              </a:ext>
            </a:extLst>
          </p:cNvPr>
          <p:cNvSpPr txBox="1"/>
          <p:nvPr/>
        </p:nvSpPr>
        <p:spPr>
          <a:xfrm>
            <a:off x="755374" y="1749287"/>
            <a:ext cx="5136543" cy="2031325"/>
          </a:xfrm>
          <a:prstGeom prst="rect">
            <a:avLst/>
          </a:prstGeom>
          <a:noFill/>
        </p:spPr>
        <p:txBody>
          <a:bodyPr wrap="square" rtlCol="0">
            <a:spAutoFit/>
          </a:bodyPr>
          <a:lstStyle/>
          <a:p>
            <a:pPr marL="285750" lvl="0" indent="-285750">
              <a:buFont typeface="Arial" panose="020B0604020202020204" pitchFamily="34" charset="0"/>
              <a:buChar char="•"/>
            </a:pPr>
            <a:r>
              <a:rPr lang="en-US" dirty="0">
                <a:solidFill>
                  <a:schemeClr val="bg1"/>
                </a:solidFill>
              </a:rPr>
              <a:t>Choose an angular-velocity direction </a:t>
            </a:r>
            <a:r>
              <a:rPr lang="en-US" b="1" dirty="0" err="1">
                <a:solidFill>
                  <a:schemeClr val="bg1"/>
                </a:solidFill>
              </a:rPr>
              <a:t>ω</a:t>
            </a:r>
            <a:r>
              <a:rPr lang="en-US" dirty="0">
                <a:solidFill>
                  <a:schemeClr val="bg1"/>
                </a:solidFill>
              </a:rPr>
              <a:t>.</a:t>
            </a:r>
          </a:p>
          <a:p>
            <a:pPr marL="285750" lvl="0" indent="-285750">
              <a:buFont typeface="Arial" panose="020B0604020202020204" pitchFamily="34" charset="0"/>
              <a:buChar char="•"/>
            </a:pPr>
            <a:r>
              <a:rPr lang="en-US" dirty="0">
                <a:solidFill>
                  <a:schemeClr val="bg1"/>
                </a:solidFill>
              </a:rPr>
              <a:t>The inertia tensor determines </a:t>
            </a:r>
            <a:r>
              <a:rPr lang="en-US" b="1" dirty="0">
                <a:solidFill>
                  <a:schemeClr val="bg1"/>
                </a:solidFill>
              </a:rPr>
              <a:t>L = </a:t>
            </a:r>
            <a:r>
              <a:rPr lang="en-US" b="1" dirty="0" err="1">
                <a:solidFill>
                  <a:schemeClr val="bg1"/>
                </a:solidFill>
              </a:rPr>
              <a:t>Iω</a:t>
            </a:r>
            <a:r>
              <a:rPr lang="en-US" dirty="0">
                <a:solidFill>
                  <a:schemeClr val="bg1"/>
                </a:solidFill>
              </a:rPr>
              <a:t>.</a:t>
            </a:r>
          </a:p>
          <a:p>
            <a:pPr marL="285750" lvl="0" indent="-285750">
              <a:buFont typeface="Arial" panose="020B0604020202020204" pitchFamily="34" charset="0"/>
              <a:buChar char="•"/>
            </a:pPr>
            <a:r>
              <a:rPr lang="en-US" dirty="0">
                <a:solidFill>
                  <a:schemeClr val="bg1"/>
                </a:solidFill>
              </a:rPr>
              <a:t>Generally, </a:t>
            </a:r>
            <a:r>
              <a:rPr lang="en-US" b="1" dirty="0">
                <a:solidFill>
                  <a:schemeClr val="bg1"/>
                </a:solidFill>
              </a:rPr>
              <a:t>L</a:t>
            </a:r>
            <a:r>
              <a:rPr lang="en-US" dirty="0">
                <a:solidFill>
                  <a:schemeClr val="bg1"/>
                </a:solidFill>
              </a:rPr>
              <a:t> and </a:t>
            </a:r>
            <a:r>
              <a:rPr lang="en-US" b="1" dirty="0" err="1">
                <a:solidFill>
                  <a:schemeClr val="bg1"/>
                </a:solidFill>
              </a:rPr>
              <a:t>ω</a:t>
            </a:r>
            <a:r>
              <a:rPr lang="en-US" dirty="0">
                <a:solidFill>
                  <a:schemeClr val="bg1"/>
                </a:solidFill>
              </a:rPr>
              <a:t> point in different directions.</a:t>
            </a:r>
          </a:p>
          <a:p>
            <a:pPr marL="285750" lvl="0" indent="-285750">
              <a:buFont typeface="Arial" panose="020B0604020202020204" pitchFamily="34" charset="0"/>
              <a:buChar char="•"/>
            </a:pPr>
            <a:r>
              <a:rPr lang="en-US" dirty="0">
                <a:solidFill>
                  <a:schemeClr val="bg1"/>
                </a:solidFill>
              </a:rPr>
              <a:t>Along a </a:t>
            </a:r>
            <a:r>
              <a:rPr lang="en-US" b="1" dirty="0">
                <a:solidFill>
                  <a:schemeClr val="bg1"/>
                </a:solidFill>
              </a:rPr>
              <a:t>principal axis</a:t>
            </a:r>
            <a:r>
              <a:rPr lang="en-US" dirty="0">
                <a:solidFill>
                  <a:schemeClr val="bg1"/>
                </a:solidFill>
              </a:rPr>
              <a:t>, they align: </a:t>
            </a:r>
            <a:r>
              <a:rPr lang="en-US" b="1" dirty="0">
                <a:solidFill>
                  <a:schemeClr val="bg1"/>
                </a:solidFill>
              </a:rPr>
              <a:t>L = </a:t>
            </a:r>
            <a:r>
              <a:rPr lang="en-US" b="1" dirty="0" err="1">
                <a:solidFill>
                  <a:schemeClr val="bg1"/>
                </a:solidFill>
              </a:rPr>
              <a:t>Iₖω</a:t>
            </a:r>
            <a:r>
              <a:rPr lang="en-US" dirty="0">
                <a:solidFill>
                  <a:schemeClr val="bg1"/>
                </a:solidFill>
              </a:rPr>
              <a:t>.</a:t>
            </a:r>
          </a:p>
          <a:p>
            <a:pPr marL="285750" lvl="0" indent="-285750">
              <a:buFont typeface="Arial" panose="020B0604020202020204" pitchFamily="34" charset="0"/>
              <a:buChar char="•"/>
            </a:pPr>
            <a:r>
              <a:rPr lang="en-US" dirty="0">
                <a:solidFill>
                  <a:schemeClr val="bg1"/>
                </a:solidFill>
              </a:rPr>
              <a:t>The animation compares possible directions, rather than showing motion over time.</a:t>
            </a:r>
          </a:p>
          <a:p>
            <a:endParaRPr lang="en-US" dirty="0"/>
          </a:p>
        </p:txBody>
      </p:sp>
    </p:spTree>
    <p:extLst>
      <p:ext uri="{BB962C8B-B14F-4D97-AF65-F5344CB8AC3E}">
        <p14:creationId xmlns:p14="http://schemas.microsoft.com/office/powerpoint/2010/main" val="756042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C9CDC72-DC7D-4A7C-AC9D-0259151980D8}"/>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FAE03BE-BF51-4FA9-9D75-0C64DFD704D8}"/>
              </a:ext>
            </a:extLst>
          </p:cNvPr>
          <p:cNvSpPr>
            <a:spLocks noGrp="1"/>
          </p:cNvSpPr>
          <p:nvPr/>
        </p:nvSpPr>
        <p:spPr>
          <a:xfrm>
            <a:off x="0" y="-15906"/>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4B2CA124-50A7-4631-9351-4D9C9DC165F3}"/>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C9C8E20A-BC8C-452F-A910-DE8D5AFDB0EF}"/>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Mass geometry determines the tensor</a:t>
            </a:r>
          </a:p>
        </p:txBody>
      </p:sp>
      <p:sp>
        <p:nvSpPr>
          <p:cNvPr id="5" name="Rectangle 4">
            <a:extLst>
              <a:ext uri="{FF2B5EF4-FFF2-40B4-BE49-F238E27FC236}">
                <a16:creationId xmlns:a16="http://schemas.microsoft.com/office/drawing/2014/main" id="{3F08E7FE-07B5-46E2-B460-3E46668D0031}"/>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4BCF33E8-5F82-4877-9614-9948A4836A3F}"/>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04</a:t>
            </a:r>
          </a:p>
        </p:txBody>
      </p:sp>
      <p:pic>
        <p:nvPicPr>
          <p:cNvPr id="7" name="Picture 6">
            <a:extLst>
              <a:ext uri="{FF2B5EF4-FFF2-40B4-BE49-F238E27FC236}">
                <a16:creationId xmlns:a16="http://schemas.microsoft.com/office/drawing/2014/main" id="{34C217DC-C6AF-4FCE-83D6-F3E4F4EC2B66}"/>
              </a:ext>
            </a:extLst>
          </p:cNvPr>
          <p:cNvPicPr>
            <a:picLocks noChangeAspect="1"/>
          </p:cNvPicPr>
          <p:nvPr/>
        </p:nvPicPr>
        <p:blipFill>
          <a:blip r:embed="rId4"/>
          <a:stretch/>
        </p:blipFill>
        <p:spPr>
          <a:xfrm>
            <a:off x="3572389" y="1858700"/>
            <a:ext cx="4806033" cy="1095375"/>
          </a:xfrm>
          <a:prstGeom prst="rect">
            <a:avLst/>
          </a:prstGeom>
        </p:spPr>
      </p:pic>
      <p:sp>
        <p:nvSpPr>
          <p:cNvPr id="8" name="Rectangle 7">
            <a:extLst>
              <a:ext uri="{FF2B5EF4-FFF2-40B4-BE49-F238E27FC236}">
                <a16:creationId xmlns:a16="http://schemas.microsoft.com/office/drawing/2014/main" id="{D222BCFF-A400-412B-929A-57F2956F41E2}"/>
              </a:ext>
            </a:extLst>
          </p:cNvPr>
          <p:cNvSpPr>
            <a:spLocks noGrp="1"/>
          </p:cNvSpPr>
          <p:nvPr/>
        </p:nvSpPr>
        <p:spPr>
          <a:xfrm>
            <a:off x="626994" y="2118029"/>
            <a:ext cx="4191000" cy="476250"/>
          </a:xfrm>
          <a:prstGeom prst="rect">
            <a:avLst/>
          </a:prstGeom>
          <a:noFill/>
          <a:ln w="0">
            <a:noFill/>
            <a:prstDash val="solid"/>
          </a:ln>
        </p:spPr>
        <p:txBody>
          <a:bodyPr/>
          <a:lstStyle>
            <a:defPPr>
              <a:defRPr sz="2325" b="1">
                <a:solidFill>
                  <a:srgbClr val="55F3D2"/>
                </a:solidFill>
                <a:latin typeface="DejaVu Sans"/>
                <a:ea typeface="DejaVu Sans"/>
                <a:cs typeface="DejaVu Sans"/>
              </a:defRPr>
            </a:defPPr>
            <a:lvl1pPr>
              <a:defRPr sz="2325" b="1">
                <a:solidFill>
                  <a:srgbClr val="55F3D2"/>
                </a:solidFill>
                <a:latin typeface="DejaVu Sans"/>
                <a:ea typeface="DejaVu Sans"/>
                <a:cs typeface="DejaVu Sans"/>
              </a:defRPr>
            </a:lvl1pPr>
            <a:lvl2pPr>
              <a:defRPr sz="2325" b="1">
                <a:solidFill>
                  <a:srgbClr val="55F3D2"/>
                </a:solidFill>
                <a:latin typeface="DejaVu Sans"/>
                <a:ea typeface="DejaVu Sans"/>
                <a:cs typeface="DejaVu Sans"/>
              </a:defRPr>
            </a:lvl2pPr>
            <a:lvl3pPr>
              <a:defRPr sz="2325" b="1">
                <a:solidFill>
                  <a:srgbClr val="55F3D2"/>
                </a:solidFill>
                <a:latin typeface="DejaVu Sans"/>
                <a:ea typeface="DejaVu Sans"/>
                <a:cs typeface="DejaVu Sans"/>
              </a:defRPr>
            </a:lvl3pPr>
            <a:lvl4pPr>
              <a:defRPr sz="2325" b="1">
                <a:solidFill>
                  <a:srgbClr val="55F3D2"/>
                </a:solidFill>
                <a:latin typeface="DejaVu Sans"/>
                <a:ea typeface="DejaVu Sans"/>
                <a:cs typeface="DejaVu Sans"/>
              </a:defRPr>
            </a:lvl4pPr>
            <a:lvl5pPr>
              <a:defRPr sz="2325" b="1">
                <a:solidFill>
                  <a:srgbClr val="55F3D2"/>
                </a:solidFill>
                <a:latin typeface="DejaVu Sans"/>
                <a:ea typeface="DejaVu Sans"/>
                <a:cs typeface="DejaVu Sans"/>
              </a:defRPr>
            </a:lvl5pPr>
            <a:lvl6pPr>
              <a:defRPr sz="2325" b="1">
                <a:solidFill>
                  <a:srgbClr val="55F3D2"/>
                </a:solidFill>
                <a:latin typeface="DejaVu Sans"/>
                <a:ea typeface="DejaVu Sans"/>
                <a:cs typeface="DejaVu Sans"/>
              </a:defRPr>
            </a:lvl6pPr>
            <a:lvl7pPr>
              <a:defRPr sz="2325" b="1">
                <a:solidFill>
                  <a:srgbClr val="55F3D2"/>
                </a:solidFill>
                <a:latin typeface="DejaVu Sans"/>
                <a:ea typeface="DejaVu Sans"/>
                <a:cs typeface="DejaVu Sans"/>
              </a:defRPr>
            </a:lvl7pPr>
            <a:lvl8pPr>
              <a:defRPr sz="2325" b="1">
                <a:solidFill>
                  <a:srgbClr val="55F3D2"/>
                </a:solidFill>
                <a:latin typeface="DejaVu Sans"/>
                <a:ea typeface="DejaVu Sans"/>
                <a:cs typeface="DejaVu Sans"/>
              </a:defRPr>
            </a:lvl8pPr>
            <a:lvl9pPr>
              <a:defRPr sz="2325" b="1">
                <a:solidFill>
                  <a:srgbClr val="55F3D2"/>
                </a:solidFill>
                <a:latin typeface="DejaVu Sans"/>
                <a:ea typeface="DejaVu Sans"/>
                <a:cs typeface="DejaVu Sans"/>
              </a:defRPr>
            </a:lvl9pPr>
          </a:lstStyle>
          <a:p>
            <a:pPr>
              <a:defRPr sz="2325" b="1">
                <a:solidFill>
                  <a:srgbClr val="55F3D2"/>
                </a:solidFill>
                <a:latin typeface="DejaVu Sans"/>
                <a:ea typeface="DejaVu Sans"/>
                <a:cs typeface="DejaVu Sans"/>
              </a:defRPr>
            </a:pPr>
            <a:r>
              <a:rPr sz="2325" b="1" dirty="0">
                <a:solidFill>
                  <a:srgbClr val="55F3D2"/>
                </a:solidFill>
                <a:latin typeface="DejaVu Sans"/>
                <a:ea typeface="DejaVu Sans"/>
                <a:cs typeface="DejaVu Sans"/>
              </a:rPr>
              <a:t>Origin</a:t>
            </a:r>
          </a:p>
        </p:txBody>
      </p:sp>
      <p:sp>
        <p:nvSpPr>
          <p:cNvPr id="9" name="Rectangle 8">
            <a:extLst>
              <a:ext uri="{FF2B5EF4-FFF2-40B4-BE49-F238E27FC236}">
                <a16:creationId xmlns:a16="http://schemas.microsoft.com/office/drawing/2014/main" id="{F953EE9B-6E98-42CF-96E5-B839FE90E151}"/>
              </a:ext>
            </a:extLst>
          </p:cNvPr>
          <p:cNvSpPr>
            <a:spLocks noGrp="1"/>
          </p:cNvSpPr>
          <p:nvPr/>
        </p:nvSpPr>
        <p:spPr>
          <a:xfrm>
            <a:off x="603140" y="2824619"/>
            <a:ext cx="4476750" cy="666750"/>
          </a:xfrm>
          <a:prstGeom prst="rect">
            <a:avLst/>
          </a:prstGeom>
          <a:noFill/>
          <a:ln w="0">
            <a:noFill/>
            <a:prstDash val="solid"/>
          </a:ln>
        </p:spPr>
        <p:txBody>
          <a:bodyPr/>
          <a:lstStyle>
            <a:defPPr>
              <a:defRPr sz="2025" b="0">
                <a:solidFill>
                  <a:srgbClr val="F6F7FF"/>
                </a:solidFill>
                <a:latin typeface="DejaVu Sans"/>
                <a:ea typeface="DejaVu Sans"/>
                <a:cs typeface="DejaVu Sans"/>
              </a:defRPr>
            </a:defPPr>
            <a:lvl1pPr>
              <a:defRPr sz="2025" b="0">
                <a:solidFill>
                  <a:srgbClr val="F6F7FF"/>
                </a:solidFill>
                <a:latin typeface="DejaVu Sans"/>
                <a:ea typeface="DejaVu Sans"/>
                <a:cs typeface="DejaVu Sans"/>
              </a:defRPr>
            </a:lvl1pPr>
            <a:lvl2pPr>
              <a:defRPr sz="2025" b="0">
                <a:solidFill>
                  <a:srgbClr val="F6F7FF"/>
                </a:solidFill>
                <a:latin typeface="DejaVu Sans"/>
                <a:ea typeface="DejaVu Sans"/>
                <a:cs typeface="DejaVu Sans"/>
              </a:defRPr>
            </a:lvl2pPr>
            <a:lvl3pPr>
              <a:defRPr sz="2025" b="0">
                <a:solidFill>
                  <a:srgbClr val="F6F7FF"/>
                </a:solidFill>
                <a:latin typeface="DejaVu Sans"/>
                <a:ea typeface="DejaVu Sans"/>
                <a:cs typeface="DejaVu Sans"/>
              </a:defRPr>
            </a:lvl3pPr>
            <a:lvl4pPr>
              <a:defRPr sz="2025" b="0">
                <a:solidFill>
                  <a:srgbClr val="F6F7FF"/>
                </a:solidFill>
                <a:latin typeface="DejaVu Sans"/>
                <a:ea typeface="DejaVu Sans"/>
                <a:cs typeface="DejaVu Sans"/>
              </a:defRPr>
            </a:lvl4pPr>
            <a:lvl5pPr>
              <a:defRPr sz="2025" b="0">
                <a:solidFill>
                  <a:srgbClr val="F6F7FF"/>
                </a:solidFill>
                <a:latin typeface="DejaVu Sans"/>
                <a:ea typeface="DejaVu Sans"/>
                <a:cs typeface="DejaVu Sans"/>
              </a:defRPr>
            </a:lvl5pPr>
            <a:lvl6pPr>
              <a:defRPr sz="2025" b="0">
                <a:solidFill>
                  <a:srgbClr val="F6F7FF"/>
                </a:solidFill>
                <a:latin typeface="DejaVu Sans"/>
                <a:ea typeface="DejaVu Sans"/>
                <a:cs typeface="DejaVu Sans"/>
              </a:defRPr>
            </a:lvl6pPr>
            <a:lvl7pPr>
              <a:defRPr sz="2025" b="0">
                <a:solidFill>
                  <a:srgbClr val="F6F7FF"/>
                </a:solidFill>
                <a:latin typeface="DejaVu Sans"/>
                <a:ea typeface="DejaVu Sans"/>
                <a:cs typeface="DejaVu Sans"/>
              </a:defRPr>
            </a:lvl7pPr>
            <a:lvl8pPr>
              <a:defRPr sz="2025" b="0">
                <a:solidFill>
                  <a:srgbClr val="F6F7FF"/>
                </a:solidFill>
                <a:latin typeface="DejaVu Sans"/>
                <a:ea typeface="DejaVu Sans"/>
                <a:cs typeface="DejaVu Sans"/>
              </a:defRPr>
            </a:lvl8pPr>
            <a:lvl9pPr>
              <a:defRPr sz="2025" b="0">
                <a:solidFill>
                  <a:srgbClr val="F6F7FF"/>
                </a:solidFill>
                <a:latin typeface="DejaVu Sans"/>
                <a:ea typeface="DejaVu Sans"/>
                <a:cs typeface="DejaVu Sans"/>
              </a:defRPr>
            </a:lvl9pPr>
          </a:lstStyle>
          <a:p>
            <a:pPr>
              <a:defRPr sz="2025" b="0">
                <a:solidFill>
                  <a:srgbClr val="F6F7FF"/>
                </a:solidFill>
                <a:latin typeface="DejaVu Sans"/>
                <a:ea typeface="DejaVu Sans"/>
                <a:cs typeface="DejaVu Sans"/>
              </a:defRPr>
            </a:pPr>
            <a:r>
              <a:rPr sz="2025" b="0" dirty="0">
                <a:solidFill>
                  <a:srgbClr val="F6F7FF"/>
                </a:solidFill>
                <a:latin typeface="DejaVu Sans"/>
                <a:ea typeface="DejaVu Sans"/>
                <a:cs typeface="DejaVu Sans"/>
              </a:rPr>
              <a:t>Where do we measure r?</a:t>
            </a:r>
          </a:p>
        </p:txBody>
      </p:sp>
      <p:sp>
        <p:nvSpPr>
          <p:cNvPr id="10" name="Rectangle 9">
            <a:extLst>
              <a:ext uri="{FF2B5EF4-FFF2-40B4-BE49-F238E27FC236}">
                <a16:creationId xmlns:a16="http://schemas.microsoft.com/office/drawing/2014/main" id="{31358F37-3068-49E3-8DB3-06EC512B381B}"/>
              </a:ext>
            </a:extLst>
          </p:cNvPr>
          <p:cNvSpPr>
            <a:spLocks noGrp="1"/>
          </p:cNvSpPr>
          <p:nvPr/>
        </p:nvSpPr>
        <p:spPr>
          <a:xfrm>
            <a:off x="7613870" y="2364520"/>
            <a:ext cx="4191000" cy="476250"/>
          </a:xfrm>
          <a:prstGeom prst="rect">
            <a:avLst/>
          </a:prstGeom>
          <a:noFill/>
          <a:ln w="0">
            <a:noFill/>
            <a:prstDash val="solid"/>
          </a:ln>
        </p:spPr>
        <p:txBody>
          <a:bodyPr/>
          <a:lstStyle>
            <a:defPPr>
              <a:defRPr sz="2325" b="1">
                <a:solidFill>
                  <a:srgbClr val="B5A2FF"/>
                </a:solidFill>
                <a:latin typeface="DejaVu Sans"/>
                <a:ea typeface="DejaVu Sans"/>
                <a:cs typeface="DejaVu Sans"/>
              </a:defRPr>
            </a:defPPr>
            <a:lvl1pPr>
              <a:defRPr sz="2325" b="1">
                <a:solidFill>
                  <a:srgbClr val="B5A2FF"/>
                </a:solidFill>
                <a:latin typeface="DejaVu Sans"/>
                <a:ea typeface="DejaVu Sans"/>
                <a:cs typeface="DejaVu Sans"/>
              </a:defRPr>
            </a:lvl1pPr>
            <a:lvl2pPr>
              <a:defRPr sz="2325" b="1">
                <a:solidFill>
                  <a:srgbClr val="B5A2FF"/>
                </a:solidFill>
                <a:latin typeface="DejaVu Sans"/>
                <a:ea typeface="DejaVu Sans"/>
                <a:cs typeface="DejaVu Sans"/>
              </a:defRPr>
            </a:lvl2pPr>
            <a:lvl3pPr>
              <a:defRPr sz="2325" b="1">
                <a:solidFill>
                  <a:srgbClr val="B5A2FF"/>
                </a:solidFill>
                <a:latin typeface="DejaVu Sans"/>
                <a:ea typeface="DejaVu Sans"/>
                <a:cs typeface="DejaVu Sans"/>
              </a:defRPr>
            </a:lvl3pPr>
            <a:lvl4pPr>
              <a:defRPr sz="2325" b="1">
                <a:solidFill>
                  <a:srgbClr val="B5A2FF"/>
                </a:solidFill>
                <a:latin typeface="DejaVu Sans"/>
                <a:ea typeface="DejaVu Sans"/>
                <a:cs typeface="DejaVu Sans"/>
              </a:defRPr>
            </a:lvl4pPr>
            <a:lvl5pPr>
              <a:defRPr sz="2325" b="1">
                <a:solidFill>
                  <a:srgbClr val="B5A2FF"/>
                </a:solidFill>
                <a:latin typeface="DejaVu Sans"/>
                <a:ea typeface="DejaVu Sans"/>
                <a:cs typeface="DejaVu Sans"/>
              </a:defRPr>
            </a:lvl5pPr>
            <a:lvl6pPr>
              <a:defRPr sz="2325" b="1">
                <a:solidFill>
                  <a:srgbClr val="B5A2FF"/>
                </a:solidFill>
                <a:latin typeface="DejaVu Sans"/>
                <a:ea typeface="DejaVu Sans"/>
                <a:cs typeface="DejaVu Sans"/>
              </a:defRPr>
            </a:lvl6pPr>
            <a:lvl7pPr>
              <a:defRPr sz="2325" b="1">
                <a:solidFill>
                  <a:srgbClr val="B5A2FF"/>
                </a:solidFill>
                <a:latin typeface="DejaVu Sans"/>
                <a:ea typeface="DejaVu Sans"/>
                <a:cs typeface="DejaVu Sans"/>
              </a:defRPr>
            </a:lvl7pPr>
            <a:lvl8pPr>
              <a:defRPr sz="2325" b="1">
                <a:solidFill>
                  <a:srgbClr val="B5A2FF"/>
                </a:solidFill>
                <a:latin typeface="DejaVu Sans"/>
                <a:ea typeface="DejaVu Sans"/>
                <a:cs typeface="DejaVu Sans"/>
              </a:defRPr>
            </a:lvl8pPr>
            <a:lvl9pPr>
              <a:defRPr sz="2325" b="1">
                <a:solidFill>
                  <a:srgbClr val="B5A2FF"/>
                </a:solidFill>
                <a:latin typeface="DejaVu Sans"/>
                <a:ea typeface="DejaVu Sans"/>
                <a:cs typeface="DejaVu Sans"/>
              </a:defRPr>
            </a:lvl9pPr>
          </a:lstStyle>
          <a:p>
            <a:pPr algn="r">
              <a:defRPr sz="2325" b="1">
                <a:solidFill>
                  <a:srgbClr val="B5A2FF"/>
                </a:solidFill>
                <a:latin typeface="DejaVu Sans"/>
                <a:ea typeface="DejaVu Sans"/>
                <a:cs typeface="DejaVu Sans"/>
              </a:defRPr>
            </a:pPr>
            <a:r>
              <a:rPr sz="2325" b="1" dirty="0">
                <a:solidFill>
                  <a:srgbClr val="B5A2FF"/>
                </a:solidFill>
                <a:latin typeface="DejaVu Sans"/>
                <a:ea typeface="DejaVu Sans"/>
                <a:cs typeface="DejaVu Sans"/>
              </a:rPr>
              <a:t>Basis</a:t>
            </a:r>
          </a:p>
        </p:txBody>
      </p:sp>
      <p:sp>
        <p:nvSpPr>
          <p:cNvPr id="11" name="Rectangle 10">
            <a:extLst>
              <a:ext uri="{FF2B5EF4-FFF2-40B4-BE49-F238E27FC236}">
                <a16:creationId xmlns:a16="http://schemas.microsoft.com/office/drawing/2014/main" id="{25CA5E92-6FB5-4835-9C4A-EFF80108F5CE}"/>
              </a:ext>
            </a:extLst>
          </p:cNvPr>
          <p:cNvSpPr>
            <a:spLocks noGrp="1"/>
          </p:cNvSpPr>
          <p:nvPr/>
        </p:nvSpPr>
        <p:spPr>
          <a:xfrm>
            <a:off x="7605919" y="2792813"/>
            <a:ext cx="4667250" cy="762000"/>
          </a:xfrm>
          <a:prstGeom prst="rect">
            <a:avLst/>
          </a:prstGeom>
          <a:noFill/>
          <a:ln w="0">
            <a:noFill/>
            <a:prstDash val="solid"/>
          </a:ln>
        </p:spPr>
        <p:txBody>
          <a:bodyPr/>
          <a:lstStyle>
            <a:defPPr>
              <a:defRPr sz="2025" b="0">
                <a:solidFill>
                  <a:srgbClr val="F6F7FF"/>
                </a:solidFill>
                <a:latin typeface="DejaVu Sans"/>
                <a:ea typeface="DejaVu Sans"/>
                <a:cs typeface="DejaVu Sans"/>
              </a:defRPr>
            </a:defPPr>
            <a:lvl1pPr>
              <a:defRPr sz="2025" b="0">
                <a:solidFill>
                  <a:srgbClr val="F6F7FF"/>
                </a:solidFill>
                <a:latin typeface="DejaVu Sans"/>
                <a:ea typeface="DejaVu Sans"/>
                <a:cs typeface="DejaVu Sans"/>
              </a:defRPr>
            </a:lvl1pPr>
            <a:lvl2pPr>
              <a:defRPr sz="2025" b="0">
                <a:solidFill>
                  <a:srgbClr val="F6F7FF"/>
                </a:solidFill>
                <a:latin typeface="DejaVu Sans"/>
                <a:ea typeface="DejaVu Sans"/>
                <a:cs typeface="DejaVu Sans"/>
              </a:defRPr>
            </a:lvl2pPr>
            <a:lvl3pPr>
              <a:defRPr sz="2025" b="0">
                <a:solidFill>
                  <a:srgbClr val="F6F7FF"/>
                </a:solidFill>
                <a:latin typeface="DejaVu Sans"/>
                <a:ea typeface="DejaVu Sans"/>
                <a:cs typeface="DejaVu Sans"/>
              </a:defRPr>
            </a:lvl3pPr>
            <a:lvl4pPr>
              <a:defRPr sz="2025" b="0">
                <a:solidFill>
                  <a:srgbClr val="F6F7FF"/>
                </a:solidFill>
                <a:latin typeface="DejaVu Sans"/>
                <a:ea typeface="DejaVu Sans"/>
                <a:cs typeface="DejaVu Sans"/>
              </a:defRPr>
            </a:lvl4pPr>
            <a:lvl5pPr>
              <a:defRPr sz="2025" b="0">
                <a:solidFill>
                  <a:srgbClr val="F6F7FF"/>
                </a:solidFill>
                <a:latin typeface="DejaVu Sans"/>
                <a:ea typeface="DejaVu Sans"/>
                <a:cs typeface="DejaVu Sans"/>
              </a:defRPr>
            </a:lvl5pPr>
            <a:lvl6pPr>
              <a:defRPr sz="2025" b="0">
                <a:solidFill>
                  <a:srgbClr val="F6F7FF"/>
                </a:solidFill>
                <a:latin typeface="DejaVu Sans"/>
                <a:ea typeface="DejaVu Sans"/>
                <a:cs typeface="DejaVu Sans"/>
              </a:defRPr>
            </a:lvl6pPr>
            <a:lvl7pPr>
              <a:defRPr sz="2025" b="0">
                <a:solidFill>
                  <a:srgbClr val="F6F7FF"/>
                </a:solidFill>
                <a:latin typeface="DejaVu Sans"/>
                <a:ea typeface="DejaVu Sans"/>
                <a:cs typeface="DejaVu Sans"/>
              </a:defRPr>
            </a:lvl7pPr>
            <a:lvl8pPr>
              <a:defRPr sz="2025" b="0">
                <a:solidFill>
                  <a:srgbClr val="F6F7FF"/>
                </a:solidFill>
                <a:latin typeface="DejaVu Sans"/>
                <a:ea typeface="DejaVu Sans"/>
                <a:cs typeface="DejaVu Sans"/>
              </a:defRPr>
            </a:lvl8pPr>
            <a:lvl9pPr>
              <a:defRPr sz="2025" b="0">
                <a:solidFill>
                  <a:srgbClr val="F6F7FF"/>
                </a:solidFill>
                <a:latin typeface="DejaVu Sans"/>
                <a:ea typeface="DejaVu Sans"/>
                <a:cs typeface="DejaVu Sans"/>
              </a:defRPr>
            </a:lvl9pPr>
          </a:lstStyle>
          <a:p>
            <a:pPr>
              <a:defRPr sz="2025" b="0">
                <a:solidFill>
                  <a:srgbClr val="F6F7FF"/>
                </a:solidFill>
                <a:latin typeface="DejaVu Sans"/>
                <a:ea typeface="DejaVu Sans"/>
                <a:cs typeface="DejaVu Sans"/>
              </a:defRPr>
            </a:pPr>
            <a:r>
              <a:rPr sz="2025" b="0" dirty="0">
                <a:solidFill>
                  <a:srgbClr val="F6F7FF"/>
                </a:solidFill>
                <a:latin typeface="DejaVu Sans"/>
                <a:ea typeface="DejaVu Sans"/>
                <a:cs typeface="DejaVu Sans"/>
              </a:rPr>
              <a:t>Which directions define x, y, z?</a:t>
            </a:r>
          </a:p>
        </p:txBody>
      </p:sp>
      <p:pic>
        <p:nvPicPr>
          <p:cNvPr id="15" name="Picture 14">
            <a:extLst>
              <a:ext uri="{FF2B5EF4-FFF2-40B4-BE49-F238E27FC236}">
                <a16:creationId xmlns:a16="http://schemas.microsoft.com/office/drawing/2014/main" id="{A5677E07-D2DF-25EC-9D26-C36CA357DC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649608"/>
            <a:ext cx="4555468" cy="3297969"/>
          </a:xfrm>
          <a:prstGeom prst="rect">
            <a:avLst/>
          </a:prstGeom>
        </p:spPr>
      </p:pic>
      <p:pic>
        <p:nvPicPr>
          <p:cNvPr id="17" name="Picture 16">
            <a:extLst>
              <a:ext uri="{FF2B5EF4-FFF2-40B4-BE49-F238E27FC236}">
                <a16:creationId xmlns:a16="http://schemas.microsoft.com/office/drawing/2014/main" id="{50BF1643-6263-1D23-5F57-DF587F5172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68347" y="2926078"/>
            <a:ext cx="4297365" cy="3111113"/>
          </a:xfrm>
          <a:prstGeom prst="rect">
            <a:avLst/>
          </a:prstGeom>
        </p:spPr>
      </p:pic>
      <p:sp>
        <p:nvSpPr>
          <p:cNvPr id="18" name="TextBox 17">
            <a:extLst>
              <a:ext uri="{FF2B5EF4-FFF2-40B4-BE49-F238E27FC236}">
                <a16:creationId xmlns:a16="http://schemas.microsoft.com/office/drawing/2014/main" id="{B7C6CBE0-2200-39A7-604A-D3939DFF769C}"/>
              </a:ext>
            </a:extLst>
          </p:cNvPr>
          <p:cNvSpPr txBox="1"/>
          <p:nvPr/>
        </p:nvSpPr>
        <p:spPr>
          <a:xfrm>
            <a:off x="3935895" y="3411110"/>
            <a:ext cx="4898004" cy="2523768"/>
          </a:xfrm>
          <a:prstGeom prst="rect">
            <a:avLst/>
          </a:prstGeom>
          <a:noFill/>
        </p:spPr>
        <p:txBody>
          <a:bodyPr wrap="square" rtlCol="0">
            <a:spAutoFit/>
          </a:bodyPr>
          <a:lstStyle/>
          <a:p>
            <a:pPr marL="285750" lvl="0" indent="-285750">
              <a:buFont typeface="Arial" panose="020B0604020202020204" pitchFamily="34" charset="0"/>
              <a:buChar char="•"/>
            </a:pPr>
            <a:r>
              <a:rPr lang="en-US" sz="1400" dirty="0">
                <a:solidFill>
                  <a:schemeClr val="bg1"/>
                </a:solidFill>
              </a:rPr>
              <a:t>Left: two origins. The same mass element has different position vectors. Changing the reference point generally changes the inertia tensor.</a:t>
            </a:r>
          </a:p>
          <a:p>
            <a:pPr marL="285750" lvl="0" indent="-285750">
              <a:buFont typeface="Arial" panose="020B0604020202020204" pitchFamily="34" charset="0"/>
              <a:buChar char="•"/>
            </a:pPr>
            <a:r>
              <a:rPr lang="en-US" sz="1400" dirty="0">
                <a:solidFill>
                  <a:schemeClr val="bg1"/>
                </a:solidFill>
              </a:rPr>
              <a:t>Right: two basis sets. The origin stays fixed, but the coordinate axes rotate. The tensor represents the same physical mass distribution about that origin; its matrix components change.</a:t>
            </a:r>
          </a:p>
          <a:p>
            <a:pPr marL="285750" lvl="0" indent="-285750">
              <a:buFont typeface="Arial" panose="020B0604020202020204" pitchFamily="34" charset="0"/>
              <a:buChar char="•"/>
            </a:pPr>
            <a:r>
              <a:rPr lang="en-US" sz="1400" dirty="0">
                <a:solidFill>
                  <a:schemeClr val="bg1"/>
                </a:solidFill>
              </a:rPr>
              <a:t>Why compare them? Finding principal axes means choosing a basis that diagonalizes the tensor about a specified origin.</a:t>
            </a:r>
          </a:p>
          <a:p>
            <a:endParaRPr lang="en-US" dirty="0"/>
          </a:p>
        </p:txBody>
      </p:sp>
    </p:spTree>
    <p:extLst>
      <p:ext uri="{BB962C8B-B14F-4D97-AF65-F5344CB8AC3E}">
        <p14:creationId xmlns:p14="http://schemas.microsoft.com/office/powerpoint/2010/main" val="6787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B3F0D9-7843-4D6E-8943-C25B7685FA18}"/>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FF1BC9F-78CC-4929-8446-DB232866FD97}"/>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AAB257-789E-46F9-BF61-88B2CC7E3CD0}"/>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72499690-C83C-467F-AE62-86E936DF6412}"/>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Diagonal terms and cross terms</a:t>
            </a:r>
          </a:p>
        </p:txBody>
      </p:sp>
      <p:sp>
        <p:nvSpPr>
          <p:cNvPr id="5" name="Rectangle 4">
            <a:extLst>
              <a:ext uri="{FF2B5EF4-FFF2-40B4-BE49-F238E27FC236}">
                <a16:creationId xmlns:a16="http://schemas.microsoft.com/office/drawing/2014/main" id="{6F23E33D-BD22-40F8-B677-099154B26BAA}"/>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D10CD5A0-5616-494B-8BA4-BC92555B9CCF}"/>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05</a:t>
            </a:r>
          </a:p>
        </p:txBody>
      </p:sp>
      <p:pic>
        <p:nvPicPr>
          <p:cNvPr id="7" name="Picture 6">
            <a:extLst>
              <a:ext uri="{FF2B5EF4-FFF2-40B4-BE49-F238E27FC236}">
                <a16:creationId xmlns:a16="http://schemas.microsoft.com/office/drawing/2014/main" id="{07F0BF64-C7C1-47DD-92CE-1ACC6392B281}"/>
              </a:ext>
            </a:extLst>
          </p:cNvPr>
          <p:cNvPicPr>
            <a:picLocks noChangeAspect="1"/>
          </p:cNvPicPr>
          <p:nvPr/>
        </p:nvPicPr>
        <p:blipFill>
          <a:blip r:embed="rId4"/>
          <a:stretch/>
        </p:blipFill>
        <p:spPr>
          <a:xfrm>
            <a:off x="1434962" y="1733255"/>
            <a:ext cx="2620203" cy="1133238"/>
          </a:xfrm>
          <a:prstGeom prst="rect">
            <a:avLst/>
          </a:prstGeom>
        </p:spPr>
      </p:pic>
      <p:pic>
        <p:nvPicPr>
          <p:cNvPr id="8" name="Picture 7">
            <a:extLst>
              <a:ext uri="{FF2B5EF4-FFF2-40B4-BE49-F238E27FC236}">
                <a16:creationId xmlns:a16="http://schemas.microsoft.com/office/drawing/2014/main" id="{79339E5E-2737-4282-9E88-5A5F32339AAC}"/>
              </a:ext>
            </a:extLst>
          </p:cNvPr>
          <p:cNvPicPr>
            <a:picLocks noChangeAspect="1"/>
          </p:cNvPicPr>
          <p:nvPr/>
        </p:nvPicPr>
        <p:blipFill>
          <a:blip r:embed="rId5"/>
          <a:stretch/>
        </p:blipFill>
        <p:spPr>
          <a:xfrm>
            <a:off x="5913451" y="1696528"/>
            <a:ext cx="5476875" cy="896838"/>
          </a:xfrm>
          <a:prstGeom prst="rect">
            <a:avLst/>
          </a:prstGeom>
        </p:spPr>
      </p:pic>
      <p:sp>
        <p:nvSpPr>
          <p:cNvPr id="9" name="Rectangle 8">
            <a:extLst>
              <a:ext uri="{FF2B5EF4-FFF2-40B4-BE49-F238E27FC236}">
                <a16:creationId xmlns:a16="http://schemas.microsoft.com/office/drawing/2014/main" id="{183BC24A-0AA6-43AD-9D20-CFB914B8A887}"/>
              </a:ext>
            </a:extLst>
          </p:cNvPr>
          <p:cNvSpPr>
            <a:spLocks noGrp="1"/>
          </p:cNvSpPr>
          <p:nvPr/>
        </p:nvSpPr>
        <p:spPr>
          <a:xfrm>
            <a:off x="5795424" y="4972050"/>
            <a:ext cx="3451943" cy="952500"/>
          </a:xfrm>
          <a:prstGeom prst="rect">
            <a:avLst/>
          </a:prstGeom>
          <a:noFill/>
          <a:ln w="0">
            <a:noFill/>
            <a:prstDash val="solid"/>
          </a:ln>
        </p:spPr>
        <p:txBody>
          <a:bodyPr/>
          <a:lstStyle>
            <a:defPPr>
              <a:defRPr sz="2025" b="0">
                <a:solidFill>
                  <a:srgbClr val="55F3D2"/>
                </a:solidFill>
                <a:latin typeface="DejaVu Sans"/>
                <a:ea typeface="DejaVu Sans"/>
                <a:cs typeface="DejaVu Sans"/>
              </a:defRPr>
            </a:defPPr>
            <a:lvl1pPr>
              <a:defRPr sz="2025" b="0">
                <a:solidFill>
                  <a:srgbClr val="55F3D2"/>
                </a:solidFill>
                <a:latin typeface="DejaVu Sans"/>
                <a:ea typeface="DejaVu Sans"/>
                <a:cs typeface="DejaVu Sans"/>
              </a:defRPr>
            </a:lvl1pPr>
            <a:lvl2pPr>
              <a:defRPr sz="2025" b="0">
                <a:solidFill>
                  <a:srgbClr val="55F3D2"/>
                </a:solidFill>
                <a:latin typeface="DejaVu Sans"/>
                <a:ea typeface="DejaVu Sans"/>
                <a:cs typeface="DejaVu Sans"/>
              </a:defRPr>
            </a:lvl2pPr>
            <a:lvl3pPr>
              <a:defRPr sz="2025" b="0">
                <a:solidFill>
                  <a:srgbClr val="55F3D2"/>
                </a:solidFill>
                <a:latin typeface="DejaVu Sans"/>
                <a:ea typeface="DejaVu Sans"/>
                <a:cs typeface="DejaVu Sans"/>
              </a:defRPr>
            </a:lvl3pPr>
            <a:lvl4pPr>
              <a:defRPr sz="2025" b="0">
                <a:solidFill>
                  <a:srgbClr val="55F3D2"/>
                </a:solidFill>
                <a:latin typeface="DejaVu Sans"/>
                <a:ea typeface="DejaVu Sans"/>
                <a:cs typeface="DejaVu Sans"/>
              </a:defRPr>
            </a:lvl4pPr>
            <a:lvl5pPr>
              <a:defRPr sz="2025" b="0">
                <a:solidFill>
                  <a:srgbClr val="55F3D2"/>
                </a:solidFill>
                <a:latin typeface="DejaVu Sans"/>
                <a:ea typeface="DejaVu Sans"/>
                <a:cs typeface="DejaVu Sans"/>
              </a:defRPr>
            </a:lvl5pPr>
            <a:lvl6pPr>
              <a:defRPr sz="2025" b="0">
                <a:solidFill>
                  <a:srgbClr val="55F3D2"/>
                </a:solidFill>
                <a:latin typeface="DejaVu Sans"/>
                <a:ea typeface="DejaVu Sans"/>
                <a:cs typeface="DejaVu Sans"/>
              </a:defRPr>
            </a:lvl6pPr>
            <a:lvl7pPr>
              <a:defRPr sz="2025" b="0">
                <a:solidFill>
                  <a:srgbClr val="55F3D2"/>
                </a:solidFill>
                <a:latin typeface="DejaVu Sans"/>
                <a:ea typeface="DejaVu Sans"/>
                <a:cs typeface="DejaVu Sans"/>
              </a:defRPr>
            </a:lvl7pPr>
            <a:lvl8pPr>
              <a:defRPr sz="2025" b="0">
                <a:solidFill>
                  <a:srgbClr val="55F3D2"/>
                </a:solidFill>
                <a:latin typeface="DejaVu Sans"/>
                <a:ea typeface="DejaVu Sans"/>
                <a:cs typeface="DejaVu Sans"/>
              </a:defRPr>
            </a:lvl8pPr>
            <a:lvl9pPr>
              <a:defRPr sz="2025" b="0">
                <a:solidFill>
                  <a:srgbClr val="55F3D2"/>
                </a:solidFill>
                <a:latin typeface="DejaVu Sans"/>
                <a:ea typeface="DejaVu Sans"/>
                <a:cs typeface="DejaVu Sans"/>
              </a:defRPr>
            </a:lvl9pPr>
          </a:lstStyle>
          <a:p>
            <a:pPr>
              <a:defRPr sz="2025" b="0">
                <a:solidFill>
                  <a:srgbClr val="55F3D2"/>
                </a:solidFill>
                <a:latin typeface="DejaVu Sans"/>
                <a:ea typeface="DejaVu Sans"/>
                <a:cs typeface="DejaVu Sans"/>
              </a:defRPr>
            </a:pPr>
            <a:r>
              <a:rPr sz="1400" b="0" dirty="0">
                <a:solidFill>
                  <a:srgbClr val="55F3D2"/>
                </a:solidFill>
                <a:latin typeface="DejaVu Sans"/>
                <a:ea typeface="DejaVu Sans"/>
                <a:cs typeface="DejaVu Sans"/>
              </a:rPr>
              <a:t>Diagonal terms measure spread</a:t>
            </a:r>
          </a:p>
          <a:p>
            <a:pPr>
              <a:defRPr sz="2025" b="0">
                <a:solidFill>
                  <a:srgbClr val="55F3D2"/>
                </a:solidFill>
                <a:latin typeface="DejaVu Sans"/>
                <a:ea typeface="DejaVu Sans"/>
                <a:cs typeface="DejaVu Sans"/>
              </a:defRPr>
            </a:pPr>
            <a:r>
              <a:rPr sz="1400" b="0" dirty="0">
                <a:solidFill>
                  <a:srgbClr val="55F3D2"/>
                </a:solidFill>
                <a:latin typeface="DejaVu Sans"/>
                <a:ea typeface="DejaVu Sans"/>
                <a:cs typeface="DejaVu Sans"/>
              </a:rPr>
              <a:t>perpendicular to each axis.</a:t>
            </a:r>
          </a:p>
        </p:txBody>
      </p:sp>
      <p:sp>
        <p:nvSpPr>
          <p:cNvPr id="10" name="Rectangle 9">
            <a:extLst>
              <a:ext uri="{FF2B5EF4-FFF2-40B4-BE49-F238E27FC236}">
                <a16:creationId xmlns:a16="http://schemas.microsoft.com/office/drawing/2014/main" id="{863EDF9D-F23B-41AD-B0F8-38CF900F5AFB}"/>
              </a:ext>
            </a:extLst>
          </p:cNvPr>
          <p:cNvSpPr>
            <a:spLocks noGrp="1"/>
          </p:cNvSpPr>
          <p:nvPr/>
        </p:nvSpPr>
        <p:spPr>
          <a:xfrm>
            <a:off x="9438197" y="4972050"/>
            <a:ext cx="2039427" cy="952500"/>
          </a:xfrm>
          <a:prstGeom prst="rect">
            <a:avLst/>
          </a:prstGeom>
          <a:noFill/>
          <a:ln w="0">
            <a:noFill/>
            <a:prstDash val="solid"/>
          </a:ln>
        </p:spPr>
        <p:txBody>
          <a:bodyPr/>
          <a:lstStyle>
            <a:defPPr>
              <a:defRPr sz="2025" b="0">
                <a:solidFill>
                  <a:srgbClr val="B5A2FF"/>
                </a:solidFill>
                <a:latin typeface="DejaVu Sans"/>
                <a:ea typeface="DejaVu Sans"/>
                <a:cs typeface="DejaVu Sans"/>
              </a:defRPr>
            </a:defPPr>
            <a:lvl1pPr>
              <a:defRPr sz="2025" b="0">
                <a:solidFill>
                  <a:srgbClr val="B5A2FF"/>
                </a:solidFill>
                <a:latin typeface="DejaVu Sans"/>
                <a:ea typeface="DejaVu Sans"/>
                <a:cs typeface="DejaVu Sans"/>
              </a:defRPr>
            </a:lvl1pPr>
            <a:lvl2pPr>
              <a:defRPr sz="2025" b="0">
                <a:solidFill>
                  <a:srgbClr val="B5A2FF"/>
                </a:solidFill>
                <a:latin typeface="DejaVu Sans"/>
                <a:ea typeface="DejaVu Sans"/>
                <a:cs typeface="DejaVu Sans"/>
              </a:defRPr>
            </a:lvl2pPr>
            <a:lvl3pPr>
              <a:defRPr sz="2025" b="0">
                <a:solidFill>
                  <a:srgbClr val="B5A2FF"/>
                </a:solidFill>
                <a:latin typeface="DejaVu Sans"/>
                <a:ea typeface="DejaVu Sans"/>
                <a:cs typeface="DejaVu Sans"/>
              </a:defRPr>
            </a:lvl3pPr>
            <a:lvl4pPr>
              <a:defRPr sz="2025" b="0">
                <a:solidFill>
                  <a:srgbClr val="B5A2FF"/>
                </a:solidFill>
                <a:latin typeface="DejaVu Sans"/>
                <a:ea typeface="DejaVu Sans"/>
                <a:cs typeface="DejaVu Sans"/>
              </a:defRPr>
            </a:lvl4pPr>
            <a:lvl5pPr>
              <a:defRPr sz="2025" b="0">
                <a:solidFill>
                  <a:srgbClr val="B5A2FF"/>
                </a:solidFill>
                <a:latin typeface="DejaVu Sans"/>
                <a:ea typeface="DejaVu Sans"/>
                <a:cs typeface="DejaVu Sans"/>
              </a:defRPr>
            </a:lvl5pPr>
            <a:lvl6pPr>
              <a:defRPr sz="2025" b="0">
                <a:solidFill>
                  <a:srgbClr val="B5A2FF"/>
                </a:solidFill>
                <a:latin typeface="DejaVu Sans"/>
                <a:ea typeface="DejaVu Sans"/>
                <a:cs typeface="DejaVu Sans"/>
              </a:defRPr>
            </a:lvl6pPr>
            <a:lvl7pPr>
              <a:defRPr sz="2025" b="0">
                <a:solidFill>
                  <a:srgbClr val="B5A2FF"/>
                </a:solidFill>
                <a:latin typeface="DejaVu Sans"/>
                <a:ea typeface="DejaVu Sans"/>
                <a:cs typeface="DejaVu Sans"/>
              </a:defRPr>
            </a:lvl7pPr>
            <a:lvl8pPr>
              <a:defRPr sz="2025" b="0">
                <a:solidFill>
                  <a:srgbClr val="B5A2FF"/>
                </a:solidFill>
                <a:latin typeface="DejaVu Sans"/>
                <a:ea typeface="DejaVu Sans"/>
                <a:cs typeface="DejaVu Sans"/>
              </a:defRPr>
            </a:lvl8pPr>
            <a:lvl9pPr>
              <a:defRPr sz="2025" b="0">
                <a:solidFill>
                  <a:srgbClr val="B5A2FF"/>
                </a:solidFill>
                <a:latin typeface="DejaVu Sans"/>
                <a:ea typeface="DejaVu Sans"/>
                <a:cs typeface="DejaVu Sans"/>
              </a:defRPr>
            </a:lvl9pPr>
          </a:lstStyle>
          <a:p>
            <a:pPr>
              <a:defRPr sz="2025" b="0">
                <a:solidFill>
                  <a:srgbClr val="B5A2FF"/>
                </a:solidFill>
                <a:latin typeface="DejaVu Sans"/>
                <a:ea typeface="DejaVu Sans"/>
                <a:cs typeface="DejaVu Sans"/>
              </a:defRPr>
            </a:pPr>
            <a:r>
              <a:rPr sz="1400" b="0" dirty="0">
                <a:solidFill>
                  <a:srgbClr val="B5A2FF"/>
                </a:solidFill>
                <a:latin typeface="DejaVu Sans"/>
                <a:ea typeface="DejaVu Sans"/>
                <a:cs typeface="DejaVu Sans"/>
              </a:rPr>
              <a:t>Cross terms describe coupling</a:t>
            </a:r>
          </a:p>
          <a:p>
            <a:pPr>
              <a:defRPr sz="2025" b="0">
                <a:solidFill>
                  <a:srgbClr val="B5A2FF"/>
                </a:solidFill>
                <a:latin typeface="DejaVu Sans"/>
                <a:ea typeface="DejaVu Sans"/>
                <a:cs typeface="DejaVu Sans"/>
              </a:defRPr>
            </a:pPr>
            <a:r>
              <a:rPr sz="1400" b="0" dirty="0">
                <a:solidFill>
                  <a:srgbClr val="B5A2FF"/>
                </a:solidFill>
                <a:latin typeface="DejaVu Sans"/>
                <a:ea typeface="DejaVu Sans"/>
                <a:cs typeface="DejaVu Sans"/>
              </a:rPr>
              <a:t>in the chosen coordinates.</a:t>
            </a:r>
          </a:p>
        </p:txBody>
      </p:sp>
      <p:pic>
        <p:nvPicPr>
          <p:cNvPr id="13" name="Picture 12">
            <a:extLst>
              <a:ext uri="{FF2B5EF4-FFF2-40B4-BE49-F238E27FC236}">
                <a16:creationId xmlns:a16="http://schemas.microsoft.com/office/drawing/2014/main" id="{766CE8BA-0026-7C40-099E-0B48EEEB9C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0869" y="2297925"/>
            <a:ext cx="3580738" cy="2685553"/>
          </a:xfrm>
          <a:prstGeom prst="rect">
            <a:avLst/>
          </a:prstGeom>
        </p:spPr>
      </p:pic>
      <p:pic>
        <p:nvPicPr>
          <p:cNvPr id="15" name="Picture 14">
            <a:extLst>
              <a:ext uri="{FF2B5EF4-FFF2-40B4-BE49-F238E27FC236}">
                <a16:creationId xmlns:a16="http://schemas.microsoft.com/office/drawing/2014/main" id="{4F244005-E7AD-C191-8F77-95288C3D99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11979" y="2345635"/>
            <a:ext cx="3480021" cy="2610016"/>
          </a:xfrm>
          <a:prstGeom prst="rect">
            <a:avLst/>
          </a:prstGeom>
        </p:spPr>
      </p:pic>
      <p:sp>
        <p:nvSpPr>
          <p:cNvPr id="16" name="TextBox 15">
            <a:extLst>
              <a:ext uri="{FF2B5EF4-FFF2-40B4-BE49-F238E27FC236}">
                <a16:creationId xmlns:a16="http://schemas.microsoft.com/office/drawing/2014/main" id="{1C4B00AC-73F7-BA48-8C47-1C5FB5C66728}"/>
              </a:ext>
            </a:extLst>
          </p:cNvPr>
          <p:cNvSpPr txBox="1"/>
          <p:nvPr/>
        </p:nvSpPr>
        <p:spPr>
          <a:xfrm>
            <a:off x="890546" y="3252083"/>
            <a:ext cx="4420925" cy="2523768"/>
          </a:xfrm>
          <a:prstGeom prst="rect">
            <a:avLst/>
          </a:prstGeom>
          <a:noFill/>
        </p:spPr>
        <p:txBody>
          <a:bodyPr wrap="square" rtlCol="0">
            <a:spAutoFit/>
          </a:bodyPr>
          <a:lstStyle/>
          <a:p>
            <a:pPr marL="285750" lvl="0" indent="-285750">
              <a:buFont typeface="Arial" panose="020B0604020202020204" pitchFamily="34" charset="0"/>
              <a:buChar char="•"/>
            </a:pPr>
            <a:r>
              <a:rPr lang="en-US" sz="1400" b="1" dirty="0">
                <a:solidFill>
                  <a:schemeClr val="bg1"/>
                </a:solidFill>
              </a:rPr>
              <a:t>Cross coupling:</a:t>
            </a:r>
            <a:r>
              <a:rPr lang="en-US" sz="1400" dirty="0">
                <a:solidFill>
                  <a:schemeClr val="bg1"/>
                </a:solidFill>
              </a:rPr>
              <a:t> rotation about one coordinate axis produces angular momentum along another.</a:t>
            </a:r>
          </a:p>
          <a:p>
            <a:pPr marL="285750" lvl="0" indent="-285750">
              <a:buFont typeface="Arial" panose="020B0604020202020204" pitchFamily="34" charset="0"/>
              <a:buChar char="•"/>
            </a:pPr>
            <a:r>
              <a:rPr lang="en-US" sz="1400" dirty="0">
                <a:solidFill>
                  <a:schemeClr val="bg1"/>
                </a:solidFill>
              </a:rPr>
              <a:t>For rotation about \(x\), \(</a:t>
            </a:r>
            <a:r>
              <a:rPr lang="en-US" sz="1400" dirty="0" err="1">
                <a:solidFill>
                  <a:schemeClr val="bg1"/>
                </a:solidFill>
              </a:rPr>
              <a:t>L_y</a:t>
            </a:r>
            <a:r>
              <a:rPr lang="en-US" sz="1400" dirty="0">
                <a:solidFill>
                  <a:schemeClr val="bg1"/>
                </a:solidFill>
              </a:rPr>
              <a:t>=I_{</a:t>
            </a:r>
            <a:r>
              <a:rPr lang="en-US" sz="1400" dirty="0" err="1">
                <a:solidFill>
                  <a:schemeClr val="bg1"/>
                </a:solidFill>
              </a:rPr>
              <a:t>xy</a:t>
            </a:r>
            <a:r>
              <a:rPr lang="en-US" sz="1400" dirty="0">
                <a:solidFill>
                  <a:schemeClr val="bg1"/>
                </a:solidFill>
              </a:rPr>
              <a:t>}\</a:t>
            </a:r>
            <a:r>
              <a:rPr lang="en-US" sz="1400" dirty="0" err="1">
                <a:solidFill>
                  <a:schemeClr val="bg1"/>
                </a:solidFill>
              </a:rPr>
              <a:t>omega_x</a:t>
            </a:r>
            <a:r>
              <a:rPr lang="en-US" sz="1400" dirty="0">
                <a:solidFill>
                  <a:schemeClr val="bg1"/>
                </a:solidFill>
              </a:rPr>
              <a:t>\) and \(</a:t>
            </a:r>
            <a:r>
              <a:rPr lang="en-US" sz="1400" dirty="0" err="1">
                <a:solidFill>
                  <a:schemeClr val="bg1"/>
                </a:solidFill>
              </a:rPr>
              <a:t>L_z</a:t>
            </a:r>
            <a:r>
              <a:rPr lang="en-US" sz="1400" dirty="0">
                <a:solidFill>
                  <a:schemeClr val="bg1"/>
                </a:solidFill>
              </a:rPr>
              <a:t>=I_{</a:t>
            </a:r>
            <a:r>
              <a:rPr lang="en-US" sz="1400" dirty="0" err="1">
                <a:solidFill>
                  <a:schemeClr val="bg1"/>
                </a:solidFill>
              </a:rPr>
              <a:t>xz</a:t>
            </a:r>
            <a:r>
              <a:rPr lang="en-US" sz="1400" dirty="0">
                <a:solidFill>
                  <a:schemeClr val="bg1"/>
                </a:solidFill>
              </a:rPr>
              <a:t>}\</a:t>
            </a:r>
            <a:r>
              <a:rPr lang="en-US" sz="1400" dirty="0" err="1">
                <a:solidFill>
                  <a:schemeClr val="bg1"/>
                </a:solidFill>
              </a:rPr>
              <a:t>omega_x</a:t>
            </a:r>
            <a:r>
              <a:rPr lang="en-US" sz="1400" dirty="0">
                <a:solidFill>
                  <a:schemeClr val="bg1"/>
                </a:solidFill>
              </a:rPr>
              <a:t>\).</a:t>
            </a:r>
          </a:p>
          <a:p>
            <a:pPr marL="285750" lvl="0" indent="-285750">
              <a:buFont typeface="Arial" panose="020B0604020202020204" pitchFamily="34" charset="0"/>
              <a:buChar char="•"/>
            </a:pPr>
            <a:r>
              <a:rPr lang="en-US" sz="1400" dirty="0">
                <a:solidFill>
                  <a:schemeClr val="bg1"/>
                </a:solidFill>
              </a:rPr>
              <a:t>These perpendicular contributions arise from the particles’ positions and moment arms.</a:t>
            </a:r>
          </a:p>
          <a:p>
            <a:pPr marL="285750" lvl="0" indent="-285750">
              <a:buFont typeface="Arial" panose="020B0604020202020204" pitchFamily="34" charset="0"/>
              <a:buChar char="•"/>
            </a:pPr>
            <a:r>
              <a:rPr lang="en-US" sz="1400" dirty="0">
                <a:solidFill>
                  <a:schemeClr val="bg1"/>
                </a:solidFill>
              </a:rPr>
              <a:t>They may </a:t>
            </a:r>
            <a:r>
              <a:rPr lang="en-US" sz="1400" b="1" dirty="0">
                <a:solidFill>
                  <a:schemeClr val="bg1"/>
                </a:solidFill>
              </a:rPr>
              <a:t>cancel or reinforce</a:t>
            </a:r>
            <a:r>
              <a:rPr lang="en-US" sz="1400" dirty="0">
                <a:solidFill>
                  <a:schemeClr val="bg1"/>
                </a:solidFill>
              </a:rPr>
              <a:t>, depending on the mass distribution relative to the chosen axes.</a:t>
            </a:r>
          </a:p>
          <a:p>
            <a:pPr marL="285750" lvl="0" indent="-285750">
              <a:buFont typeface="Arial" panose="020B0604020202020204" pitchFamily="34" charset="0"/>
              <a:buChar char="•"/>
            </a:pPr>
            <a:r>
              <a:rPr lang="en-US" sz="1400" dirty="0">
                <a:solidFill>
                  <a:schemeClr val="bg1"/>
                </a:solidFill>
              </a:rPr>
              <a:t>Along a </a:t>
            </a:r>
            <a:r>
              <a:rPr lang="en-US" sz="1400" b="1" dirty="0">
                <a:solidFill>
                  <a:schemeClr val="bg1"/>
                </a:solidFill>
              </a:rPr>
              <a:t>principal axis</a:t>
            </a:r>
            <a:r>
              <a:rPr lang="en-US" sz="1400" dirty="0">
                <a:solidFill>
                  <a:schemeClr val="bg1"/>
                </a:solidFill>
              </a:rPr>
              <a:t>, they cancel, so \(\</a:t>
            </a:r>
            <a:r>
              <a:rPr lang="en-US" sz="1400" dirty="0" err="1">
                <a:solidFill>
                  <a:schemeClr val="bg1"/>
                </a:solidFill>
              </a:rPr>
              <a:t>mathbf</a:t>
            </a:r>
            <a:r>
              <a:rPr lang="en-US" sz="1400" dirty="0">
                <a:solidFill>
                  <a:schemeClr val="bg1"/>
                </a:solidFill>
              </a:rPr>
              <a:t> L\parallel\</a:t>
            </a:r>
            <a:r>
              <a:rPr lang="en-US" sz="1400" dirty="0" err="1">
                <a:solidFill>
                  <a:schemeClr val="bg1"/>
                </a:solidFill>
              </a:rPr>
              <a:t>boldsymbol</a:t>
            </a:r>
            <a:r>
              <a:rPr lang="en-US" sz="1400" dirty="0">
                <a:solidFill>
                  <a:schemeClr val="bg1"/>
                </a:solidFill>
              </a:rPr>
              <a:t>{\omega}\).</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99960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46703A-4A4C-4915-B8CF-052A384F2848}"/>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B812B74-7246-41EF-A041-4891D05139C2}"/>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78F4062-1059-45A4-9548-E366FA163D54}"/>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2AE4903F-1A1E-493C-ABA6-8866104EBACD}"/>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Three orthogonal directions simplify I</a:t>
            </a:r>
          </a:p>
        </p:txBody>
      </p:sp>
      <p:sp>
        <p:nvSpPr>
          <p:cNvPr id="5" name="Rectangle 4">
            <a:extLst>
              <a:ext uri="{FF2B5EF4-FFF2-40B4-BE49-F238E27FC236}">
                <a16:creationId xmlns:a16="http://schemas.microsoft.com/office/drawing/2014/main" id="{ABB6AD97-B6CE-43A5-87C5-227D3CC07DB9}"/>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CEB52A6C-6EF2-46E9-B46F-2773C48F4652}"/>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06</a:t>
            </a:r>
          </a:p>
        </p:txBody>
      </p:sp>
      <p:pic>
        <p:nvPicPr>
          <p:cNvPr id="7" name="Picture 6">
            <a:extLst>
              <a:ext uri="{FF2B5EF4-FFF2-40B4-BE49-F238E27FC236}">
                <a16:creationId xmlns:a16="http://schemas.microsoft.com/office/drawing/2014/main" id="{D3164E4E-DFE5-4BC8-BCCC-412443860388}"/>
              </a:ext>
            </a:extLst>
          </p:cNvPr>
          <p:cNvPicPr>
            <a:picLocks noChangeAspect="1"/>
          </p:cNvPicPr>
          <p:nvPr/>
        </p:nvPicPr>
        <p:blipFill>
          <a:blip r:embed="rId4"/>
          <a:stretch/>
        </p:blipFill>
        <p:spPr>
          <a:xfrm>
            <a:off x="1558287" y="2474263"/>
            <a:ext cx="3717073" cy="952500"/>
          </a:xfrm>
          <a:prstGeom prst="rect">
            <a:avLst/>
          </a:prstGeom>
        </p:spPr>
      </p:pic>
      <p:sp>
        <p:nvSpPr>
          <p:cNvPr id="8" name="Rectangle 7">
            <a:extLst>
              <a:ext uri="{FF2B5EF4-FFF2-40B4-BE49-F238E27FC236}">
                <a16:creationId xmlns:a16="http://schemas.microsoft.com/office/drawing/2014/main" id="{1A49FB2A-4D8F-45E9-93AE-CB1308409B9C}"/>
              </a:ext>
            </a:extLst>
          </p:cNvPr>
          <p:cNvSpPr>
            <a:spLocks noGrp="1"/>
          </p:cNvSpPr>
          <p:nvPr/>
        </p:nvSpPr>
        <p:spPr>
          <a:xfrm>
            <a:off x="601565" y="3848680"/>
            <a:ext cx="4476750" cy="523875"/>
          </a:xfrm>
          <a:prstGeom prst="rect">
            <a:avLst/>
          </a:prstGeom>
          <a:noFill/>
          <a:ln w="0">
            <a:noFill/>
            <a:prstDash val="solid"/>
          </a:ln>
        </p:spPr>
        <p:txBody>
          <a:bodyPr/>
          <a:lstStyle>
            <a:defPPr>
              <a:defRPr sz="2400" b="1">
                <a:solidFill>
                  <a:srgbClr val="55F3D2"/>
                </a:solidFill>
                <a:latin typeface="DejaVu Sans"/>
                <a:ea typeface="DejaVu Sans"/>
                <a:cs typeface="DejaVu Sans"/>
              </a:defRPr>
            </a:defPPr>
            <a:lvl1pPr>
              <a:defRPr sz="2400" b="1">
                <a:solidFill>
                  <a:srgbClr val="55F3D2"/>
                </a:solidFill>
                <a:latin typeface="DejaVu Sans"/>
                <a:ea typeface="DejaVu Sans"/>
                <a:cs typeface="DejaVu Sans"/>
              </a:defRPr>
            </a:lvl1pPr>
            <a:lvl2pPr>
              <a:defRPr sz="2400" b="1">
                <a:solidFill>
                  <a:srgbClr val="55F3D2"/>
                </a:solidFill>
                <a:latin typeface="DejaVu Sans"/>
                <a:ea typeface="DejaVu Sans"/>
                <a:cs typeface="DejaVu Sans"/>
              </a:defRPr>
            </a:lvl2pPr>
            <a:lvl3pPr>
              <a:defRPr sz="2400" b="1">
                <a:solidFill>
                  <a:srgbClr val="55F3D2"/>
                </a:solidFill>
                <a:latin typeface="DejaVu Sans"/>
                <a:ea typeface="DejaVu Sans"/>
                <a:cs typeface="DejaVu Sans"/>
              </a:defRPr>
            </a:lvl3pPr>
            <a:lvl4pPr>
              <a:defRPr sz="2400" b="1">
                <a:solidFill>
                  <a:srgbClr val="55F3D2"/>
                </a:solidFill>
                <a:latin typeface="DejaVu Sans"/>
                <a:ea typeface="DejaVu Sans"/>
                <a:cs typeface="DejaVu Sans"/>
              </a:defRPr>
            </a:lvl4pPr>
            <a:lvl5pPr>
              <a:defRPr sz="2400" b="1">
                <a:solidFill>
                  <a:srgbClr val="55F3D2"/>
                </a:solidFill>
                <a:latin typeface="DejaVu Sans"/>
                <a:ea typeface="DejaVu Sans"/>
                <a:cs typeface="DejaVu Sans"/>
              </a:defRPr>
            </a:lvl5pPr>
            <a:lvl6pPr>
              <a:defRPr sz="2400" b="1">
                <a:solidFill>
                  <a:srgbClr val="55F3D2"/>
                </a:solidFill>
                <a:latin typeface="DejaVu Sans"/>
                <a:ea typeface="DejaVu Sans"/>
                <a:cs typeface="DejaVu Sans"/>
              </a:defRPr>
            </a:lvl6pPr>
            <a:lvl7pPr>
              <a:defRPr sz="2400" b="1">
                <a:solidFill>
                  <a:srgbClr val="55F3D2"/>
                </a:solidFill>
                <a:latin typeface="DejaVu Sans"/>
                <a:ea typeface="DejaVu Sans"/>
                <a:cs typeface="DejaVu Sans"/>
              </a:defRPr>
            </a:lvl7pPr>
            <a:lvl8pPr>
              <a:defRPr sz="2400" b="1">
                <a:solidFill>
                  <a:srgbClr val="55F3D2"/>
                </a:solidFill>
                <a:latin typeface="DejaVu Sans"/>
                <a:ea typeface="DejaVu Sans"/>
                <a:cs typeface="DejaVu Sans"/>
              </a:defRPr>
            </a:lvl8pPr>
            <a:lvl9pPr>
              <a:defRPr sz="2400" b="1">
                <a:solidFill>
                  <a:srgbClr val="55F3D2"/>
                </a:solidFill>
                <a:latin typeface="DejaVu Sans"/>
                <a:ea typeface="DejaVu Sans"/>
                <a:cs typeface="DejaVu Sans"/>
              </a:defRPr>
            </a:lvl9pPr>
          </a:lstStyle>
          <a:p>
            <a:pPr>
              <a:defRPr sz="2400" b="1">
                <a:solidFill>
                  <a:srgbClr val="55F3D2"/>
                </a:solidFill>
                <a:latin typeface="DejaVu Sans"/>
                <a:ea typeface="DejaVu Sans"/>
                <a:cs typeface="DejaVu Sans"/>
              </a:defRPr>
            </a:pPr>
            <a:r>
              <a:rPr sz="2400" b="1" dirty="0">
                <a:solidFill>
                  <a:srgbClr val="55F3D2"/>
                </a:solidFill>
                <a:latin typeface="DejaVu Sans"/>
                <a:ea typeface="DejaVu Sans"/>
                <a:cs typeface="DejaVu Sans"/>
              </a:rPr>
              <a:t>Eigenvalue</a:t>
            </a:r>
            <a:r>
              <a:rPr lang="en-US" sz="2400" b="1" dirty="0">
                <a:solidFill>
                  <a:srgbClr val="55F3D2"/>
                </a:solidFill>
                <a:latin typeface="DejaVu Sans"/>
                <a:ea typeface="DejaVu Sans"/>
                <a:cs typeface="DejaVu Sans"/>
              </a:rPr>
              <a:t>s:</a:t>
            </a:r>
            <a:endParaRPr sz="2400" b="1" dirty="0">
              <a:solidFill>
                <a:srgbClr val="55F3D2"/>
              </a:solidFill>
              <a:latin typeface="DejaVu Sans"/>
              <a:ea typeface="DejaVu Sans"/>
              <a:cs typeface="DejaVu Sans"/>
            </a:endParaRPr>
          </a:p>
        </p:txBody>
      </p:sp>
      <p:sp>
        <p:nvSpPr>
          <p:cNvPr id="9" name="Rectangle 8">
            <a:extLst>
              <a:ext uri="{FF2B5EF4-FFF2-40B4-BE49-F238E27FC236}">
                <a16:creationId xmlns:a16="http://schemas.microsoft.com/office/drawing/2014/main" id="{DE267DC7-65A7-4084-BBE7-8C1A81E86ADF}"/>
              </a:ext>
            </a:extLst>
          </p:cNvPr>
          <p:cNvSpPr>
            <a:spLocks noGrp="1"/>
          </p:cNvSpPr>
          <p:nvPr/>
        </p:nvSpPr>
        <p:spPr>
          <a:xfrm>
            <a:off x="3034665" y="3893489"/>
            <a:ext cx="4857750" cy="714375"/>
          </a:xfrm>
          <a:prstGeom prst="rect">
            <a:avLst/>
          </a:prstGeom>
          <a:noFill/>
          <a:ln w="0">
            <a:noFill/>
            <a:prstDash val="solid"/>
          </a:ln>
        </p:spPr>
        <p:txBody>
          <a:bodyPr/>
          <a:lstStyle>
            <a:defPPr>
              <a:defRPr sz="2100" b="0">
                <a:solidFill>
                  <a:srgbClr val="F6F7FF"/>
                </a:solidFill>
                <a:latin typeface="DejaVu Sans"/>
                <a:ea typeface="DejaVu Sans"/>
                <a:cs typeface="DejaVu Sans"/>
              </a:defRPr>
            </a:defPPr>
            <a:lvl1pPr>
              <a:defRPr sz="2100" b="0">
                <a:solidFill>
                  <a:srgbClr val="F6F7FF"/>
                </a:solidFill>
                <a:latin typeface="DejaVu Sans"/>
                <a:ea typeface="DejaVu Sans"/>
                <a:cs typeface="DejaVu Sans"/>
              </a:defRPr>
            </a:lvl1pPr>
            <a:lvl2pPr>
              <a:defRPr sz="2100" b="0">
                <a:solidFill>
                  <a:srgbClr val="F6F7FF"/>
                </a:solidFill>
                <a:latin typeface="DejaVu Sans"/>
                <a:ea typeface="DejaVu Sans"/>
                <a:cs typeface="DejaVu Sans"/>
              </a:defRPr>
            </a:lvl2pPr>
            <a:lvl3pPr>
              <a:defRPr sz="2100" b="0">
                <a:solidFill>
                  <a:srgbClr val="F6F7FF"/>
                </a:solidFill>
                <a:latin typeface="DejaVu Sans"/>
                <a:ea typeface="DejaVu Sans"/>
                <a:cs typeface="DejaVu Sans"/>
              </a:defRPr>
            </a:lvl3pPr>
            <a:lvl4pPr>
              <a:defRPr sz="2100" b="0">
                <a:solidFill>
                  <a:srgbClr val="F6F7FF"/>
                </a:solidFill>
                <a:latin typeface="DejaVu Sans"/>
                <a:ea typeface="DejaVu Sans"/>
                <a:cs typeface="DejaVu Sans"/>
              </a:defRPr>
            </a:lvl4pPr>
            <a:lvl5pPr>
              <a:defRPr sz="2100" b="0">
                <a:solidFill>
                  <a:srgbClr val="F6F7FF"/>
                </a:solidFill>
                <a:latin typeface="DejaVu Sans"/>
                <a:ea typeface="DejaVu Sans"/>
                <a:cs typeface="DejaVu Sans"/>
              </a:defRPr>
            </a:lvl5pPr>
            <a:lvl6pPr>
              <a:defRPr sz="2100" b="0">
                <a:solidFill>
                  <a:srgbClr val="F6F7FF"/>
                </a:solidFill>
                <a:latin typeface="DejaVu Sans"/>
                <a:ea typeface="DejaVu Sans"/>
                <a:cs typeface="DejaVu Sans"/>
              </a:defRPr>
            </a:lvl6pPr>
            <a:lvl7pPr>
              <a:defRPr sz="2100" b="0">
                <a:solidFill>
                  <a:srgbClr val="F6F7FF"/>
                </a:solidFill>
                <a:latin typeface="DejaVu Sans"/>
                <a:ea typeface="DejaVu Sans"/>
                <a:cs typeface="DejaVu Sans"/>
              </a:defRPr>
            </a:lvl7pPr>
            <a:lvl8pPr>
              <a:defRPr sz="2100" b="0">
                <a:solidFill>
                  <a:srgbClr val="F6F7FF"/>
                </a:solidFill>
                <a:latin typeface="DejaVu Sans"/>
                <a:ea typeface="DejaVu Sans"/>
                <a:cs typeface="DejaVu Sans"/>
              </a:defRPr>
            </a:lvl8pPr>
            <a:lvl9pPr>
              <a:defRPr sz="2100" b="0">
                <a:solidFill>
                  <a:srgbClr val="F6F7FF"/>
                </a:solidFill>
                <a:latin typeface="DejaVu Sans"/>
                <a:ea typeface="DejaVu Sans"/>
                <a:cs typeface="DejaVu Sans"/>
              </a:defRPr>
            </a:lvl9pPr>
          </a:lstStyle>
          <a:p>
            <a:pPr>
              <a:defRPr sz="2100" b="0">
                <a:solidFill>
                  <a:srgbClr val="F6F7FF"/>
                </a:solidFill>
                <a:latin typeface="DejaVu Sans"/>
                <a:ea typeface="DejaVu Sans"/>
                <a:cs typeface="DejaVu Sans"/>
              </a:defRPr>
            </a:pPr>
            <a:r>
              <a:rPr sz="2100" b="0" dirty="0">
                <a:solidFill>
                  <a:srgbClr val="F6F7FF"/>
                </a:solidFill>
                <a:latin typeface="DejaVu Sans"/>
                <a:ea typeface="DejaVu Sans"/>
                <a:cs typeface="DejaVu Sans"/>
              </a:rPr>
              <a:t>Principal moments I₁, I₂, I₃</a:t>
            </a:r>
          </a:p>
        </p:txBody>
      </p:sp>
      <p:sp>
        <p:nvSpPr>
          <p:cNvPr id="10" name="Rectangle 9">
            <a:extLst>
              <a:ext uri="{FF2B5EF4-FFF2-40B4-BE49-F238E27FC236}">
                <a16:creationId xmlns:a16="http://schemas.microsoft.com/office/drawing/2014/main" id="{D2B74D71-C4F1-478C-B0FA-3016419BE739}"/>
              </a:ext>
            </a:extLst>
          </p:cNvPr>
          <p:cNvSpPr>
            <a:spLocks noGrp="1"/>
          </p:cNvSpPr>
          <p:nvPr/>
        </p:nvSpPr>
        <p:spPr>
          <a:xfrm>
            <a:off x="605541" y="4381417"/>
            <a:ext cx="4476750" cy="523875"/>
          </a:xfrm>
          <a:prstGeom prst="rect">
            <a:avLst/>
          </a:prstGeom>
          <a:noFill/>
          <a:ln w="0">
            <a:noFill/>
            <a:prstDash val="solid"/>
          </a:ln>
        </p:spPr>
        <p:txBody>
          <a:bodyPr/>
          <a:lstStyle>
            <a:defPPr>
              <a:defRPr sz="2400" b="1">
                <a:solidFill>
                  <a:srgbClr val="B5A2FF"/>
                </a:solidFill>
                <a:latin typeface="DejaVu Sans"/>
                <a:ea typeface="DejaVu Sans"/>
                <a:cs typeface="DejaVu Sans"/>
              </a:defRPr>
            </a:defPPr>
            <a:lvl1pPr>
              <a:defRPr sz="2400" b="1">
                <a:solidFill>
                  <a:srgbClr val="B5A2FF"/>
                </a:solidFill>
                <a:latin typeface="DejaVu Sans"/>
                <a:ea typeface="DejaVu Sans"/>
                <a:cs typeface="DejaVu Sans"/>
              </a:defRPr>
            </a:lvl1pPr>
            <a:lvl2pPr>
              <a:defRPr sz="2400" b="1">
                <a:solidFill>
                  <a:srgbClr val="B5A2FF"/>
                </a:solidFill>
                <a:latin typeface="DejaVu Sans"/>
                <a:ea typeface="DejaVu Sans"/>
                <a:cs typeface="DejaVu Sans"/>
              </a:defRPr>
            </a:lvl2pPr>
            <a:lvl3pPr>
              <a:defRPr sz="2400" b="1">
                <a:solidFill>
                  <a:srgbClr val="B5A2FF"/>
                </a:solidFill>
                <a:latin typeface="DejaVu Sans"/>
                <a:ea typeface="DejaVu Sans"/>
                <a:cs typeface="DejaVu Sans"/>
              </a:defRPr>
            </a:lvl3pPr>
            <a:lvl4pPr>
              <a:defRPr sz="2400" b="1">
                <a:solidFill>
                  <a:srgbClr val="B5A2FF"/>
                </a:solidFill>
                <a:latin typeface="DejaVu Sans"/>
                <a:ea typeface="DejaVu Sans"/>
                <a:cs typeface="DejaVu Sans"/>
              </a:defRPr>
            </a:lvl4pPr>
            <a:lvl5pPr>
              <a:defRPr sz="2400" b="1">
                <a:solidFill>
                  <a:srgbClr val="B5A2FF"/>
                </a:solidFill>
                <a:latin typeface="DejaVu Sans"/>
                <a:ea typeface="DejaVu Sans"/>
                <a:cs typeface="DejaVu Sans"/>
              </a:defRPr>
            </a:lvl5pPr>
            <a:lvl6pPr>
              <a:defRPr sz="2400" b="1">
                <a:solidFill>
                  <a:srgbClr val="B5A2FF"/>
                </a:solidFill>
                <a:latin typeface="DejaVu Sans"/>
                <a:ea typeface="DejaVu Sans"/>
                <a:cs typeface="DejaVu Sans"/>
              </a:defRPr>
            </a:lvl6pPr>
            <a:lvl7pPr>
              <a:defRPr sz="2400" b="1">
                <a:solidFill>
                  <a:srgbClr val="B5A2FF"/>
                </a:solidFill>
                <a:latin typeface="DejaVu Sans"/>
                <a:ea typeface="DejaVu Sans"/>
                <a:cs typeface="DejaVu Sans"/>
              </a:defRPr>
            </a:lvl7pPr>
            <a:lvl8pPr>
              <a:defRPr sz="2400" b="1">
                <a:solidFill>
                  <a:srgbClr val="B5A2FF"/>
                </a:solidFill>
                <a:latin typeface="DejaVu Sans"/>
                <a:ea typeface="DejaVu Sans"/>
                <a:cs typeface="DejaVu Sans"/>
              </a:defRPr>
            </a:lvl8pPr>
            <a:lvl9pPr>
              <a:defRPr sz="2400" b="1">
                <a:solidFill>
                  <a:srgbClr val="B5A2FF"/>
                </a:solidFill>
                <a:latin typeface="DejaVu Sans"/>
                <a:ea typeface="DejaVu Sans"/>
                <a:cs typeface="DejaVu Sans"/>
              </a:defRPr>
            </a:lvl9pPr>
          </a:lstStyle>
          <a:p>
            <a:pPr>
              <a:defRPr sz="2400" b="1">
                <a:solidFill>
                  <a:srgbClr val="B5A2FF"/>
                </a:solidFill>
                <a:latin typeface="DejaVu Sans"/>
                <a:ea typeface="DejaVu Sans"/>
                <a:cs typeface="DejaVu Sans"/>
              </a:defRPr>
            </a:pPr>
            <a:r>
              <a:rPr sz="2400" b="1" dirty="0">
                <a:solidFill>
                  <a:srgbClr val="B5A2FF"/>
                </a:solidFill>
                <a:latin typeface="DejaVu Sans"/>
                <a:ea typeface="DejaVu Sans"/>
                <a:cs typeface="DejaVu Sans"/>
              </a:rPr>
              <a:t>Eigenvectors</a:t>
            </a:r>
            <a:r>
              <a:rPr lang="en-US" sz="2400" b="1" dirty="0">
                <a:solidFill>
                  <a:srgbClr val="B5A2FF"/>
                </a:solidFill>
                <a:latin typeface="DejaVu Sans"/>
                <a:ea typeface="DejaVu Sans"/>
                <a:cs typeface="DejaVu Sans"/>
              </a:rPr>
              <a:t>:</a:t>
            </a:r>
            <a:endParaRPr sz="2400" b="1" dirty="0">
              <a:solidFill>
                <a:srgbClr val="B5A2FF"/>
              </a:solidFill>
              <a:latin typeface="DejaVu Sans"/>
              <a:ea typeface="DejaVu Sans"/>
              <a:cs typeface="DejaVu Sans"/>
            </a:endParaRPr>
          </a:p>
        </p:txBody>
      </p:sp>
      <p:sp>
        <p:nvSpPr>
          <p:cNvPr id="11" name="Rectangle 10">
            <a:extLst>
              <a:ext uri="{FF2B5EF4-FFF2-40B4-BE49-F238E27FC236}">
                <a16:creationId xmlns:a16="http://schemas.microsoft.com/office/drawing/2014/main" id="{AEDEA7F3-2E86-4B26-8EE5-BF947F39E884}"/>
              </a:ext>
            </a:extLst>
          </p:cNvPr>
          <p:cNvSpPr>
            <a:spLocks noGrp="1"/>
          </p:cNvSpPr>
          <p:nvPr/>
        </p:nvSpPr>
        <p:spPr>
          <a:xfrm>
            <a:off x="3078397" y="4418275"/>
            <a:ext cx="4857750" cy="714375"/>
          </a:xfrm>
          <a:prstGeom prst="rect">
            <a:avLst/>
          </a:prstGeom>
          <a:noFill/>
          <a:ln w="0">
            <a:noFill/>
            <a:prstDash val="solid"/>
          </a:ln>
        </p:spPr>
        <p:txBody>
          <a:bodyPr/>
          <a:lstStyle>
            <a:defPPr>
              <a:defRPr sz="2100" b="0">
                <a:solidFill>
                  <a:srgbClr val="F6F7FF"/>
                </a:solidFill>
                <a:latin typeface="DejaVu Sans"/>
                <a:ea typeface="DejaVu Sans"/>
                <a:cs typeface="DejaVu Sans"/>
              </a:defRPr>
            </a:defPPr>
            <a:lvl1pPr>
              <a:defRPr sz="2100" b="0">
                <a:solidFill>
                  <a:srgbClr val="F6F7FF"/>
                </a:solidFill>
                <a:latin typeface="DejaVu Sans"/>
                <a:ea typeface="DejaVu Sans"/>
                <a:cs typeface="DejaVu Sans"/>
              </a:defRPr>
            </a:lvl1pPr>
            <a:lvl2pPr>
              <a:defRPr sz="2100" b="0">
                <a:solidFill>
                  <a:srgbClr val="F6F7FF"/>
                </a:solidFill>
                <a:latin typeface="DejaVu Sans"/>
                <a:ea typeface="DejaVu Sans"/>
                <a:cs typeface="DejaVu Sans"/>
              </a:defRPr>
            </a:lvl2pPr>
            <a:lvl3pPr>
              <a:defRPr sz="2100" b="0">
                <a:solidFill>
                  <a:srgbClr val="F6F7FF"/>
                </a:solidFill>
                <a:latin typeface="DejaVu Sans"/>
                <a:ea typeface="DejaVu Sans"/>
                <a:cs typeface="DejaVu Sans"/>
              </a:defRPr>
            </a:lvl3pPr>
            <a:lvl4pPr>
              <a:defRPr sz="2100" b="0">
                <a:solidFill>
                  <a:srgbClr val="F6F7FF"/>
                </a:solidFill>
                <a:latin typeface="DejaVu Sans"/>
                <a:ea typeface="DejaVu Sans"/>
                <a:cs typeface="DejaVu Sans"/>
              </a:defRPr>
            </a:lvl4pPr>
            <a:lvl5pPr>
              <a:defRPr sz="2100" b="0">
                <a:solidFill>
                  <a:srgbClr val="F6F7FF"/>
                </a:solidFill>
                <a:latin typeface="DejaVu Sans"/>
                <a:ea typeface="DejaVu Sans"/>
                <a:cs typeface="DejaVu Sans"/>
              </a:defRPr>
            </a:lvl5pPr>
            <a:lvl6pPr>
              <a:defRPr sz="2100" b="0">
                <a:solidFill>
                  <a:srgbClr val="F6F7FF"/>
                </a:solidFill>
                <a:latin typeface="DejaVu Sans"/>
                <a:ea typeface="DejaVu Sans"/>
                <a:cs typeface="DejaVu Sans"/>
              </a:defRPr>
            </a:lvl6pPr>
            <a:lvl7pPr>
              <a:defRPr sz="2100" b="0">
                <a:solidFill>
                  <a:srgbClr val="F6F7FF"/>
                </a:solidFill>
                <a:latin typeface="DejaVu Sans"/>
                <a:ea typeface="DejaVu Sans"/>
                <a:cs typeface="DejaVu Sans"/>
              </a:defRPr>
            </a:lvl7pPr>
            <a:lvl8pPr>
              <a:defRPr sz="2100" b="0">
                <a:solidFill>
                  <a:srgbClr val="F6F7FF"/>
                </a:solidFill>
                <a:latin typeface="DejaVu Sans"/>
                <a:ea typeface="DejaVu Sans"/>
                <a:cs typeface="DejaVu Sans"/>
              </a:defRPr>
            </a:lvl8pPr>
            <a:lvl9pPr>
              <a:defRPr sz="2100" b="0">
                <a:solidFill>
                  <a:srgbClr val="F6F7FF"/>
                </a:solidFill>
                <a:latin typeface="DejaVu Sans"/>
                <a:ea typeface="DejaVu Sans"/>
                <a:cs typeface="DejaVu Sans"/>
              </a:defRPr>
            </a:lvl9pPr>
          </a:lstStyle>
          <a:p>
            <a:pPr>
              <a:defRPr sz="2100" b="0">
                <a:solidFill>
                  <a:srgbClr val="F6F7FF"/>
                </a:solidFill>
                <a:latin typeface="DejaVu Sans"/>
                <a:ea typeface="DejaVu Sans"/>
                <a:cs typeface="DejaVu Sans"/>
              </a:defRPr>
            </a:pPr>
            <a:r>
              <a:rPr sz="2100" b="0" dirty="0">
                <a:solidFill>
                  <a:srgbClr val="F6F7FF"/>
                </a:solidFill>
                <a:latin typeface="DejaVu Sans"/>
                <a:ea typeface="DejaVu Sans"/>
                <a:cs typeface="DejaVu Sans"/>
              </a:rPr>
              <a:t>Principal-axis directions</a:t>
            </a:r>
          </a:p>
        </p:txBody>
      </p:sp>
      <p:sp>
        <p:nvSpPr>
          <p:cNvPr id="12" name="Rectangle 11">
            <a:extLst>
              <a:ext uri="{FF2B5EF4-FFF2-40B4-BE49-F238E27FC236}">
                <a16:creationId xmlns:a16="http://schemas.microsoft.com/office/drawing/2014/main" id="{1E2A1A28-DCE1-4592-8E0F-5E0CC617F4F5}"/>
              </a:ext>
            </a:extLst>
          </p:cNvPr>
          <p:cNvSpPr>
            <a:spLocks noGrp="1"/>
          </p:cNvSpPr>
          <p:nvPr/>
        </p:nvSpPr>
        <p:spPr>
          <a:xfrm>
            <a:off x="657225" y="5562600"/>
            <a:ext cx="10572750" cy="619125"/>
          </a:xfrm>
          <a:prstGeom prst="rect">
            <a:avLst/>
          </a:prstGeom>
          <a:noFill/>
          <a:ln w="0">
            <a:noFill/>
            <a:prstDash val="solid"/>
          </a:ln>
        </p:spPr>
        <p:txBody>
          <a:bodyPr/>
          <a:lstStyle>
            <a:defPPr>
              <a:defRPr sz="1875" b="0">
                <a:solidFill>
                  <a:srgbClr val="B6C3D8"/>
                </a:solidFill>
                <a:latin typeface="DejaVu Sans"/>
                <a:ea typeface="DejaVu Sans"/>
                <a:cs typeface="DejaVu Sans"/>
              </a:defRPr>
            </a:defPPr>
            <a:lvl1pPr>
              <a:defRPr sz="1875" b="0">
                <a:solidFill>
                  <a:srgbClr val="B6C3D8"/>
                </a:solidFill>
                <a:latin typeface="DejaVu Sans"/>
                <a:ea typeface="DejaVu Sans"/>
                <a:cs typeface="DejaVu Sans"/>
              </a:defRPr>
            </a:lvl1pPr>
            <a:lvl2pPr>
              <a:defRPr sz="1875" b="0">
                <a:solidFill>
                  <a:srgbClr val="B6C3D8"/>
                </a:solidFill>
                <a:latin typeface="DejaVu Sans"/>
                <a:ea typeface="DejaVu Sans"/>
                <a:cs typeface="DejaVu Sans"/>
              </a:defRPr>
            </a:lvl2pPr>
            <a:lvl3pPr>
              <a:defRPr sz="1875" b="0">
                <a:solidFill>
                  <a:srgbClr val="B6C3D8"/>
                </a:solidFill>
                <a:latin typeface="DejaVu Sans"/>
                <a:ea typeface="DejaVu Sans"/>
                <a:cs typeface="DejaVu Sans"/>
              </a:defRPr>
            </a:lvl3pPr>
            <a:lvl4pPr>
              <a:defRPr sz="1875" b="0">
                <a:solidFill>
                  <a:srgbClr val="B6C3D8"/>
                </a:solidFill>
                <a:latin typeface="DejaVu Sans"/>
                <a:ea typeface="DejaVu Sans"/>
                <a:cs typeface="DejaVu Sans"/>
              </a:defRPr>
            </a:lvl4pPr>
            <a:lvl5pPr>
              <a:defRPr sz="1875" b="0">
                <a:solidFill>
                  <a:srgbClr val="B6C3D8"/>
                </a:solidFill>
                <a:latin typeface="DejaVu Sans"/>
                <a:ea typeface="DejaVu Sans"/>
                <a:cs typeface="DejaVu Sans"/>
              </a:defRPr>
            </a:lvl5pPr>
            <a:lvl6pPr>
              <a:defRPr sz="1875" b="0">
                <a:solidFill>
                  <a:srgbClr val="B6C3D8"/>
                </a:solidFill>
                <a:latin typeface="DejaVu Sans"/>
                <a:ea typeface="DejaVu Sans"/>
                <a:cs typeface="DejaVu Sans"/>
              </a:defRPr>
            </a:lvl6pPr>
            <a:lvl7pPr>
              <a:defRPr sz="1875" b="0">
                <a:solidFill>
                  <a:srgbClr val="B6C3D8"/>
                </a:solidFill>
                <a:latin typeface="DejaVu Sans"/>
                <a:ea typeface="DejaVu Sans"/>
                <a:cs typeface="DejaVu Sans"/>
              </a:defRPr>
            </a:lvl7pPr>
            <a:lvl8pPr>
              <a:defRPr sz="1875" b="0">
                <a:solidFill>
                  <a:srgbClr val="B6C3D8"/>
                </a:solidFill>
                <a:latin typeface="DejaVu Sans"/>
                <a:ea typeface="DejaVu Sans"/>
                <a:cs typeface="DejaVu Sans"/>
              </a:defRPr>
            </a:lvl8pPr>
            <a:lvl9pPr>
              <a:defRPr sz="1875" b="0">
                <a:solidFill>
                  <a:srgbClr val="B6C3D8"/>
                </a:solidFill>
                <a:latin typeface="DejaVu Sans"/>
                <a:ea typeface="DejaVu Sans"/>
                <a:cs typeface="DejaVu Sans"/>
              </a:defRPr>
            </a:lvl9pPr>
          </a:lstStyle>
          <a:p>
            <a:pPr>
              <a:defRPr sz="1875" b="0">
                <a:solidFill>
                  <a:srgbClr val="B6C3D8"/>
                </a:solidFill>
                <a:latin typeface="DejaVu Sans"/>
                <a:ea typeface="DejaVu Sans"/>
                <a:cs typeface="DejaVu Sans"/>
              </a:defRPr>
            </a:pPr>
            <a:r>
              <a:rPr sz="1875" b="0">
                <a:solidFill>
                  <a:srgbClr val="B6C3D8"/>
                </a:solidFill>
                <a:latin typeface="DejaVu Sans"/>
                <a:ea typeface="DejaVu Sans"/>
                <a:cs typeface="DejaVu Sans"/>
              </a:rPr>
              <a:t>A real symmetric tensor gives real moments and an orthonormal basis.</a:t>
            </a:r>
          </a:p>
        </p:txBody>
      </p:sp>
      <p:pic>
        <p:nvPicPr>
          <p:cNvPr id="15" name="Picture 14">
            <a:extLst>
              <a:ext uri="{FF2B5EF4-FFF2-40B4-BE49-F238E27FC236}">
                <a16:creationId xmlns:a16="http://schemas.microsoft.com/office/drawing/2014/main" id="{13999EEC-34C3-E06B-86F3-0DC9D8109B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1639" y="2226365"/>
            <a:ext cx="5560612" cy="2780306"/>
          </a:xfrm>
          <a:prstGeom prst="rect">
            <a:avLst/>
          </a:prstGeom>
        </p:spPr>
      </p:pic>
    </p:spTree>
    <p:extLst>
      <p:ext uri="{BB962C8B-B14F-4D97-AF65-F5344CB8AC3E}">
        <p14:creationId xmlns:p14="http://schemas.microsoft.com/office/powerpoint/2010/main" val="195907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3F4EADA-2606-4A82-8BBE-C3534326750C}"/>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9526C86-9C4C-44FF-86C3-56D669527F0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A57624EE-9A70-46B6-9774-7B52BDC011FC}"/>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4E4761F4-0B23-47AA-AA6A-9236F578A4DC}"/>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Diagonalization rotates the coordinates</a:t>
            </a:r>
          </a:p>
        </p:txBody>
      </p:sp>
      <p:sp>
        <p:nvSpPr>
          <p:cNvPr id="5" name="Rectangle 4">
            <a:extLst>
              <a:ext uri="{FF2B5EF4-FFF2-40B4-BE49-F238E27FC236}">
                <a16:creationId xmlns:a16="http://schemas.microsoft.com/office/drawing/2014/main" id="{32E5958C-4028-41DA-A672-9E4E9C9E295B}"/>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374EA0C5-9C68-4900-916F-3E34397BCAB7}"/>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07</a:t>
            </a:r>
          </a:p>
        </p:txBody>
      </p:sp>
      <p:pic>
        <p:nvPicPr>
          <p:cNvPr id="7" name="Picture 6">
            <a:extLst>
              <a:ext uri="{FF2B5EF4-FFF2-40B4-BE49-F238E27FC236}">
                <a16:creationId xmlns:a16="http://schemas.microsoft.com/office/drawing/2014/main" id="{5A40620B-DD67-4215-B1C5-3998099A35E1}"/>
              </a:ext>
            </a:extLst>
          </p:cNvPr>
          <p:cNvPicPr>
            <a:picLocks noChangeAspect="1"/>
          </p:cNvPicPr>
          <p:nvPr/>
        </p:nvPicPr>
        <p:blipFill>
          <a:blip r:embed="rId4"/>
          <a:stretch/>
        </p:blipFill>
        <p:spPr>
          <a:xfrm>
            <a:off x="681870" y="1816045"/>
            <a:ext cx="3930965" cy="1110035"/>
          </a:xfrm>
          <a:prstGeom prst="rect">
            <a:avLst/>
          </a:prstGeom>
        </p:spPr>
      </p:pic>
      <p:pic>
        <p:nvPicPr>
          <p:cNvPr id="8" name="Picture 7">
            <a:extLst>
              <a:ext uri="{FF2B5EF4-FFF2-40B4-BE49-F238E27FC236}">
                <a16:creationId xmlns:a16="http://schemas.microsoft.com/office/drawing/2014/main" id="{36184717-7ABD-4921-A2F3-D5F599DF7013}"/>
              </a:ext>
            </a:extLst>
          </p:cNvPr>
          <p:cNvPicPr>
            <a:picLocks noChangeAspect="1"/>
          </p:cNvPicPr>
          <p:nvPr/>
        </p:nvPicPr>
        <p:blipFill>
          <a:blip r:embed="rId5"/>
          <a:stretch/>
        </p:blipFill>
        <p:spPr>
          <a:xfrm>
            <a:off x="679475" y="3598795"/>
            <a:ext cx="4051551" cy="649936"/>
          </a:xfrm>
          <a:prstGeom prst="rect">
            <a:avLst/>
          </a:prstGeom>
        </p:spPr>
      </p:pic>
      <p:pic>
        <p:nvPicPr>
          <p:cNvPr id="9" name="Picture 8">
            <a:extLst>
              <a:ext uri="{FF2B5EF4-FFF2-40B4-BE49-F238E27FC236}">
                <a16:creationId xmlns:a16="http://schemas.microsoft.com/office/drawing/2014/main" id="{61B2E7F6-0986-4DE8-9ACE-F3CCF3229A38}"/>
              </a:ext>
            </a:extLst>
          </p:cNvPr>
          <p:cNvPicPr>
            <a:picLocks noChangeAspect="1"/>
          </p:cNvPicPr>
          <p:nvPr/>
        </p:nvPicPr>
        <p:blipFill>
          <a:blip r:embed="rId6"/>
          <a:stretch/>
        </p:blipFill>
        <p:spPr>
          <a:xfrm>
            <a:off x="788835" y="5073595"/>
            <a:ext cx="3496918" cy="546393"/>
          </a:xfrm>
          <a:prstGeom prst="rect">
            <a:avLst/>
          </a:prstGeom>
        </p:spPr>
      </p:pic>
      <p:pic>
        <p:nvPicPr>
          <p:cNvPr id="12" name="Picture 11">
            <a:extLst>
              <a:ext uri="{FF2B5EF4-FFF2-40B4-BE49-F238E27FC236}">
                <a16:creationId xmlns:a16="http://schemas.microsoft.com/office/drawing/2014/main" id="{31B3556A-D784-C0E4-C3E5-367385F9A4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19600" y="1630017"/>
            <a:ext cx="7772400" cy="4441371"/>
          </a:xfrm>
          <a:prstGeom prst="rect">
            <a:avLst/>
          </a:prstGeom>
        </p:spPr>
      </p:pic>
    </p:spTree>
    <p:extLst>
      <p:ext uri="{BB962C8B-B14F-4D97-AF65-F5344CB8AC3E}">
        <p14:creationId xmlns:p14="http://schemas.microsoft.com/office/powerpoint/2010/main" val="7111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769F70B-A471-4BEF-9EE5-0CE6893AAF5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711D86E-E940-4AB9-9584-34F193C2D598}"/>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5477413F-D4CC-4A16-9E1A-0DBE7666A257}"/>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E1C337E8-E657-42AC-8E88-35BF2AD298F8}"/>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eigenvectors become the columns of R</a:t>
            </a:r>
          </a:p>
        </p:txBody>
      </p:sp>
      <p:sp>
        <p:nvSpPr>
          <p:cNvPr id="5" name="Rectangle 4">
            <a:extLst>
              <a:ext uri="{FF2B5EF4-FFF2-40B4-BE49-F238E27FC236}">
                <a16:creationId xmlns:a16="http://schemas.microsoft.com/office/drawing/2014/main" id="{FEAA5184-BDA0-4528-90DB-35DDCD867137}"/>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7BFB30F8-07A9-4295-B5BA-26B2BE9222F7}"/>
              </a:ext>
            </a:extLst>
          </p:cNvPr>
          <p:cNvSpPr>
            <a:spLocks noGrp="1"/>
          </p:cNvSpPr>
          <p:nvPr/>
        </p:nvSpPr>
        <p:spPr>
          <a:xfrm>
            <a:off x="619125" y="1609725"/>
            <a:ext cx="10810875" cy="476250"/>
          </a:xfrm>
          <a:prstGeom prst="rect">
            <a:avLst/>
          </a:prstGeom>
          <a:noFill/>
          <a:ln w="0">
            <a:noFill/>
            <a:prstDash val="solid"/>
          </a:ln>
        </p:spPr>
        <p:txBody>
          <a:bodyPr/>
          <a:lstStyle>
            <a:defPPr>
              <a:defRPr sz="1950" b="0">
                <a:solidFill>
                  <a:srgbClr val="B6C3D8"/>
                </a:solidFill>
                <a:latin typeface="DejaVu Sans"/>
                <a:ea typeface="DejaVu Sans"/>
                <a:cs typeface="DejaVu Sans"/>
              </a:defRPr>
            </a:defPPr>
            <a:lvl1pPr>
              <a:defRPr sz="1950" b="0">
                <a:solidFill>
                  <a:srgbClr val="B6C3D8"/>
                </a:solidFill>
                <a:latin typeface="DejaVu Sans"/>
                <a:ea typeface="DejaVu Sans"/>
                <a:cs typeface="DejaVu Sans"/>
              </a:defRPr>
            </a:lvl1pPr>
            <a:lvl2pPr>
              <a:defRPr sz="1950" b="0">
                <a:solidFill>
                  <a:srgbClr val="B6C3D8"/>
                </a:solidFill>
                <a:latin typeface="DejaVu Sans"/>
                <a:ea typeface="DejaVu Sans"/>
                <a:cs typeface="DejaVu Sans"/>
              </a:defRPr>
            </a:lvl2pPr>
            <a:lvl3pPr>
              <a:defRPr sz="1950" b="0">
                <a:solidFill>
                  <a:srgbClr val="B6C3D8"/>
                </a:solidFill>
                <a:latin typeface="DejaVu Sans"/>
                <a:ea typeface="DejaVu Sans"/>
                <a:cs typeface="DejaVu Sans"/>
              </a:defRPr>
            </a:lvl3pPr>
            <a:lvl4pPr>
              <a:defRPr sz="1950" b="0">
                <a:solidFill>
                  <a:srgbClr val="B6C3D8"/>
                </a:solidFill>
                <a:latin typeface="DejaVu Sans"/>
                <a:ea typeface="DejaVu Sans"/>
                <a:cs typeface="DejaVu Sans"/>
              </a:defRPr>
            </a:lvl4pPr>
            <a:lvl5pPr>
              <a:defRPr sz="1950" b="0">
                <a:solidFill>
                  <a:srgbClr val="B6C3D8"/>
                </a:solidFill>
                <a:latin typeface="DejaVu Sans"/>
                <a:ea typeface="DejaVu Sans"/>
                <a:cs typeface="DejaVu Sans"/>
              </a:defRPr>
            </a:lvl5pPr>
            <a:lvl6pPr>
              <a:defRPr sz="1950" b="0">
                <a:solidFill>
                  <a:srgbClr val="B6C3D8"/>
                </a:solidFill>
                <a:latin typeface="DejaVu Sans"/>
                <a:ea typeface="DejaVu Sans"/>
                <a:cs typeface="DejaVu Sans"/>
              </a:defRPr>
            </a:lvl6pPr>
            <a:lvl7pPr>
              <a:defRPr sz="1950" b="0">
                <a:solidFill>
                  <a:srgbClr val="B6C3D8"/>
                </a:solidFill>
                <a:latin typeface="DejaVu Sans"/>
                <a:ea typeface="DejaVu Sans"/>
                <a:cs typeface="DejaVu Sans"/>
              </a:defRPr>
            </a:lvl7pPr>
            <a:lvl8pPr>
              <a:defRPr sz="1950" b="0">
                <a:solidFill>
                  <a:srgbClr val="B6C3D8"/>
                </a:solidFill>
                <a:latin typeface="DejaVu Sans"/>
                <a:ea typeface="DejaVu Sans"/>
                <a:cs typeface="DejaVu Sans"/>
              </a:defRPr>
            </a:lvl8pPr>
            <a:lvl9pPr>
              <a:defRPr sz="1950" b="0">
                <a:solidFill>
                  <a:srgbClr val="B6C3D8"/>
                </a:solidFill>
                <a:latin typeface="DejaVu Sans"/>
                <a:ea typeface="DejaVu Sans"/>
                <a:cs typeface="DejaVu Sans"/>
              </a:defRPr>
            </a:lvl9pPr>
          </a:lstStyle>
          <a:p>
            <a:pPr>
              <a:defRPr sz="1950" b="0">
                <a:solidFill>
                  <a:srgbClr val="B6C3D8"/>
                </a:solidFill>
                <a:latin typeface="DejaVu Sans"/>
                <a:ea typeface="DejaVu Sans"/>
                <a:cs typeface="DejaVu Sans"/>
              </a:defRPr>
            </a:pPr>
            <a:r>
              <a:rPr sz="1950" b="0">
                <a:solidFill>
                  <a:srgbClr val="B6C3D8"/>
                </a:solidFill>
                <a:latin typeface="DejaVu Sans"/>
                <a:ea typeface="DejaVu Sans"/>
                <a:cs typeface="DejaVu Sans"/>
              </a:rPr>
              <a:t>Each column contains one unit eigenvector’s original x, y, z components.</a:t>
            </a:r>
          </a:p>
        </p:txBody>
      </p:sp>
      <p:pic>
        <p:nvPicPr>
          <p:cNvPr id="7" name="Picture 6">
            <a:extLst>
              <a:ext uri="{FF2B5EF4-FFF2-40B4-BE49-F238E27FC236}">
                <a16:creationId xmlns:a16="http://schemas.microsoft.com/office/drawing/2014/main" id="{DC0A5830-B796-4466-81BF-5F778DCDF420}"/>
              </a:ext>
            </a:extLst>
          </p:cNvPr>
          <p:cNvPicPr>
            <a:picLocks noChangeAspect="1"/>
          </p:cNvPicPr>
          <p:nvPr/>
        </p:nvPicPr>
        <p:blipFill>
          <a:blip r:embed="rId4"/>
          <a:stretch/>
        </p:blipFill>
        <p:spPr>
          <a:xfrm>
            <a:off x="3963754" y="2133600"/>
            <a:ext cx="4264492" cy="1400175"/>
          </a:xfrm>
          <a:prstGeom prst="rect">
            <a:avLst/>
          </a:prstGeom>
        </p:spPr>
      </p:pic>
      <p:sp>
        <p:nvSpPr>
          <p:cNvPr id="8" name="Rectangle 7">
            <a:extLst>
              <a:ext uri="{FF2B5EF4-FFF2-40B4-BE49-F238E27FC236}">
                <a16:creationId xmlns:a16="http://schemas.microsoft.com/office/drawing/2014/main" id="{1DADABAE-3111-4599-B58C-B85BDD68E488}"/>
              </a:ext>
            </a:extLst>
          </p:cNvPr>
          <p:cNvSpPr>
            <a:spLocks noGrp="1"/>
          </p:cNvSpPr>
          <p:nvPr/>
        </p:nvSpPr>
        <p:spPr>
          <a:xfrm>
            <a:off x="619125" y="3629025"/>
            <a:ext cx="10858500" cy="400050"/>
          </a:xfrm>
          <a:prstGeom prst="rect">
            <a:avLst/>
          </a:prstGeom>
          <a:noFill/>
          <a:ln w="0">
            <a:noFill/>
            <a:prstDash val="solid"/>
          </a:ln>
        </p:spPr>
        <p:txBody>
          <a:bodyPr/>
          <a:lstStyle>
            <a:defPPr>
              <a:defRPr sz="2025" b="1">
                <a:solidFill>
                  <a:srgbClr val="55F3D2"/>
                </a:solidFill>
                <a:latin typeface="DejaVu Sans"/>
                <a:ea typeface="DejaVu Sans"/>
                <a:cs typeface="DejaVu Sans"/>
              </a:defRPr>
            </a:defPPr>
            <a:lvl1pPr>
              <a:defRPr sz="2025" b="1">
                <a:solidFill>
                  <a:srgbClr val="55F3D2"/>
                </a:solidFill>
                <a:latin typeface="DejaVu Sans"/>
                <a:ea typeface="DejaVu Sans"/>
                <a:cs typeface="DejaVu Sans"/>
              </a:defRPr>
            </a:lvl1pPr>
            <a:lvl2pPr>
              <a:defRPr sz="2025" b="1">
                <a:solidFill>
                  <a:srgbClr val="55F3D2"/>
                </a:solidFill>
                <a:latin typeface="DejaVu Sans"/>
                <a:ea typeface="DejaVu Sans"/>
                <a:cs typeface="DejaVu Sans"/>
              </a:defRPr>
            </a:lvl2pPr>
            <a:lvl3pPr>
              <a:defRPr sz="2025" b="1">
                <a:solidFill>
                  <a:srgbClr val="55F3D2"/>
                </a:solidFill>
                <a:latin typeface="DejaVu Sans"/>
                <a:ea typeface="DejaVu Sans"/>
                <a:cs typeface="DejaVu Sans"/>
              </a:defRPr>
            </a:lvl3pPr>
            <a:lvl4pPr>
              <a:defRPr sz="2025" b="1">
                <a:solidFill>
                  <a:srgbClr val="55F3D2"/>
                </a:solidFill>
                <a:latin typeface="DejaVu Sans"/>
                <a:ea typeface="DejaVu Sans"/>
                <a:cs typeface="DejaVu Sans"/>
              </a:defRPr>
            </a:lvl4pPr>
            <a:lvl5pPr>
              <a:defRPr sz="2025" b="1">
                <a:solidFill>
                  <a:srgbClr val="55F3D2"/>
                </a:solidFill>
                <a:latin typeface="DejaVu Sans"/>
                <a:ea typeface="DejaVu Sans"/>
                <a:cs typeface="DejaVu Sans"/>
              </a:defRPr>
            </a:lvl5pPr>
            <a:lvl6pPr>
              <a:defRPr sz="2025" b="1">
                <a:solidFill>
                  <a:srgbClr val="55F3D2"/>
                </a:solidFill>
                <a:latin typeface="DejaVu Sans"/>
                <a:ea typeface="DejaVu Sans"/>
                <a:cs typeface="DejaVu Sans"/>
              </a:defRPr>
            </a:lvl6pPr>
            <a:lvl7pPr>
              <a:defRPr sz="2025" b="1">
                <a:solidFill>
                  <a:srgbClr val="55F3D2"/>
                </a:solidFill>
                <a:latin typeface="DejaVu Sans"/>
                <a:ea typeface="DejaVu Sans"/>
                <a:cs typeface="DejaVu Sans"/>
              </a:defRPr>
            </a:lvl7pPr>
            <a:lvl8pPr>
              <a:defRPr sz="2025" b="1">
                <a:solidFill>
                  <a:srgbClr val="55F3D2"/>
                </a:solidFill>
                <a:latin typeface="DejaVu Sans"/>
                <a:ea typeface="DejaVu Sans"/>
                <a:cs typeface="DejaVu Sans"/>
              </a:defRPr>
            </a:lvl8pPr>
            <a:lvl9pPr>
              <a:defRPr sz="2025" b="1">
                <a:solidFill>
                  <a:srgbClr val="55F3D2"/>
                </a:solidFill>
                <a:latin typeface="DejaVu Sans"/>
                <a:ea typeface="DejaVu Sans"/>
                <a:cs typeface="DejaVu Sans"/>
              </a:defRPr>
            </a:lvl9pPr>
          </a:lstStyle>
          <a:p>
            <a:pPr>
              <a:defRPr sz="2025" b="1">
                <a:solidFill>
                  <a:srgbClr val="55F3D2"/>
                </a:solidFill>
                <a:latin typeface="DejaVu Sans"/>
                <a:ea typeface="DejaVu Sans"/>
                <a:cs typeface="DejaVu Sans"/>
              </a:defRPr>
            </a:pPr>
            <a:r>
              <a:rPr sz="2025" b="1">
                <a:solidFill>
                  <a:srgbClr val="55F3D2"/>
                </a:solidFill>
                <a:latin typeface="DejaVu Sans"/>
                <a:ea typeface="DejaVu Sans"/>
                <a:cs typeface="DejaVu Sans"/>
              </a:rPr>
              <a:t>Example: principal basis rotated 30° about z</a:t>
            </a:r>
          </a:p>
        </p:txBody>
      </p:sp>
      <p:pic>
        <p:nvPicPr>
          <p:cNvPr id="9" name="Picture 8">
            <a:extLst>
              <a:ext uri="{FF2B5EF4-FFF2-40B4-BE49-F238E27FC236}">
                <a16:creationId xmlns:a16="http://schemas.microsoft.com/office/drawing/2014/main" id="{40AD5DDA-334F-46F0-9D13-02AC0EF5D043}"/>
              </a:ext>
            </a:extLst>
          </p:cNvPr>
          <p:cNvPicPr>
            <a:picLocks noChangeAspect="1"/>
          </p:cNvPicPr>
          <p:nvPr/>
        </p:nvPicPr>
        <p:blipFill>
          <a:blip r:embed="rId5"/>
          <a:stretch/>
        </p:blipFill>
        <p:spPr>
          <a:xfrm>
            <a:off x="1299187" y="4057650"/>
            <a:ext cx="2449876" cy="1714500"/>
          </a:xfrm>
          <a:prstGeom prst="rect">
            <a:avLst/>
          </a:prstGeom>
        </p:spPr>
      </p:pic>
      <p:pic>
        <p:nvPicPr>
          <p:cNvPr id="10" name="Picture 9">
            <a:extLst>
              <a:ext uri="{FF2B5EF4-FFF2-40B4-BE49-F238E27FC236}">
                <a16:creationId xmlns:a16="http://schemas.microsoft.com/office/drawing/2014/main" id="{B0E83561-70CF-4AAC-9FEF-A24F7887259D}"/>
              </a:ext>
            </a:extLst>
          </p:cNvPr>
          <p:cNvPicPr>
            <a:picLocks noChangeAspect="1"/>
          </p:cNvPicPr>
          <p:nvPr/>
        </p:nvPicPr>
        <p:blipFill>
          <a:blip r:embed="rId6"/>
          <a:stretch/>
        </p:blipFill>
        <p:spPr>
          <a:xfrm>
            <a:off x="6509769" y="4048125"/>
            <a:ext cx="3649211" cy="1657350"/>
          </a:xfrm>
          <a:prstGeom prst="rect">
            <a:avLst/>
          </a:prstGeom>
        </p:spPr>
      </p:pic>
      <p:sp>
        <p:nvSpPr>
          <p:cNvPr id="11" name="Rectangle 10">
            <a:extLst>
              <a:ext uri="{FF2B5EF4-FFF2-40B4-BE49-F238E27FC236}">
                <a16:creationId xmlns:a16="http://schemas.microsoft.com/office/drawing/2014/main" id="{6560484D-403D-4E9B-837C-EC03B385492E}"/>
              </a:ext>
            </a:extLst>
          </p:cNvPr>
          <p:cNvSpPr>
            <a:spLocks noGrp="1"/>
          </p:cNvSpPr>
          <p:nvPr/>
        </p:nvSpPr>
        <p:spPr>
          <a:xfrm>
            <a:off x="628650" y="5743575"/>
            <a:ext cx="5048250" cy="285750"/>
          </a:xfrm>
          <a:prstGeom prst="rect">
            <a:avLst/>
          </a:prstGeom>
          <a:noFill/>
          <a:ln w="0">
            <a:noFill/>
            <a:prstDash val="solid"/>
          </a:ln>
        </p:spPr>
        <p:txBody>
          <a:bodyPr/>
          <a:lstStyle>
            <a:defPPr>
              <a:defRPr sz="1350" b="0">
                <a:solidFill>
                  <a:srgbClr val="B6C3D8"/>
                </a:solidFill>
                <a:latin typeface="DejaVu Sans"/>
                <a:ea typeface="DejaVu Sans"/>
                <a:cs typeface="DejaVu Sans"/>
              </a:defRPr>
            </a:defPPr>
            <a:lvl1pPr>
              <a:defRPr sz="1350" b="0">
                <a:solidFill>
                  <a:srgbClr val="B6C3D8"/>
                </a:solidFill>
                <a:latin typeface="DejaVu Sans"/>
                <a:ea typeface="DejaVu Sans"/>
                <a:cs typeface="DejaVu Sans"/>
              </a:defRPr>
            </a:lvl1pPr>
            <a:lvl2pPr>
              <a:defRPr sz="1350" b="0">
                <a:solidFill>
                  <a:srgbClr val="B6C3D8"/>
                </a:solidFill>
                <a:latin typeface="DejaVu Sans"/>
                <a:ea typeface="DejaVu Sans"/>
                <a:cs typeface="DejaVu Sans"/>
              </a:defRPr>
            </a:lvl2pPr>
            <a:lvl3pPr>
              <a:defRPr sz="1350" b="0">
                <a:solidFill>
                  <a:srgbClr val="B6C3D8"/>
                </a:solidFill>
                <a:latin typeface="DejaVu Sans"/>
                <a:ea typeface="DejaVu Sans"/>
                <a:cs typeface="DejaVu Sans"/>
              </a:defRPr>
            </a:lvl3pPr>
            <a:lvl4pPr>
              <a:defRPr sz="1350" b="0">
                <a:solidFill>
                  <a:srgbClr val="B6C3D8"/>
                </a:solidFill>
                <a:latin typeface="DejaVu Sans"/>
                <a:ea typeface="DejaVu Sans"/>
                <a:cs typeface="DejaVu Sans"/>
              </a:defRPr>
            </a:lvl4pPr>
            <a:lvl5pPr>
              <a:defRPr sz="1350" b="0">
                <a:solidFill>
                  <a:srgbClr val="B6C3D8"/>
                </a:solidFill>
                <a:latin typeface="DejaVu Sans"/>
                <a:ea typeface="DejaVu Sans"/>
                <a:cs typeface="DejaVu Sans"/>
              </a:defRPr>
            </a:lvl5pPr>
            <a:lvl6pPr>
              <a:defRPr sz="1350" b="0">
                <a:solidFill>
                  <a:srgbClr val="B6C3D8"/>
                </a:solidFill>
                <a:latin typeface="DejaVu Sans"/>
                <a:ea typeface="DejaVu Sans"/>
                <a:cs typeface="DejaVu Sans"/>
              </a:defRPr>
            </a:lvl6pPr>
            <a:lvl7pPr>
              <a:defRPr sz="1350" b="0">
                <a:solidFill>
                  <a:srgbClr val="B6C3D8"/>
                </a:solidFill>
                <a:latin typeface="DejaVu Sans"/>
                <a:ea typeface="DejaVu Sans"/>
                <a:cs typeface="DejaVu Sans"/>
              </a:defRPr>
            </a:lvl7pPr>
            <a:lvl8pPr>
              <a:defRPr sz="1350" b="0">
                <a:solidFill>
                  <a:srgbClr val="B6C3D8"/>
                </a:solidFill>
                <a:latin typeface="DejaVu Sans"/>
                <a:ea typeface="DejaVu Sans"/>
                <a:cs typeface="DejaVu Sans"/>
              </a:defRPr>
            </a:lvl8pPr>
            <a:lvl9pPr>
              <a:defRPr sz="1350" b="0">
                <a:solidFill>
                  <a:srgbClr val="B6C3D8"/>
                </a:solidFill>
                <a:latin typeface="DejaVu Sans"/>
                <a:ea typeface="DejaVu Sans"/>
                <a:cs typeface="DejaVu Sans"/>
              </a:defRPr>
            </a:lvl9pPr>
          </a:lstStyle>
          <a:p>
            <a:pPr>
              <a:defRPr sz="1350" b="0">
                <a:solidFill>
                  <a:srgbClr val="B6C3D8"/>
                </a:solidFill>
                <a:latin typeface="DejaVu Sans"/>
                <a:ea typeface="DejaVu Sans"/>
                <a:cs typeface="DejaVu Sans"/>
              </a:defRPr>
            </a:pPr>
            <a:r>
              <a:rPr sz="1350" b="0">
                <a:solidFill>
                  <a:srgbClr val="B6C3D8"/>
                </a:solidFill>
                <a:latin typeface="DejaVu Sans"/>
                <a:ea typeface="DejaVu Sans"/>
                <a:cs typeface="DejaVu Sans"/>
              </a:rPr>
              <a:t>e₃ = z: unchanged and perpendicular to this view</a:t>
            </a:r>
          </a:p>
        </p:txBody>
      </p:sp>
      <p:pic>
        <p:nvPicPr>
          <p:cNvPr id="12" name="Picture 11">
            <a:extLst>
              <a:ext uri="{FF2B5EF4-FFF2-40B4-BE49-F238E27FC236}">
                <a16:creationId xmlns:a16="http://schemas.microsoft.com/office/drawing/2014/main" id="{6F1FD099-9EB2-46E1-B017-00430722CEE9}"/>
              </a:ext>
            </a:extLst>
          </p:cNvPr>
          <p:cNvPicPr>
            <a:picLocks noChangeAspect="1"/>
          </p:cNvPicPr>
          <p:nvPr/>
        </p:nvPicPr>
        <p:blipFill>
          <a:blip r:embed="rId7"/>
          <a:stretch/>
        </p:blipFill>
        <p:spPr>
          <a:xfrm>
            <a:off x="6605333" y="5829300"/>
            <a:ext cx="3839084" cy="419100"/>
          </a:xfrm>
          <a:prstGeom prst="rect">
            <a:avLst/>
          </a:prstGeom>
        </p:spPr>
      </p:pic>
    </p:spTree>
    <p:extLst>
      <p:ext uri="{BB962C8B-B14F-4D97-AF65-F5344CB8AC3E}">
        <p14:creationId xmlns:p14="http://schemas.microsoft.com/office/powerpoint/2010/main" val="497153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94D8173-8972-49B5-8A6C-C17D08D49005}"/>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C6D522C-A958-4864-AAF5-DA7B533E62CC}"/>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FFF37E89-1458-4B14-B77A-57A93DB7E9F6}"/>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C039F292-2B7D-460B-B386-636A727688BE}"/>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Symmetry can reveal principal axes</a:t>
            </a:r>
          </a:p>
        </p:txBody>
      </p:sp>
      <p:sp>
        <p:nvSpPr>
          <p:cNvPr id="5" name="Rectangle 4">
            <a:extLst>
              <a:ext uri="{FF2B5EF4-FFF2-40B4-BE49-F238E27FC236}">
                <a16:creationId xmlns:a16="http://schemas.microsoft.com/office/drawing/2014/main" id="{45439933-DD9E-46BE-B83D-DE0E3F641502}"/>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56A366C0-1E5C-401E-A7E7-0E9931953298}"/>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08</a:t>
            </a:r>
          </a:p>
        </p:txBody>
      </p:sp>
      <p:pic>
        <p:nvPicPr>
          <p:cNvPr id="7" name="Picture 6">
            <a:extLst>
              <a:ext uri="{FF2B5EF4-FFF2-40B4-BE49-F238E27FC236}">
                <a16:creationId xmlns:a16="http://schemas.microsoft.com/office/drawing/2014/main" id="{DC5D66B8-F1A8-4F3B-8D15-3647EB7FF733}"/>
              </a:ext>
            </a:extLst>
          </p:cNvPr>
          <p:cNvPicPr>
            <a:picLocks noChangeAspect="1"/>
          </p:cNvPicPr>
          <p:nvPr/>
        </p:nvPicPr>
        <p:blipFill>
          <a:blip r:embed="rId4"/>
          <a:stretch/>
        </p:blipFill>
        <p:spPr>
          <a:xfrm>
            <a:off x="2761871" y="1876425"/>
            <a:ext cx="6477759" cy="2828925"/>
          </a:xfrm>
          <a:prstGeom prst="rect">
            <a:avLst/>
          </a:prstGeom>
        </p:spPr>
      </p:pic>
      <p:sp>
        <p:nvSpPr>
          <p:cNvPr id="8" name="Rectangle 7">
            <a:extLst>
              <a:ext uri="{FF2B5EF4-FFF2-40B4-BE49-F238E27FC236}">
                <a16:creationId xmlns:a16="http://schemas.microsoft.com/office/drawing/2014/main" id="{C3E21413-EBC4-4C15-9E59-256B7650D0B8}"/>
              </a:ext>
            </a:extLst>
          </p:cNvPr>
          <p:cNvSpPr>
            <a:spLocks noGrp="1"/>
          </p:cNvSpPr>
          <p:nvPr/>
        </p:nvSpPr>
        <p:spPr>
          <a:xfrm>
            <a:off x="666750" y="4810125"/>
            <a:ext cx="4857750" cy="428625"/>
          </a:xfrm>
          <a:prstGeom prst="rect">
            <a:avLst/>
          </a:prstGeom>
          <a:noFill/>
          <a:ln w="0">
            <a:noFill/>
            <a:prstDash val="solid"/>
          </a:ln>
        </p:spPr>
        <p:txBody>
          <a:bodyPr/>
          <a:lstStyle>
            <a:defPPr>
              <a:defRPr sz="2250" b="1">
                <a:solidFill>
                  <a:srgbClr val="B5A2FF"/>
                </a:solidFill>
                <a:latin typeface="DejaVu Sans"/>
                <a:ea typeface="DejaVu Sans"/>
                <a:cs typeface="DejaVu Sans"/>
              </a:defRPr>
            </a:defPPr>
            <a:lvl1pPr>
              <a:defRPr sz="2250" b="1">
                <a:solidFill>
                  <a:srgbClr val="B5A2FF"/>
                </a:solidFill>
                <a:latin typeface="DejaVu Sans"/>
                <a:ea typeface="DejaVu Sans"/>
                <a:cs typeface="DejaVu Sans"/>
              </a:defRPr>
            </a:lvl1pPr>
            <a:lvl2pPr>
              <a:defRPr sz="2250" b="1">
                <a:solidFill>
                  <a:srgbClr val="B5A2FF"/>
                </a:solidFill>
                <a:latin typeface="DejaVu Sans"/>
                <a:ea typeface="DejaVu Sans"/>
                <a:cs typeface="DejaVu Sans"/>
              </a:defRPr>
            </a:lvl2pPr>
            <a:lvl3pPr>
              <a:defRPr sz="2250" b="1">
                <a:solidFill>
                  <a:srgbClr val="B5A2FF"/>
                </a:solidFill>
                <a:latin typeface="DejaVu Sans"/>
                <a:ea typeface="DejaVu Sans"/>
                <a:cs typeface="DejaVu Sans"/>
              </a:defRPr>
            </a:lvl3pPr>
            <a:lvl4pPr>
              <a:defRPr sz="2250" b="1">
                <a:solidFill>
                  <a:srgbClr val="B5A2FF"/>
                </a:solidFill>
                <a:latin typeface="DejaVu Sans"/>
                <a:ea typeface="DejaVu Sans"/>
                <a:cs typeface="DejaVu Sans"/>
              </a:defRPr>
            </a:lvl4pPr>
            <a:lvl5pPr>
              <a:defRPr sz="2250" b="1">
                <a:solidFill>
                  <a:srgbClr val="B5A2FF"/>
                </a:solidFill>
                <a:latin typeface="DejaVu Sans"/>
                <a:ea typeface="DejaVu Sans"/>
                <a:cs typeface="DejaVu Sans"/>
              </a:defRPr>
            </a:lvl5pPr>
            <a:lvl6pPr>
              <a:defRPr sz="2250" b="1">
                <a:solidFill>
                  <a:srgbClr val="B5A2FF"/>
                </a:solidFill>
                <a:latin typeface="DejaVu Sans"/>
                <a:ea typeface="DejaVu Sans"/>
                <a:cs typeface="DejaVu Sans"/>
              </a:defRPr>
            </a:lvl6pPr>
            <a:lvl7pPr>
              <a:defRPr sz="2250" b="1">
                <a:solidFill>
                  <a:srgbClr val="B5A2FF"/>
                </a:solidFill>
                <a:latin typeface="DejaVu Sans"/>
                <a:ea typeface="DejaVu Sans"/>
                <a:cs typeface="DejaVu Sans"/>
              </a:defRPr>
            </a:lvl7pPr>
            <a:lvl8pPr>
              <a:defRPr sz="2250" b="1">
                <a:solidFill>
                  <a:srgbClr val="B5A2FF"/>
                </a:solidFill>
                <a:latin typeface="DejaVu Sans"/>
                <a:ea typeface="DejaVu Sans"/>
                <a:cs typeface="DejaVu Sans"/>
              </a:defRPr>
            </a:lvl8pPr>
            <a:lvl9pPr>
              <a:defRPr sz="2250" b="1">
                <a:solidFill>
                  <a:srgbClr val="B5A2FF"/>
                </a:solidFill>
                <a:latin typeface="DejaVu Sans"/>
                <a:ea typeface="DejaVu Sans"/>
                <a:cs typeface="DejaVu Sans"/>
              </a:defRPr>
            </a:lvl9pPr>
          </a:lstStyle>
          <a:p>
            <a:pPr>
              <a:defRPr sz="2250" b="1">
                <a:solidFill>
                  <a:srgbClr val="B5A2FF"/>
                </a:solidFill>
                <a:latin typeface="DejaVu Sans"/>
                <a:ea typeface="DejaVu Sans"/>
                <a:cs typeface="DejaVu Sans"/>
              </a:defRPr>
            </a:pPr>
            <a:r>
              <a:rPr sz="2250" b="1">
                <a:solidFill>
                  <a:srgbClr val="B5A2FF"/>
                </a:solidFill>
                <a:latin typeface="DejaVu Sans"/>
                <a:ea typeface="DejaVu Sans"/>
                <a:cs typeface="DejaVu Sans"/>
              </a:rPr>
              <a:t>Uniform sphere</a:t>
            </a:r>
          </a:p>
        </p:txBody>
      </p:sp>
      <p:sp>
        <p:nvSpPr>
          <p:cNvPr id="9" name="Rectangle 8">
            <a:extLst>
              <a:ext uri="{FF2B5EF4-FFF2-40B4-BE49-F238E27FC236}">
                <a16:creationId xmlns:a16="http://schemas.microsoft.com/office/drawing/2014/main" id="{F27CEC73-4B3A-4436-9713-AB28AD311290}"/>
              </a:ext>
            </a:extLst>
          </p:cNvPr>
          <p:cNvSpPr>
            <a:spLocks noGrp="1"/>
          </p:cNvSpPr>
          <p:nvPr/>
        </p:nvSpPr>
        <p:spPr>
          <a:xfrm>
            <a:off x="666750" y="5410200"/>
            <a:ext cx="4857750" cy="666750"/>
          </a:xfrm>
          <a:prstGeom prst="rect">
            <a:avLst/>
          </a:prstGeom>
          <a:noFill/>
          <a:ln w="0">
            <a:noFill/>
            <a:prstDash val="solid"/>
          </a:ln>
        </p:spPr>
        <p:txBody>
          <a:bodyPr/>
          <a:lstStyle>
            <a:defPPr>
              <a:defRPr sz="1950" b="0">
                <a:solidFill>
                  <a:srgbClr val="F6F7FF"/>
                </a:solidFill>
                <a:latin typeface="DejaVu Sans"/>
                <a:ea typeface="DejaVu Sans"/>
                <a:cs typeface="DejaVu Sans"/>
              </a:defRPr>
            </a:defPPr>
            <a:lvl1pPr>
              <a:defRPr sz="1950" b="0">
                <a:solidFill>
                  <a:srgbClr val="F6F7FF"/>
                </a:solidFill>
                <a:latin typeface="DejaVu Sans"/>
                <a:ea typeface="DejaVu Sans"/>
                <a:cs typeface="DejaVu Sans"/>
              </a:defRPr>
            </a:lvl1pPr>
            <a:lvl2pPr>
              <a:defRPr sz="1950" b="0">
                <a:solidFill>
                  <a:srgbClr val="F6F7FF"/>
                </a:solidFill>
                <a:latin typeface="DejaVu Sans"/>
                <a:ea typeface="DejaVu Sans"/>
                <a:cs typeface="DejaVu Sans"/>
              </a:defRPr>
            </a:lvl2pPr>
            <a:lvl3pPr>
              <a:defRPr sz="1950" b="0">
                <a:solidFill>
                  <a:srgbClr val="F6F7FF"/>
                </a:solidFill>
                <a:latin typeface="DejaVu Sans"/>
                <a:ea typeface="DejaVu Sans"/>
                <a:cs typeface="DejaVu Sans"/>
              </a:defRPr>
            </a:lvl3pPr>
            <a:lvl4pPr>
              <a:defRPr sz="1950" b="0">
                <a:solidFill>
                  <a:srgbClr val="F6F7FF"/>
                </a:solidFill>
                <a:latin typeface="DejaVu Sans"/>
                <a:ea typeface="DejaVu Sans"/>
                <a:cs typeface="DejaVu Sans"/>
              </a:defRPr>
            </a:lvl4pPr>
            <a:lvl5pPr>
              <a:defRPr sz="1950" b="0">
                <a:solidFill>
                  <a:srgbClr val="F6F7FF"/>
                </a:solidFill>
                <a:latin typeface="DejaVu Sans"/>
                <a:ea typeface="DejaVu Sans"/>
                <a:cs typeface="DejaVu Sans"/>
              </a:defRPr>
            </a:lvl5pPr>
            <a:lvl6pPr>
              <a:defRPr sz="1950" b="0">
                <a:solidFill>
                  <a:srgbClr val="F6F7FF"/>
                </a:solidFill>
                <a:latin typeface="DejaVu Sans"/>
                <a:ea typeface="DejaVu Sans"/>
                <a:cs typeface="DejaVu Sans"/>
              </a:defRPr>
            </a:lvl6pPr>
            <a:lvl7pPr>
              <a:defRPr sz="1950" b="0">
                <a:solidFill>
                  <a:srgbClr val="F6F7FF"/>
                </a:solidFill>
                <a:latin typeface="DejaVu Sans"/>
                <a:ea typeface="DejaVu Sans"/>
                <a:cs typeface="DejaVu Sans"/>
              </a:defRPr>
            </a:lvl7pPr>
            <a:lvl8pPr>
              <a:defRPr sz="1950" b="0">
                <a:solidFill>
                  <a:srgbClr val="F6F7FF"/>
                </a:solidFill>
                <a:latin typeface="DejaVu Sans"/>
                <a:ea typeface="DejaVu Sans"/>
                <a:cs typeface="DejaVu Sans"/>
              </a:defRPr>
            </a:lvl8pPr>
            <a:lvl9pPr>
              <a:defRPr sz="1950" b="0">
                <a:solidFill>
                  <a:srgbClr val="F6F7FF"/>
                </a:solidFill>
                <a:latin typeface="DejaVu Sans"/>
                <a:ea typeface="DejaVu Sans"/>
                <a:cs typeface="DejaVu Sans"/>
              </a:defRPr>
            </a:lvl9pPr>
          </a:lstStyle>
          <a:p>
            <a:pPr>
              <a:defRPr sz="1950" b="0">
                <a:solidFill>
                  <a:srgbClr val="F6F7FF"/>
                </a:solidFill>
                <a:latin typeface="DejaVu Sans"/>
                <a:ea typeface="DejaVu Sans"/>
                <a:cs typeface="DejaVu Sans"/>
              </a:defRPr>
            </a:pPr>
            <a:r>
              <a:rPr sz="1950" b="0">
                <a:solidFill>
                  <a:srgbClr val="F6F7FF"/>
                </a:solidFill>
                <a:latin typeface="DejaVu Sans"/>
                <a:ea typeface="DejaVu Sans"/>
                <a:cs typeface="DejaVu Sans"/>
              </a:rPr>
              <a:t>Every direction is principal.</a:t>
            </a:r>
          </a:p>
        </p:txBody>
      </p:sp>
      <p:sp>
        <p:nvSpPr>
          <p:cNvPr id="10" name="Rectangle 9">
            <a:extLst>
              <a:ext uri="{FF2B5EF4-FFF2-40B4-BE49-F238E27FC236}">
                <a16:creationId xmlns:a16="http://schemas.microsoft.com/office/drawing/2014/main" id="{2B27741E-7192-41A5-BA91-304828E4C51D}"/>
              </a:ext>
            </a:extLst>
          </p:cNvPr>
          <p:cNvSpPr>
            <a:spLocks noGrp="1"/>
          </p:cNvSpPr>
          <p:nvPr/>
        </p:nvSpPr>
        <p:spPr>
          <a:xfrm>
            <a:off x="6581775" y="4810125"/>
            <a:ext cx="4953000" cy="428625"/>
          </a:xfrm>
          <a:prstGeom prst="rect">
            <a:avLst/>
          </a:prstGeom>
          <a:noFill/>
          <a:ln w="0">
            <a:noFill/>
            <a:prstDash val="solid"/>
          </a:ln>
        </p:spPr>
        <p:txBody>
          <a:bodyPr/>
          <a:lstStyle>
            <a:defPPr>
              <a:defRPr sz="2250" b="1">
                <a:solidFill>
                  <a:srgbClr val="55F3D2"/>
                </a:solidFill>
                <a:latin typeface="DejaVu Sans"/>
                <a:ea typeface="DejaVu Sans"/>
                <a:cs typeface="DejaVu Sans"/>
              </a:defRPr>
            </a:defPPr>
            <a:lvl1pPr>
              <a:defRPr sz="2250" b="1">
                <a:solidFill>
                  <a:srgbClr val="55F3D2"/>
                </a:solidFill>
                <a:latin typeface="DejaVu Sans"/>
                <a:ea typeface="DejaVu Sans"/>
                <a:cs typeface="DejaVu Sans"/>
              </a:defRPr>
            </a:lvl1pPr>
            <a:lvl2pPr>
              <a:defRPr sz="2250" b="1">
                <a:solidFill>
                  <a:srgbClr val="55F3D2"/>
                </a:solidFill>
                <a:latin typeface="DejaVu Sans"/>
                <a:ea typeface="DejaVu Sans"/>
                <a:cs typeface="DejaVu Sans"/>
              </a:defRPr>
            </a:lvl2pPr>
            <a:lvl3pPr>
              <a:defRPr sz="2250" b="1">
                <a:solidFill>
                  <a:srgbClr val="55F3D2"/>
                </a:solidFill>
                <a:latin typeface="DejaVu Sans"/>
                <a:ea typeface="DejaVu Sans"/>
                <a:cs typeface="DejaVu Sans"/>
              </a:defRPr>
            </a:lvl3pPr>
            <a:lvl4pPr>
              <a:defRPr sz="2250" b="1">
                <a:solidFill>
                  <a:srgbClr val="55F3D2"/>
                </a:solidFill>
                <a:latin typeface="DejaVu Sans"/>
                <a:ea typeface="DejaVu Sans"/>
                <a:cs typeface="DejaVu Sans"/>
              </a:defRPr>
            </a:lvl4pPr>
            <a:lvl5pPr>
              <a:defRPr sz="2250" b="1">
                <a:solidFill>
                  <a:srgbClr val="55F3D2"/>
                </a:solidFill>
                <a:latin typeface="DejaVu Sans"/>
                <a:ea typeface="DejaVu Sans"/>
                <a:cs typeface="DejaVu Sans"/>
              </a:defRPr>
            </a:lvl5pPr>
            <a:lvl6pPr>
              <a:defRPr sz="2250" b="1">
                <a:solidFill>
                  <a:srgbClr val="55F3D2"/>
                </a:solidFill>
                <a:latin typeface="DejaVu Sans"/>
                <a:ea typeface="DejaVu Sans"/>
                <a:cs typeface="DejaVu Sans"/>
              </a:defRPr>
            </a:lvl6pPr>
            <a:lvl7pPr>
              <a:defRPr sz="2250" b="1">
                <a:solidFill>
                  <a:srgbClr val="55F3D2"/>
                </a:solidFill>
                <a:latin typeface="DejaVu Sans"/>
                <a:ea typeface="DejaVu Sans"/>
                <a:cs typeface="DejaVu Sans"/>
              </a:defRPr>
            </a:lvl7pPr>
            <a:lvl8pPr>
              <a:defRPr sz="2250" b="1">
                <a:solidFill>
                  <a:srgbClr val="55F3D2"/>
                </a:solidFill>
                <a:latin typeface="DejaVu Sans"/>
                <a:ea typeface="DejaVu Sans"/>
                <a:cs typeface="DejaVu Sans"/>
              </a:defRPr>
            </a:lvl8pPr>
            <a:lvl9pPr>
              <a:defRPr sz="2250" b="1">
                <a:solidFill>
                  <a:srgbClr val="55F3D2"/>
                </a:solidFill>
                <a:latin typeface="DejaVu Sans"/>
                <a:ea typeface="DejaVu Sans"/>
                <a:cs typeface="DejaVu Sans"/>
              </a:defRPr>
            </a:lvl9pPr>
          </a:lstStyle>
          <a:p>
            <a:pPr>
              <a:defRPr sz="2250" b="1">
                <a:solidFill>
                  <a:srgbClr val="55F3D2"/>
                </a:solidFill>
                <a:latin typeface="DejaVu Sans"/>
                <a:ea typeface="DejaVu Sans"/>
                <a:cs typeface="DejaVu Sans"/>
              </a:defRPr>
            </a:pPr>
            <a:r>
              <a:rPr sz="2250" b="1">
                <a:solidFill>
                  <a:srgbClr val="55F3D2"/>
                </a:solidFill>
                <a:latin typeface="DejaVu Sans"/>
                <a:ea typeface="DejaVu Sans"/>
                <a:cs typeface="DejaVu Sans"/>
              </a:rPr>
              <a:t>Axially symmetric body</a:t>
            </a:r>
          </a:p>
        </p:txBody>
      </p:sp>
      <p:sp>
        <p:nvSpPr>
          <p:cNvPr id="11" name="Rectangle 10">
            <a:extLst>
              <a:ext uri="{FF2B5EF4-FFF2-40B4-BE49-F238E27FC236}">
                <a16:creationId xmlns:a16="http://schemas.microsoft.com/office/drawing/2014/main" id="{FA318148-F36E-404A-B375-3CDD06995796}"/>
              </a:ext>
            </a:extLst>
          </p:cNvPr>
          <p:cNvSpPr>
            <a:spLocks noGrp="1"/>
          </p:cNvSpPr>
          <p:nvPr/>
        </p:nvSpPr>
        <p:spPr>
          <a:xfrm>
            <a:off x="6581775" y="5410200"/>
            <a:ext cx="4953000" cy="666750"/>
          </a:xfrm>
          <a:prstGeom prst="rect">
            <a:avLst/>
          </a:prstGeom>
          <a:noFill/>
          <a:ln w="0">
            <a:noFill/>
            <a:prstDash val="solid"/>
          </a:ln>
        </p:spPr>
        <p:txBody>
          <a:bodyPr/>
          <a:lstStyle>
            <a:defPPr>
              <a:defRPr sz="1950" b="0">
                <a:solidFill>
                  <a:srgbClr val="F6F7FF"/>
                </a:solidFill>
                <a:latin typeface="DejaVu Sans"/>
                <a:ea typeface="DejaVu Sans"/>
                <a:cs typeface="DejaVu Sans"/>
              </a:defRPr>
            </a:defPPr>
            <a:lvl1pPr>
              <a:defRPr sz="1950" b="0">
                <a:solidFill>
                  <a:srgbClr val="F6F7FF"/>
                </a:solidFill>
                <a:latin typeface="DejaVu Sans"/>
                <a:ea typeface="DejaVu Sans"/>
                <a:cs typeface="DejaVu Sans"/>
              </a:defRPr>
            </a:lvl1pPr>
            <a:lvl2pPr>
              <a:defRPr sz="1950" b="0">
                <a:solidFill>
                  <a:srgbClr val="F6F7FF"/>
                </a:solidFill>
                <a:latin typeface="DejaVu Sans"/>
                <a:ea typeface="DejaVu Sans"/>
                <a:cs typeface="DejaVu Sans"/>
              </a:defRPr>
            </a:lvl2pPr>
            <a:lvl3pPr>
              <a:defRPr sz="1950" b="0">
                <a:solidFill>
                  <a:srgbClr val="F6F7FF"/>
                </a:solidFill>
                <a:latin typeface="DejaVu Sans"/>
                <a:ea typeface="DejaVu Sans"/>
                <a:cs typeface="DejaVu Sans"/>
              </a:defRPr>
            </a:lvl3pPr>
            <a:lvl4pPr>
              <a:defRPr sz="1950" b="0">
                <a:solidFill>
                  <a:srgbClr val="F6F7FF"/>
                </a:solidFill>
                <a:latin typeface="DejaVu Sans"/>
                <a:ea typeface="DejaVu Sans"/>
                <a:cs typeface="DejaVu Sans"/>
              </a:defRPr>
            </a:lvl4pPr>
            <a:lvl5pPr>
              <a:defRPr sz="1950" b="0">
                <a:solidFill>
                  <a:srgbClr val="F6F7FF"/>
                </a:solidFill>
                <a:latin typeface="DejaVu Sans"/>
                <a:ea typeface="DejaVu Sans"/>
                <a:cs typeface="DejaVu Sans"/>
              </a:defRPr>
            </a:lvl5pPr>
            <a:lvl6pPr>
              <a:defRPr sz="1950" b="0">
                <a:solidFill>
                  <a:srgbClr val="F6F7FF"/>
                </a:solidFill>
                <a:latin typeface="DejaVu Sans"/>
                <a:ea typeface="DejaVu Sans"/>
                <a:cs typeface="DejaVu Sans"/>
              </a:defRPr>
            </a:lvl6pPr>
            <a:lvl7pPr>
              <a:defRPr sz="1950" b="0">
                <a:solidFill>
                  <a:srgbClr val="F6F7FF"/>
                </a:solidFill>
                <a:latin typeface="DejaVu Sans"/>
                <a:ea typeface="DejaVu Sans"/>
                <a:cs typeface="DejaVu Sans"/>
              </a:defRPr>
            </a:lvl7pPr>
            <a:lvl8pPr>
              <a:defRPr sz="1950" b="0">
                <a:solidFill>
                  <a:srgbClr val="F6F7FF"/>
                </a:solidFill>
                <a:latin typeface="DejaVu Sans"/>
                <a:ea typeface="DejaVu Sans"/>
                <a:cs typeface="DejaVu Sans"/>
              </a:defRPr>
            </a:lvl8pPr>
            <a:lvl9pPr>
              <a:defRPr sz="1950" b="0">
                <a:solidFill>
                  <a:srgbClr val="F6F7FF"/>
                </a:solidFill>
                <a:latin typeface="DejaVu Sans"/>
                <a:ea typeface="DejaVu Sans"/>
                <a:cs typeface="DejaVu Sans"/>
              </a:defRPr>
            </a:lvl9pPr>
          </a:lstStyle>
          <a:p>
            <a:pPr>
              <a:defRPr sz="1950" b="0">
                <a:solidFill>
                  <a:srgbClr val="F6F7FF"/>
                </a:solidFill>
                <a:latin typeface="DejaVu Sans"/>
                <a:ea typeface="DejaVu Sans"/>
                <a:cs typeface="DejaVu Sans"/>
              </a:defRPr>
            </a:pPr>
            <a:r>
              <a:rPr sz="1950" b="0">
                <a:solidFill>
                  <a:srgbClr val="F6F7FF"/>
                </a:solidFill>
                <a:latin typeface="DejaVu Sans"/>
                <a:ea typeface="DejaVu Sans"/>
                <a:cs typeface="DejaVu Sans"/>
              </a:rPr>
              <a:t>The symmetry axis is principal.</a:t>
            </a:r>
          </a:p>
        </p:txBody>
      </p:sp>
    </p:spTree>
    <p:extLst>
      <p:ext uri="{BB962C8B-B14F-4D97-AF65-F5344CB8AC3E}">
        <p14:creationId xmlns:p14="http://schemas.microsoft.com/office/powerpoint/2010/main" val="1641036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C1FA1C0-D12F-4D21-919E-37D57C42F60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1FBAD10-F19F-47EA-8911-2A7FF120449E}"/>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557BABC-1650-444B-9774-D37C2096F79F}"/>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93B1F6D7-A7FC-4DD2-B398-5A327ACC854A}"/>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Equal moments leave no preferred direction</a:t>
            </a:r>
          </a:p>
        </p:txBody>
      </p:sp>
      <p:sp>
        <p:nvSpPr>
          <p:cNvPr id="5" name="Rectangle 4">
            <a:extLst>
              <a:ext uri="{FF2B5EF4-FFF2-40B4-BE49-F238E27FC236}">
                <a16:creationId xmlns:a16="http://schemas.microsoft.com/office/drawing/2014/main" id="{7D924B8E-F3DD-42F9-9C49-77094DEF4F50}"/>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FA37FFBA-AAD0-4056-B71E-A0E2EC65E998}"/>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09</a:t>
            </a:r>
          </a:p>
        </p:txBody>
      </p:sp>
      <p:pic>
        <p:nvPicPr>
          <p:cNvPr id="7" name="Picture 6">
            <a:extLst>
              <a:ext uri="{FF2B5EF4-FFF2-40B4-BE49-F238E27FC236}">
                <a16:creationId xmlns:a16="http://schemas.microsoft.com/office/drawing/2014/main" id="{1EF43654-3584-4080-9647-9D6DC2289F29}"/>
              </a:ext>
            </a:extLst>
          </p:cNvPr>
          <p:cNvPicPr>
            <a:picLocks noChangeAspect="1"/>
          </p:cNvPicPr>
          <p:nvPr/>
        </p:nvPicPr>
        <p:blipFill>
          <a:blip r:embed="rId4"/>
          <a:stretch/>
        </p:blipFill>
        <p:spPr>
          <a:xfrm>
            <a:off x="2312523" y="2009775"/>
            <a:ext cx="7262155" cy="1095375"/>
          </a:xfrm>
          <a:prstGeom prst="rect">
            <a:avLst/>
          </a:prstGeom>
        </p:spPr>
      </p:pic>
      <p:sp>
        <p:nvSpPr>
          <p:cNvPr id="8" name="Rectangle 7">
            <a:extLst>
              <a:ext uri="{FF2B5EF4-FFF2-40B4-BE49-F238E27FC236}">
                <a16:creationId xmlns:a16="http://schemas.microsoft.com/office/drawing/2014/main" id="{0FC55883-AA49-4C4A-BAAA-FC12C07B7D96}"/>
              </a:ext>
            </a:extLst>
          </p:cNvPr>
          <p:cNvSpPr>
            <a:spLocks noGrp="1"/>
          </p:cNvSpPr>
          <p:nvPr/>
        </p:nvSpPr>
        <p:spPr>
          <a:xfrm>
            <a:off x="657225" y="3819525"/>
            <a:ext cx="10382250" cy="714375"/>
          </a:xfrm>
          <a:prstGeom prst="rect">
            <a:avLst/>
          </a:prstGeom>
          <a:noFill/>
          <a:ln w="0">
            <a:noFill/>
            <a:prstDash val="solid"/>
          </a:ln>
        </p:spPr>
        <p:txBody>
          <a:bodyPr/>
          <a:lstStyle>
            <a:defPPr>
              <a:defRPr sz="2400" b="0">
                <a:solidFill>
                  <a:srgbClr val="55F3D2"/>
                </a:solidFill>
                <a:latin typeface="DejaVu Sans"/>
                <a:ea typeface="DejaVu Sans"/>
                <a:cs typeface="DejaVu Sans"/>
              </a:defRPr>
            </a:defPPr>
            <a:lvl1pPr>
              <a:defRPr sz="2400" b="0">
                <a:solidFill>
                  <a:srgbClr val="55F3D2"/>
                </a:solidFill>
                <a:latin typeface="DejaVu Sans"/>
                <a:ea typeface="DejaVu Sans"/>
                <a:cs typeface="DejaVu Sans"/>
              </a:defRPr>
            </a:lvl1pPr>
            <a:lvl2pPr>
              <a:defRPr sz="2400" b="0">
                <a:solidFill>
                  <a:srgbClr val="55F3D2"/>
                </a:solidFill>
                <a:latin typeface="DejaVu Sans"/>
                <a:ea typeface="DejaVu Sans"/>
                <a:cs typeface="DejaVu Sans"/>
              </a:defRPr>
            </a:lvl2pPr>
            <a:lvl3pPr>
              <a:defRPr sz="2400" b="0">
                <a:solidFill>
                  <a:srgbClr val="55F3D2"/>
                </a:solidFill>
                <a:latin typeface="DejaVu Sans"/>
                <a:ea typeface="DejaVu Sans"/>
                <a:cs typeface="DejaVu Sans"/>
              </a:defRPr>
            </a:lvl3pPr>
            <a:lvl4pPr>
              <a:defRPr sz="2400" b="0">
                <a:solidFill>
                  <a:srgbClr val="55F3D2"/>
                </a:solidFill>
                <a:latin typeface="DejaVu Sans"/>
                <a:ea typeface="DejaVu Sans"/>
                <a:cs typeface="DejaVu Sans"/>
              </a:defRPr>
            </a:lvl4pPr>
            <a:lvl5pPr>
              <a:defRPr sz="2400" b="0">
                <a:solidFill>
                  <a:srgbClr val="55F3D2"/>
                </a:solidFill>
                <a:latin typeface="DejaVu Sans"/>
                <a:ea typeface="DejaVu Sans"/>
                <a:cs typeface="DejaVu Sans"/>
              </a:defRPr>
            </a:lvl5pPr>
            <a:lvl6pPr>
              <a:defRPr sz="2400" b="0">
                <a:solidFill>
                  <a:srgbClr val="55F3D2"/>
                </a:solidFill>
                <a:latin typeface="DejaVu Sans"/>
                <a:ea typeface="DejaVu Sans"/>
                <a:cs typeface="DejaVu Sans"/>
              </a:defRPr>
            </a:lvl6pPr>
            <a:lvl7pPr>
              <a:defRPr sz="2400" b="0">
                <a:solidFill>
                  <a:srgbClr val="55F3D2"/>
                </a:solidFill>
                <a:latin typeface="DejaVu Sans"/>
                <a:ea typeface="DejaVu Sans"/>
                <a:cs typeface="DejaVu Sans"/>
              </a:defRPr>
            </a:lvl7pPr>
            <a:lvl8pPr>
              <a:defRPr sz="2400" b="0">
                <a:solidFill>
                  <a:srgbClr val="55F3D2"/>
                </a:solidFill>
                <a:latin typeface="DejaVu Sans"/>
                <a:ea typeface="DejaVu Sans"/>
                <a:cs typeface="DejaVu Sans"/>
              </a:defRPr>
            </a:lvl8pPr>
            <a:lvl9pPr>
              <a:defRPr sz="2400" b="0">
                <a:solidFill>
                  <a:srgbClr val="55F3D2"/>
                </a:solidFill>
                <a:latin typeface="DejaVu Sans"/>
                <a:ea typeface="DejaVu Sans"/>
                <a:cs typeface="DejaVu Sans"/>
              </a:defRPr>
            </a:lvl9pPr>
          </a:lstStyle>
          <a:p>
            <a:pPr>
              <a:defRPr sz="2400" b="0">
                <a:solidFill>
                  <a:srgbClr val="55F3D2"/>
                </a:solidFill>
                <a:latin typeface="DejaVu Sans"/>
                <a:ea typeface="DejaVu Sans"/>
                <a:cs typeface="DejaVu Sans"/>
              </a:defRPr>
            </a:pPr>
            <a:r>
              <a:rPr sz="2400" b="0">
                <a:solidFill>
                  <a:srgbClr val="55F3D2"/>
                </a:solidFill>
                <a:latin typeface="DejaVu Sans"/>
                <a:ea typeface="DejaVu Sans"/>
                <a:cs typeface="DejaVu Sans"/>
              </a:rPr>
              <a:t>For I = 8 1 kg m², every direction is an eigenvector.</a:t>
            </a:r>
          </a:p>
        </p:txBody>
      </p:sp>
      <p:sp>
        <p:nvSpPr>
          <p:cNvPr id="9" name="Rectangle 8">
            <a:extLst>
              <a:ext uri="{FF2B5EF4-FFF2-40B4-BE49-F238E27FC236}">
                <a16:creationId xmlns:a16="http://schemas.microsoft.com/office/drawing/2014/main" id="{7D506E95-0D7E-440A-99FC-0867BD13A62C}"/>
              </a:ext>
            </a:extLst>
          </p:cNvPr>
          <p:cNvSpPr>
            <a:spLocks noGrp="1"/>
          </p:cNvSpPr>
          <p:nvPr/>
        </p:nvSpPr>
        <p:spPr>
          <a:xfrm>
            <a:off x="657225" y="4991100"/>
            <a:ext cx="10382250" cy="809625"/>
          </a:xfrm>
          <a:prstGeom prst="rect">
            <a:avLst/>
          </a:prstGeom>
          <a:noFill/>
          <a:ln w="0">
            <a:noFill/>
            <a:prstDash val="solid"/>
          </a:ln>
        </p:spPr>
        <p:txBody>
          <a:bodyPr/>
          <a:lstStyle>
            <a:defPPr>
              <a:defRPr sz="2100" b="0">
                <a:solidFill>
                  <a:srgbClr val="B6C3D8"/>
                </a:solidFill>
                <a:latin typeface="DejaVu Sans"/>
                <a:ea typeface="DejaVu Sans"/>
                <a:cs typeface="DejaVu Sans"/>
              </a:defRPr>
            </a:defPPr>
            <a:lvl1pPr>
              <a:defRPr sz="2100" b="0">
                <a:solidFill>
                  <a:srgbClr val="B6C3D8"/>
                </a:solidFill>
                <a:latin typeface="DejaVu Sans"/>
                <a:ea typeface="DejaVu Sans"/>
                <a:cs typeface="DejaVu Sans"/>
              </a:defRPr>
            </a:lvl1pPr>
            <a:lvl2pPr>
              <a:defRPr sz="2100" b="0">
                <a:solidFill>
                  <a:srgbClr val="B6C3D8"/>
                </a:solidFill>
                <a:latin typeface="DejaVu Sans"/>
                <a:ea typeface="DejaVu Sans"/>
                <a:cs typeface="DejaVu Sans"/>
              </a:defRPr>
            </a:lvl2pPr>
            <a:lvl3pPr>
              <a:defRPr sz="2100" b="0">
                <a:solidFill>
                  <a:srgbClr val="B6C3D8"/>
                </a:solidFill>
                <a:latin typeface="DejaVu Sans"/>
                <a:ea typeface="DejaVu Sans"/>
                <a:cs typeface="DejaVu Sans"/>
              </a:defRPr>
            </a:lvl3pPr>
            <a:lvl4pPr>
              <a:defRPr sz="2100" b="0">
                <a:solidFill>
                  <a:srgbClr val="B6C3D8"/>
                </a:solidFill>
                <a:latin typeface="DejaVu Sans"/>
                <a:ea typeface="DejaVu Sans"/>
                <a:cs typeface="DejaVu Sans"/>
              </a:defRPr>
            </a:lvl4pPr>
            <a:lvl5pPr>
              <a:defRPr sz="2100" b="0">
                <a:solidFill>
                  <a:srgbClr val="B6C3D8"/>
                </a:solidFill>
                <a:latin typeface="DejaVu Sans"/>
                <a:ea typeface="DejaVu Sans"/>
                <a:cs typeface="DejaVu Sans"/>
              </a:defRPr>
            </a:lvl5pPr>
            <a:lvl6pPr>
              <a:defRPr sz="2100" b="0">
                <a:solidFill>
                  <a:srgbClr val="B6C3D8"/>
                </a:solidFill>
                <a:latin typeface="DejaVu Sans"/>
                <a:ea typeface="DejaVu Sans"/>
                <a:cs typeface="DejaVu Sans"/>
              </a:defRPr>
            </a:lvl6pPr>
            <a:lvl7pPr>
              <a:defRPr sz="2100" b="0">
                <a:solidFill>
                  <a:srgbClr val="B6C3D8"/>
                </a:solidFill>
                <a:latin typeface="DejaVu Sans"/>
                <a:ea typeface="DejaVu Sans"/>
                <a:cs typeface="DejaVu Sans"/>
              </a:defRPr>
            </a:lvl7pPr>
            <a:lvl8pPr>
              <a:defRPr sz="2100" b="0">
                <a:solidFill>
                  <a:srgbClr val="B6C3D8"/>
                </a:solidFill>
                <a:latin typeface="DejaVu Sans"/>
                <a:ea typeface="DejaVu Sans"/>
                <a:cs typeface="DejaVu Sans"/>
              </a:defRPr>
            </a:lvl8pPr>
            <a:lvl9pPr>
              <a:defRPr sz="2100" b="0">
                <a:solidFill>
                  <a:srgbClr val="B6C3D8"/>
                </a:solidFill>
                <a:latin typeface="DejaVu Sans"/>
                <a:ea typeface="DejaVu Sans"/>
                <a:cs typeface="DejaVu Sans"/>
              </a:defRPr>
            </a:lvl9pPr>
          </a:lstStyle>
          <a:p>
            <a:pPr>
              <a:defRPr sz="2100" b="0">
                <a:solidFill>
                  <a:srgbClr val="B6C3D8"/>
                </a:solidFill>
                <a:latin typeface="DejaVu Sans"/>
                <a:ea typeface="DejaVu Sans"/>
                <a:cs typeface="DejaVu Sans"/>
              </a:defRPr>
            </a:pPr>
            <a:r>
              <a:rPr sz="2100" b="0">
                <a:solidFill>
                  <a:srgbClr val="B6C3D8"/>
                </a:solidFill>
                <a:latin typeface="DejaVu Sans"/>
                <a:ea typeface="DejaVu Sans"/>
                <a:cs typeface="DejaVu Sans"/>
              </a:rPr>
              <a:t>Numerical software returns one possible orthonormal set.</a:t>
            </a:r>
          </a:p>
        </p:txBody>
      </p:sp>
    </p:spTree>
    <p:extLst>
      <p:ext uri="{BB962C8B-B14F-4D97-AF65-F5344CB8AC3E}">
        <p14:creationId xmlns:p14="http://schemas.microsoft.com/office/powerpoint/2010/main" val="1088716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9819C80-2201-473B-917D-876612D509D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F40C5B2-0B15-42E4-B8A7-A8B725E4D6BB}"/>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8D0D5DFD-B494-4D6E-9548-1E768059CF09}"/>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864A133F-A945-4523-A34A-2EF648CC9B1C}"/>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lang="en-US" sz="3225" b="1" dirty="0">
                <a:solidFill>
                  <a:srgbClr val="F6F7FF"/>
                </a:solidFill>
                <a:latin typeface="DejaVu Sans"/>
                <a:ea typeface="DejaVu Sans"/>
                <a:cs typeface="DejaVu Sans"/>
              </a:rPr>
              <a:t>Box 1</a:t>
            </a:r>
            <a:r>
              <a:rPr sz="3225" b="1" dirty="0">
                <a:solidFill>
                  <a:srgbClr val="F6F7FF"/>
                </a:solidFill>
                <a:latin typeface="DejaVu Sans"/>
                <a:ea typeface="DejaVu Sans"/>
                <a:cs typeface="DejaVu Sans"/>
              </a:rPr>
              <a:t>: axes hidden in a matrix</a:t>
            </a:r>
          </a:p>
        </p:txBody>
      </p:sp>
      <p:sp>
        <p:nvSpPr>
          <p:cNvPr id="5" name="Rectangle 4">
            <a:extLst>
              <a:ext uri="{FF2B5EF4-FFF2-40B4-BE49-F238E27FC236}">
                <a16:creationId xmlns:a16="http://schemas.microsoft.com/office/drawing/2014/main" id="{12654291-E17E-4836-9EF7-9E739258E62C}"/>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AF0BD9E1-09B3-449E-8864-0A7C03C8AB06}"/>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10</a:t>
            </a:r>
          </a:p>
        </p:txBody>
      </p:sp>
      <p:pic>
        <p:nvPicPr>
          <p:cNvPr id="7" name="Picture 6">
            <a:extLst>
              <a:ext uri="{FF2B5EF4-FFF2-40B4-BE49-F238E27FC236}">
                <a16:creationId xmlns:a16="http://schemas.microsoft.com/office/drawing/2014/main" id="{03B519C1-4951-4D1B-B121-87407FF40DC4}"/>
              </a:ext>
            </a:extLst>
          </p:cNvPr>
          <p:cNvPicPr>
            <a:picLocks noChangeAspect="1"/>
          </p:cNvPicPr>
          <p:nvPr/>
        </p:nvPicPr>
        <p:blipFill>
          <a:blip r:embed="rId4"/>
          <a:stretch/>
        </p:blipFill>
        <p:spPr>
          <a:xfrm>
            <a:off x="619125" y="2500511"/>
            <a:ext cx="4762500" cy="1990328"/>
          </a:xfrm>
          <a:prstGeom prst="rect">
            <a:avLst/>
          </a:prstGeom>
        </p:spPr>
      </p:pic>
      <p:sp>
        <p:nvSpPr>
          <p:cNvPr id="8" name="Rectangle 7">
            <a:extLst>
              <a:ext uri="{FF2B5EF4-FFF2-40B4-BE49-F238E27FC236}">
                <a16:creationId xmlns:a16="http://schemas.microsoft.com/office/drawing/2014/main" id="{24FEB4A3-9374-4358-B9A4-598F6EA81F93}"/>
              </a:ext>
            </a:extLst>
          </p:cNvPr>
          <p:cNvSpPr>
            <a:spLocks noGrp="1"/>
          </p:cNvSpPr>
          <p:nvPr/>
        </p:nvSpPr>
        <p:spPr>
          <a:xfrm>
            <a:off x="6248400" y="2200275"/>
            <a:ext cx="5238750" cy="857250"/>
          </a:xfrm>
          <a:prstGeom prst="rect">
            <a:avLst/>
          </a:prstGeom>
          <a:noFill/>
          <a:ln w="0">
            <a:noFill/>
            <a:prstDash val="solid"/>
          </a:ln>
        </p:spPr>
        <p:txBody>
          <a:bodyPr/>
          <a:lstStyle>
            <a:defPPr>
              <a:defRPr sz="2475" b="1">
                <a:solidFill>
                  <a:srgbClr val="55F3D2"/>
                </a:solidFill>
                <a:latin typeface="DejaVu Sans"/>
                <a:ea typeface="DejaVu Sans"/>
                <a:cs typeface="DejaVu Sans"/>
              </a:defRPr>
            </a:defPPr>
            <a:lvl1pPr>
              <a:defRPr sz="2475" b="1">
                <a:solidFill>
                  <a:srgbClr val="55F3D2"/>
                </a:solidFill>
                <a:latin typeface="DejaVu Sans"/>
                <a:ea typeface="DejaVu Sans"/>
                <a:cs typeface="DejaVu Sans"/>
              </a:defRPr>
            </a:lvl1pPr>
            <a:lvl2pPr>
              <a:defRPr sz="2475" b="1">
                <a:solidFill>
                  <a:srgbClr val="55F3D2"/>
                </a:solidFill>
                <a:latin typeface="DejaVu Sans"/>
                <a:ea typeface="DejaVu Sans"/>
                <a:cs typeface="DejaVu Sans"/>
              </a:defRPr>
            </a:lvl2pPr>
            <a:lvl3pPr>
              <a:defRPr sz="2475" b="1">
                <a:solidFill>
                  <a:srgbClr val="55F3D2"/>
                </a:solidFill>
                <a:latin typeface="DejaVu Sans"/>
                <a:ea typeface="DejaVu Sans"/>
                <a:cs typeface="DejaVu Sans"/>
              </a:defRPr>
            </a:lvl3pPr>
            <a:lvl4pPr>
              <a:defRPr sz="2475" b="1">
                <a:solidFill>
                  <a:srgbClr val="55F3D2"/>
                </a:solidFill>
                <a:latin typeface="DejaVu Sans"/>
                <a:ea typeface="DejaVu Sans"/>
                <a:cs typeface="DejaVu Sans"/>
              </a:defRPr>
            </a:lvl4pPr>
            <a:lvl5pPr>
              <a:defRPr sz="2475" b="1">
                <a:solidFill>
                  <a:srgbClr val="55F3D2"/>
                </a:solidFill>
                <a:latin typeface="DejaVu Sans"/>
                <a:ea typeface="DejaVu Sans"/>
                <a:cs typeface="DejaVu Sans"/>
              </a:defRPr>
            </a:lvl5pPr>
            <a:lvl6pPr>
              <a:defRPr sz="2475" b="1">
                <a:solidFill>
                  <a:srgbClr val="55F3D2"/>
                </a:solidFill>
                <a:latin typeface="DejaVu Sans"/>
                <a:ea typeface="DejaVu Sans"/>
                <a:cs typeface="DejaVu Sans"/>
              </a:defRPr>
            </a:lvl6pPr>
            <a:lvl7pPr>
              <a:defRPr sz="2475" b="1">
                <a:solidFill>
                  <a:srgbClr val="55F3D2"/>
                </a:solidFill>
                <a:latin typeface="DejaVu Sans"/>
                <a:ea typeface="DejaVu Sans"/>
                <a:cs typeface="DejaVu Sans"/>
              </a:defRPr>
            </a:lvl7pPr>
            <a:lvl8pPr>
              <a:defRPr sz="2475" b="1">
                <a:solidFill>
                  <a:srgbClr val="55F3D2"/>
                </a:solidFill>
                <a:latin typeface="DejaVu Sans"/>
                <a:ea typeface="DejaVu Sans"/>
                <a:cs typeface="DejaVu Sans"/>
              </a:defRPr>
            </a:lvl8pPr>
            <a:lvl9pPr>
              <a:defRPr sz="2475" b="1">
                <a:solidFill>
                  <a:srgbClr val="55F3D2"/>
                </a:solidFill>
                <a:latin typeface="DejaVu Sans"/>
                <a:ea typeface="DejaVu Sans"/>
                <a:cs typeface="DejaVu Sans"/>
              </a:defRPr>
            </a:lvl9pPr>
          </a:lstStyle>
          <a:p>
            <a:pPr>
              <a:defRPr sz="2475" b="1">
                <a:solidFill>
                  <a:srgbClr val="55F3D2"/>
                </a:solidFill>
                <a:latin typeface="DejaVu Sans"/>
                <a:ea typeface="DejaVu Sans"/>
                <a:cs typeface="DejaVu Sans"/>
              </a:defRPr>
            </a:pPr>
            <a:r>
              <a:rPr sz="2475" b="1">
                <a:solidFill>
                  <a:srgbClr val="55F3D2"/>
                </a:solidFill>
                <a:latin typeface="DejaVu Sans"/>
                <a:ea typeface="DejaVu Sans"/>
                <a:cs typeface="DejaVu Sans"/>
              </a:rPr>
              <a:t>Which axis is already principal?</a:t>
            </a:r>
          </a:p>
        </p:txBody>
      </p:sp>
      <p:sp>
        <p:nvSpPr>
          <p:cNvPr id="9" name="Rectangle 8">
            <a:extLst>
              <a:ext uri="{FF2B5EF4-FFF2-40B4-BE49-F238E27FC236}">
                <a16:creationId xmlns:a16="http://schemas.microsoft.com/office/drawing/2014/main" id="{4A0F2A3C-3B36-45C7-B3E6-14035BE05640}"/>
              </a:ext>
            </a:extLst>
          </p:cNvPr>
          <p:cNvSpPr>
            <a:spLocks noGrp="1"/>
          </p:cNvSpPr>
          <p:nvPr/>
        </p:nvSpPr>
        <p:spPr>
          <a:xfrm>
            <a:off x="6248400" y="3657600"/>
            <a:ext cx="5238750" cy="952500"/>
          </a:xfrm>
          <a:prstGeom prst="rect">
            <a:avLst/>
          </a:prstGeom>
          <a:noFill/>
          <a:ln w="0">
            <a:noFill/>
            <a:prstDash val="solid"/>
          </a:ln>
        </p:spPr>
        <p:txBody>
          <a:bodyPr/>
          <a:lstStyle>
            <a:defPPr>
              <a:defRPr sz="2250" b="0">
                <a:solidFill>
                  <a:srgbClr val="F6F7FF"/>
                </a:solidFill>
                <a:latin typeface="DejaVu Sans"/>
                <a:ea typeface="DejaVu Sans"/>
                <a:cs typeface="DejaVu Sans"/>
              </a:defRPr>
            </a:defPPr>
            <a:lvl1pPr>
              <a:defRPr sz="2250" b="0">
                <a:solidFill>
                  <a:srgbClr val="F6F7FF"/>
                </a:solidFill>
                <a:latin typeface="DejaVu Sans"/>
                <a:ea typeface="DejaVu Sans"/>
                <a:cs typeface="DejaVu Sans"/>
              </a:defRPr>
            </a:lvl1pPr>
            <a:lvl2pPr>
              <a:defRPr sz="2250" b="0">
                <a:solidFill>
                  <a:srgbClr val="F6F7FF"/>
                </a:solidFill>
                <a:latin typeface="DejaVu Sans"/>
                <a:ea typeface="DejaVu Sans"/>
                <a:cs typeface="DejaVu Sans"/>
              </a:defRPr>
            </a:lvl2pPr>
            <a:lvl3pPr>
              <a:defRPr sz="2250" b="0">
                <a:solidFill>
                  <a:srgbClr val="F6F7FF"/>
                </a:solidFill>
                <a:latin typeface="DejaVu Sans"/>
                <a:ea typeface="DejaVu Sans"/>
                <a:cs typeface="DejaVu Sans"/>
              </a:defRPr>
            </a:lvl3pPr>
            <a:lvl4pPr>
              <a:defRPr sz="2250" b="0">
                <a:solidFill>
                  <a:srgbClr val="F6F7FF"/>
                </a:solidFill>
                <a:latin typeface="DejaVu Sans"/>
                <a:ea typeface="DejaVu Sans"/>
                <a:cs typeface="DejaVu Sans"/>
              </a:defRPr>
            </a:lvl4pPr>
            <a:lvl5pPr>
              <a:defRPr sz="2250" b="0">
                <a:solidFill>
                  <a:srgbClr val="F6F7FF"/>
                </a:solidFill>
                <a:latin typeface="DejaVu Sans"/>
                <a:ea typeface="DejaVu Sans"/>
                <a:cs typeface="DejaVu Sans"/>
              </a:defRPr>
            </a:lvl5pPr>
            <a:lvl6pPr>
              <a:defRPr sz="2250" b="0">
                <a:solidFill>
                  <a:srgbClr val="F6F7FF"/>
                </a:solidFill>
                <a:latin typeface="DejaVu Sans"/>
                <a:ea typeface="DejaVu Sans"/>
                <a:cs typeface="DejaVu Sans"/>
              </a:defRPr>
            </a:lvl6pPr>
            <a:lvl7pPr>
              <a:defRPr sz="2250" b="0">
                <a:solidFill>
                  <a:srgbClr val="F6F7FF"/>
                </a:solidFill>
                <a:latin typeface="DejaVu Sans"/>
                <a:ea typeface="DejaVu Sans"/>
                <a:cs typeface="DejaVu Sans"/>
              </a:defRPr>
            </a:lvl7pPr>
            <a:lvl8pPr>
              <a:defRPr sz="2250" b="0">
                <a:solidFill>
                  <a:srgbClr val="F6F7FF"/>
                </a:solidFill>
                <a:latin typeface="DejaVu Sans"/>
                <a:ea typeface="DejaVu Sans"/>
                <a:cs typeface="DejaVu Sans"/>
              </a:defRPr>
            </a:lvl8pPr>
            <a:lvl9pPr>
              <a:defRPr sz="2250" b="0">
                <a:solidFill>
                  <a:srgbClr val="F6F7FF"/>
                </a:solidFill>
                <a:latin typeface="DejaVu Sans"/>
                <a:ea typeface="DejaVu Sans"/>
                <a:cs typeface="DejaVu Sans"/>
              </a:defRPr>
            </a:lvl9pPr>
          </a:lstStyle>
          <a:p>
            <a:pPr>
              <a:defRPr sz="2250" b="0">
                <a:solidFill>
                  <a:srgbClr val="F6F7FF"/>
                </a:solidFill>
                <a:latin typeface="DejaVu Sans"/>
                <a:ea typeface="DejaVu Sans"/>
                <a:cs typeface="DejaVu Sans"/>
              </a:defRPr>
            </a:pPr>
            <a:r>
              <a:rPr lang="en-US" dirty="0"/>
              <a:t>How must the x- and x-axes rotate to become principal axes</a:t>
            </a:r>
            <a:r>
              <a:rPr sz="2250" b="0" dirty="0">
                <a:solidFill>
                  <a:srgbClr val="F6F7FF"/>
                </a:solidFill>
                <a:latin typeface="DejaVu Sans"/>
                <a:ea typeface="DejaVu Sans"/>
                <a:cs typeface="DejaVu Sans"/>
              </a:rPr>
              <a:t>?</a:t>
            </a:r>
          </a:p>
        </p:txBody>
      </p:sp>
      <p:sp>
        <p:nvSpPr>
          <p:cNvPr id="10" name="Rectangle 9">
            <a:extLst>
              <a:ext uri="{FF2B5EF4-FFF2-40B4-BE49-F238E27FC236}">
                <a16:creationId xmlns:a16="http://schemas.microsoft.com/office/drawing/2014/main" id="{BC08A686-EF25-4872-8ED1-BB55C99E5497}"/>
              </a:ext>
            </a:extLst>
          </p:cNvPr>
          <p:cNvSpPr>
            <a:spLocks noGrp="1"/>
          </p:cNvSpPr>
          <p:nvPr/>
        </p:nvSpPr>
        <p:spPr>
          <a:xfrm>
            <a:off x="6248400" y="5210175"/>
            <a:ext cx="5238750" cy="666750"/>
          </a:xfrm>
          <a:prstGeom prst="rect">
            <a:avLst/>
          </a:prstGeom>
          <a:noFill/>
          <a:ln w="0">
            <a:noFill/>
            <a:prstDash val="solid"/>
          </a:ln>
        </p:spPr>
        <p:txBody>
          <a:bodyPr/>
          <a:lstStyle>
            <a:defPPr>
              <a:defRPr sz="1875" b="0">
                <a:solidFill>
                  <a:srgbClr val="B6C3D8"/>
                </a:solidFill>
                <a:latin typeface="DejaVu Sans"/>
                <a:ea typeface="DejaVu Sans"/>
                <a:cs typeface="DejaVu Sans"/>
              </a:defRPr>
            </a:defPPr>
            <a:lvl1pPr>
              <a:defRPr sz="1875" b="0">
                <a:solidFill>
                  <a:srgbClr val="B6C3D8"/>
                </a:solidFill>
                <a:latin typeface="DejaVu Sans"/>
                <a:ea typeface="DejaVu Sans"/>
                <a:cs typeface="DejaVu Sans"/>
              </a:defRPr>
            </a:lvl1pPr>
            <a:lvl2pPr>
              <a:defRPr sz="1875" b="0">
                <a:solidFill>
                  <a:srgbClr val="B6C3D8"/>
                </a:solidFill>
                <a:latin typeface="DejaVu Sans"/>
                <a:ea typeface="DejaVu Sans"/>
                <a:cs typeface="DejaVu Sans"/>
              </a:defRPr>
            </a:lvl2pPr>
            <a:lvl3pPr>
              <a:defRPr sz="1875" b="0">
                <a:solidFill>
                  <a:srgbClr val="B6C3D8"/>
                </a:solidFill>
                <a:latin typeface="DejaVu Sans"/>
                <a:ea typeface="DejaVu Sans"/>
                <a:cs typeface="DejaVu Sans"/>
              </a:defRPr>
            </a:lvl3pPr>
            <a:lvl4pPr>
              <a:defRPr sz="1875" b="0">
                <a:solidFill>
                  <a:srgbClr val="B6C3D8"/>
                </a:solidFill>
                <a:latin typeface="DejaVu Sans"/>
                <a:ea typeface="DejaVu Sans"/>
                <a:cs typeface="DejaVu Sans"/>
              </a:defRPr>
            </a:lvl4pPr>
            <a:lvl5pPr>
              <a:defRPr sz="1875" b="0">
                <a:solidFill>
                  <a:srgbClr val="B6C3D8"/>
                </a:solidFill>
                <a:latin typeface="DejaVu Sans"/>
                <a:ea typeface="DejaVu Sans"/>
                <a:cs typeface="DejaVu Sans"/>
              </a:defRPr>
            </a:lvl5pPr>
            <a:lvl6pPr>
              <a:defRPr sz="1875" b="0">
                <a:solidFill>
                  <a:srgbClr val="B6C3D8"/>
                </a:solidFill>
                <a:latin typeface="DejaVu Sans"/>
                <a:ea typeface="DejaVu Sans"/>
                <a:cs typeface="DejaVu Sans"/>
              </a:defRPr>
            </a:lvl6pPr>
            <a:lvl7pPr>
              <a:defRPr sz="1875" b="0">
                <a:solidFill>
                  <a:srgbClr val="B6C3D8"/>
                </a:solidFill>
                <a:latin typeface="DejaVu Sans"/>
                <a:ea typeface="DejaVu Sans"/>
                <a:cs typeface="DejaVu Sans"/>
              </a:defRPr>
            </a:lvl7pPr>
            <a:lvl8pPr>
              <a:defRPr sz="1875" b="0">
                <a:solidFill>
                  <a:srgbClr val="B6C3D8"/>
                </a:solidFill>
                <a:latin typeface="DejaVu Sans"/>
                <a:ea typeface="DejaVu Sans"/>
                <a:cs typeface="DejaVu Sans"/>
              </a:defRPr>
            </a:lvl8pPr>
            <a:lvl9pPr>
              <a:defRPr sz="1875" b="0">
                <a:solidFill>
                  <a:srgbClr val="B6C3D8"/>
                </a:solidFill>
                <a:latin typeface="DejaVu Sans"/>
                <a:ea typeface="DejaVu Sans"/>
                <a:cs typeface="DejaVu Sans"/>
              </a:defRPr>
            </a:lvl9pPr>
          </a:lstStyle>
          <a:p>
            <a:pPr>
              <a:defRPr sz="1875" b="0">
                <a:solidFill>
                  <a:srgbClr val="B6C3D8"/>
                </a:solidFill>
                <a:latin typeface="DejaVu Sans"/>
                <a:ea typeface="DejaVu Sans"/>
                <a:cs typeface="DejaVu Sans"/>
              </a:defRPr>
            </a:pPr>
            <a:r>
              <a:rPr sz="1875" b="0">
                <a:solidFill>
                  <a:srgbClr val="B6C3D8"/>
                </a:solidFill>
                <a:latin typeface="DejaVu Sans"/>
                <a:ea typeface="DejaVu Sans"/>
                <a:cs typeface="DejaVu Sans"/>
              </a:rPr>
              <a:t>Predict the geometry before calculating.</a:t>
            </a:r>
          </a:p>
        </p:txBody>
      </p:sp>
    </p:spTree>
    <p:extLst>
      <p:ext uri="{BB962C8B-B14F-4D97-AF65-F5344CB8AC3E}">
        <p14:creationId xmlns:p14="http://schemas.microsoft.com/office/powerpoint/2010/main" val="1258523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0AD486F-7BB3-4528-8FA6-21FE89847255}"/>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0D2E842-A444-4D80-821B-53B850314B60}"/>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FA7EAF83-84F6-4680-B665-D037A0A6E1BC}"/>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DF2BDB22-BE78-4A91-AC75-2A59BC9825D0}"/>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moments come from the eigenvalues</a:t>
            </a:r>
          </a:p>
        </p:txBody>
      </p:sp>
      <p:sp>
        <p:nvSpPr>
          <p:cNvPr id="5" name="Rectangle 4">
            <a:extLst>
              <a:ext uri="{FF2B5EF4-FFF2-40B4-BE49-F238E27FC236}">
                <a16:creationId xmlns:a16="http://schemas.microsoft.com/office/drawing/2014/main" id="{A96648CD-9064-4201-AB9D-2ADE95EADB6E}"/>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951C5074-C77B-4D71-8999-828DDEC44A95}"/>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11</a:t>
            </a:r>
          </a:p>
        </p:txBody>
      </p:sp>
      <p:pic>
        <p:nvPicPr>
          <p:cNvPr id="7" name="Picture 6">
            <a:extLst>
              <a:ext uri="{FF2B5EF4-FFF2-40B4-BE49-F238E27FC236}">
                <a16:creationId xmlns:a16="http://schemas.microsoft.com/office/drawing/2014/main" id="{66C46C9A-BBE0-4C6E-BAB7-0199147BF594}"/>
              </a:ext>
            </a:extLst>
          </p:cNvPr>
          <p:cNvPicPr>
            <a:picLocks noChangeAspect="1"/>
          </p:cNvPicPr>
          <p:nvPr/>
        </p:nvPicPr>
        <p:blipFill>
          <a:blip r:embed="rId4"/>
          <a:stretch/>
        </p:blipFill>
        <p:spPr>
          <a:xfrm>
            <a:off x="3042147" y="1924050"/>
            <a:ext cx="5783855" cy="1000125"/>
          </a:xfrm>
          <a:prstGeom prst="rect">
            <a:avLst/>
          </a:prstGeom>
        </p:spPr>
      </p:pic>
      <p:pic>
        <p:nvPicPr>
          <p:cNvPr id="8" name="Picture 7">
            <a:extLst>
              <a:ext uri="{FF2B5EF4-FFF2-40B4-BE49-F238E27FC236}">
                <a16:creationId xmlns:a16="http://schemas.microsoft.com/office/drawing/2014/main" id="{041006BE-D897-4391-B961-D6BA16AEE9D0}"/>
              </a:ext>
            </a:extLst>
          </p:cNvPr>
          <p:cNvPicPr>
            <a:picLocks noChangeAspect="1"/>
          </p:cNvPicPr>
          <p:nvPr/>
        </p:nvPicPr>
        <p:blipFill>
          <a:blip r:embed="rId5"/>
          <a:stretch/>
        </p:blipFill>
        <p:spPr>
          <a:xfrm>
            <a:off x="1783948" y="3400425"/>
            <a:ext cx="8319304" cy="1095375"/>
          </a:xfrm>
          <a:prstGeom prst="rect">
            <a:avLst/>
          </a:prstGeom>
        </p:spPr>
      </p:pic>
      <p:sp>
        <p:nvSpPr>
          <p:cNvPr id="9" name="Rectangle 8">
            <a:extLst>
              <a:ext uri="{FF2B5EF4-FFF2-40B4-BE49-F238E27FC236}">
                <a16:creationId xmlns:a16="http://schemas.microsoft.com/office/drawing/2014/main" id="{ED78C90E-948E-4B89-BA34-B0E725C660BE}"/>
              </a:ext>
            </a:extLst>
          </p:cNvPr>
          <p:cNvSpPr>
            <a:spLocks noGrp="1"/>
          </p:cNvSpPr>
          <p:nvPr/>
        </p:nvSpPr>
        <p:spPr>
          <a:xfrm>
            <a:off x="657225" y="5238750"/>
            <a:ext cx="10477500" cy="714375"/>
          </a:xfrm>
          <a:prstGeom prst="rect">
            <a:avLst/>
          </a:prstGeom>
          <a:noFill/>
          <a:ln w="0">
            <a:noFill/>
            <a:prstDash val="solid"/>
          </a:ln>
        </p:spPr>
        <p:txBody>
          <a:bodyPr/>
          <a:lstStyle>
            <a:defPPr>
              <a:defRPr sz="2175" b="0">
                <a:solidFill>
                  <a:srgbClr val="55F3D2"/>
                </a:solidFill>
                <a:latin typeface="DejaVu Sans"/>
                <a:ea typeface="DejaVu Sans"/>
                <a:cs typeface="DejaVu Sans"/>
              </a:defRPr>
            </a:defPPr>
            <a:lvl1pPr>
              <a:defRPr sz="2175" b="0">
                <a:solidFill>
                  <a:srgbClr val="55F3D2"/>
                </a:solidFill>
                <a:latin typeface="DejaVu Sans"/>
                <a:ea typeface="DejaVu Sans"/>
                <a:cs typeface="DejaVu Sans"/>
              </a:defRPr>
            </a:lvl1pPr>
            <a:lvl2pPr>
              <a:defRPr sz="2175" b="0">
                <a:solidFill>
                  <a:srgbClr val="55F3D2"/>
                </a:solidFill>
                <a:latin typeface="DejaVu Sans"/>
                <a:ea typeface="DejaVu Sans"/>
                <a:cs typeface="DejaVu Sans"/>
              </a:defRPr>
            </a:lvl2pPr>
            <a:lvl3pPr>
              <a:defRPr sz="2175" b="0">
                <a:solidFill>
                  <a:srgbClr val="55F3D2"/>
                </a:solidFill>
                <a:latin typeface="DejaVu Sans"/>
                <a:ea typeface="DejaVu Sans"/>
                <a:cs typeface="DejaVu Sans"/>
              </a:defRPr>
            </a:lvl3pPr>
            <a:lvl4pPr>
              <a:defRPr sz="2175" b="0">
                <a:solidFill>
                  <a:srgbClr val="55F3D2"/>
                </a:solidFill>
                <a:latin typeface="DejaVu Sans"/>
                <a:ea typeface="DejaVu Sans"/>
                <a:cs typeface="DejaVu Sans"/>
              </a:defRPr>
            </a:lvl4pPr>
            <a:lvl5pPr>
              <a:defRPr sz="2175" b="0">
                <a:solidFill>
                  <a:srgbClr val="55F3D2"/>
                </a:solidFill>
                <a:latin typeface="DejaVu Sans"/>
                <a:ea typeface="DejaVu Sans"/>
                <a:cs typeface="DejaVu Sans"/>
              </a:defRPr>
            </a:lvl5pPr>
            <a:lvl6pPr>
              <a:defRPr sz="2175" b="0">
                <a:solidFill>
                  <a:srgbClr val="55F3D2"/>
                </a:solidFill>
                <a:latin typeface="DejaVu Sans"/>
                <a:ea typeface="DejaVu Sans"/>
                <a:cs typeface="DejaVu Sans"/>
              </a:defRPr>
            </a:lvl6pPr>
            <a:lvl7pPr>
              <a:defRPr sz="2175" b="0">
                <a:solidFill>
                  <a:srgbClr val="55F3D2"/>
                </a:solidFill>
                <a:latin typeface="DejaVu Sans"/>
                <a:ea typeface="DejaVu Sans"/>
                <a:cs typeface="DejaVu Sans"/>
              </a:defRPr>
            </a:lvl7pPr>
            <a:lvl8pPr>
              <a:defRPr sz="2175" b="0">
                <a:solidFill>
                  <a:srgbClr val="55F3D2"/>
                </a:solidFill>
                <a:latin typeface="DejaVu Sans"/>
                <a:ea typeface="DejaVu Sans"/>
                <a:cs typeface="DejaVu Sans"/>
              </a:defRPr>
            </a:lvl8pPr>
            <a:lvl9pPr>
              <a:defRPr sz="2175" b="0">
                <a:solidFill>
                  <a:srgbClr val="55F3D2"/>
                </a:solidFill>
                <a:latin typeface="DejaVu Sans"/>
                <a:ea typeface="DejaVu Sans"/>
                <a:cs typeface="DejaVu Sans"/>
              </a:defRPr>
            </a:lvl9pPr>
          </a:lstStyle>
          <a:p>
            <a:pPr>
              <a:defRPr sz="2175" b="0">
                <a:solidFill>
                  <a:srgbClr val="55F3D2"/>
                </a:solidFill>
                <a:latin typeface="DejaVu Sans"/>
                <a:ea typeface="DejaVu Sans"/>
                <a:cs typeface="DejaVu Sans"/>
              </a:defRPr>
            </a:pPr>
            <a:r>
              <a:rPr sz="2175" b="0">
                <a:solidFill>
                  <a:srgbClr val="55F3D2"/>
                </a:solidFill>
                <a:latin typeface="DejaVu Sans"/>
                <a:ea typeface="DejaVu Sans"/>
                <a:cs typeface="DejaVu Sans"/>
              </a:rPr>
              <a:t>All moments in kg m². The z direction has I₁ = 2.</a:t>
            </a:r>
          </a:p>
        </p:txBody>
      </p:sp>
    </p:spTree>
    <p:extLst>
      <p:ext uri="{BB962C8B-B14F-4D97-AF65-F5344CB8AC3E}">
        <p14:creationId xmlns:p14="http://schemas.microsoft.com/office/powerpoint/2010/main" val="108350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E757790-5994-4201-81EF-28FA6388BFDB}"/>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B7533D5-321D-4FAE-A549-1C3D07114633}"/>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5822B3A9-BAAD-4898-809C-66F7C8931287}"/>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C86175E3-98C4-453D-B787-32E087AC221E}"/>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other axes rotate within the xy plane</a:t>
            </a:r>
          </a:p>
        </p:txBody>
      </p:sp>
      <p:sp>
        <p:nvSpPr>
          <p:cNvPr id="5" name="Rectangle 4">
            <a:extLst>
              <a:ext uri="{FF2B5EF4-FFF2-40B4-BE49-F238E27FC236}">
                <a16:creationId xmlns:a16="http://schemas.microsoft.com/office/drawing/2014/main" id="{E5B4852F-4D0C-4F9A-A7FF-C57E0BDD79F8}"/>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3A009EEF-13A8-4A4D-959B-CFD92FBAB4BB}"/>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12</a:t>
            </a:r>
          </a:p>
        </p:txBody>
      </p:sp>
      <p:pic>
        <p:nvPicPr>
          <p:cNvPr id="7" name="Picture 6">
            <a:extLst>
              <a:ext uri="{FF2B5EF4-FFF2-40B4-BE49-F238E27FC236}">
                <a16:creationId xmlns:a16="http://schemas.microsoft.com/office/drawing/2014/main" id="{3BC0A99B-CAF8-438C-8072-A531F984412F}"/>
              </a:ext>
            </a:extLst>
          </p:cNvPr>
          <p:cNvPicPr>
            <a:picLocks noChangeAspect="1"/>
          </p:cNvPicPr>
          <p:nvPr/>
        </p:nvPicPr>
        <p:blipFill>
          <a:blip r:embed="rId4"/>
          <a:stretch/>
        </p:blipFill>
        <p:spPr>
          <a:xfrm>
            <a:off x="523875" y="2300486"/>
            <a:ext cx="6667500" cy="1380728"/>
          </a:xfrm>
          <a:prstGeom prst="rect">
            <a:avLst/>
          </a:prstGeom>
        </p:spPr>
      </p:pic>
      <p:sp>
        <p:nvSpPr>
          <p:cNvPr id="8" name="Rectangle 7">
            <a:extLst>
              <a:ext uri="{FF2B5EF4-FFF2-40B4-BE49-F238E27FC236}">
                <a16:creationId xmlns:a16="http://schemas.microsoft.com/office/drawing/2014/main" id="{C5823773-D86B-4536-813D-1A75707278EA}"/>
              </a:ext>
            </a:extLst>
          </p:cNvPr>
          <p:cNvSpPr>
            <a:spLocks noGrp="1"/>
          </p:cNvSpPr>
          <p:nvPr/>
        </p:nvSpPr>
        <p:spPr>
          <a:xfrm>
            <a:off x="657225" y="4438650"/>
            <a:ext cx="5905500" cy="523875"/>
          </a:xfrm>
          <a:prstGeom prst="rect">
            <a:avLst/>
          </a:prstGeom>
          <a:noFill/>
          <a:ln w="0">
            <a:noFill/>
            <a:prstDash val="solid"/>
          </a:ln>
        </p:spPr>
        <p:txBody>
          <a:bodyPr/>
          <a:lstStyle>
            <a:defPPr>
              <a:defRPr sz="2250" b="0">
                <a:solidFill>
                  <a:srgbClr val="55F3D2"/>
                </a:solidFill>
                <a:latin typeface="DejaVu Sans"/>
                <a:ea typeface="DejaVu Sans"/>
                <a:cs typeface="DejaVu Sans"/>
              </a:defRPr>
            </a:defPPr>
            <a:lvl1pPr>
              <a:defRPr sz="2250" b="0">
                <a:solidFill>
                  <a:srgbClr val="55F3D2"/>
                </a:solidFill>
                <a:latin typeface="DejaVu Sans"/>
                <a:ea typeface="DejaVu Sans"/>
                <a:cs typeface="DejaVu Sans"/>
              </a:defRPr>
            </a:lvl1pPr>
            <a:lvl2pPr>
              <a:defRPr sz="2250" b="0">
                <a:solidFill>
                  <a:srgbClr val="55F3D2"/>
                </a:solidFill>
                <a:latin typeface="DejaVu Sans"/>
                <a:ea typeface="DejaVu Sans"/>
                <a:cs typeface="DejaVu Sans"/>
              </a:defRPr>
            </a:lvl2pPr>
            <a:lvl3pPr>
              <a:defRPr sz="2250" b="0">
                <a:solidFill>
                  <a:srgbClr val="55F3D2"/>
                </a:solidFill>
                <a:latin typeface="DejaVu Sans"/>
                <a:ea typeface="DejaVu Sans"/>
                <a:cs typeface="DejaVu Sans"/>
              </a:defRPr>
            </a:lvl3pPr>
            <a:lvl4pPr>
              <a:defRPr sz="2250" b="0">
                <a:solidFill>
                  <a:srgbClr val="55F3D2"/>
                </a:solidFill>
                <a:latin typeface="DejaVu Sans"/>
                <a:ea typeface="DejaVu Sans"/>
                <a:cs typeface="DejaVu Sans"/>
              </a:defRPr>
            </a:lvl4pPr>
            <a:lvl5pPr>
              <a:defRPr sz="2250" b="0">
                <a:solidFill>
                  <a:srgbClr val="55F3D2"/>
                </a:solidFill>
                <a:latin typeface="DejaVu Sans"/>
                <a:ea typeface="DejaVu Sans"/>
                <a:cs typeface="DejaVu Sans"/>
              </a:defRPr>
            </a:lvl5pPr>
            <a:lvl6pPr>
              <a:defRPr sz="2250" b="0">
                <a:solidFill>
                  <a:srgbClr val="55F3D2"/>
                </a:solidFill>
                <a:latin typeface="DejaVu Sans"/>
                <a:ea typeface="DejaVu Sans"/>
                <a:cs typeface="DejaVu Sans"/>
              </a:defRPr>
            </a:lvl6pPr>
            <a:lvl7pPr>
              <a:defRPr sz="2250" b="0">
                <a:solidFill>
                  <a:srgbClr val="55F3D2"/>
                </a:solidFill>
                <a:latin typeface="DejaVu Sans"/>
                <a:ea typeface="DejaVu Sans"/>
                <a:cs typeface="DejaVu Sans"/>
              </a:defRPr>
            </a:lvl7pPr>
            <a:lvl8pPr>
              <a:defRPr sz="2250" b="0">
                <a:solidFill>
                  <a:srgbClr val="55F3D2"/>
                </a:solidFill>
                <a:latin typeface="DejaVu Sans"/>
                <a:ea typeface="DejaVu Sans"/>
                <a:cs typeface="DejaVu Sans"/>
              </a:defRPr>
            </a:lvl8pPr>
            <a:lvl9pPr>
              <a:defRPr sz="2250" b="0">
                <a:solidFill>
                  <a:srgbClr val="55F3D2"/>
                </a:solidFill>
                <a:latin typeface="DejaVu Sans"/>
                <a:ea typeface="DejaVu Sans"/>
                <a:cs typeface="DejaVu Sans"/>
              </a:defRPr>
            </a:lvl9pPr>
          </a:lstStyle>
          <a:p>
            <a:pPr>
              <a:defRPr sz="2250" b="0">
                <a:solidFill>
                  <a:srgbClr val="55F3D2"/>
                </a:solidFill>
                <a:latin typeface="DejaVu Sans"/>
                <a:ea typeface="DejaVu Sans"/>
                <a:cs typeface="DejaVu Sans"/>
              </a:defRPr>
            </a:pPr>
            <a:r>
              <a:rPr sz="2250" b="0">
                <a:solidFill>
                  <a:srgbClr val="55F3D2"/>
                </a:solidFill>
                <a:latin typeface="DejaVu Sans"/>
                <a:ea typeface="DejaVu Sans"/>
                <a:cs typeface="DejaVu Sans"/>
              </a:rPr>
              <a:t>e₁ lies along z.</a:t>
            </a:r>
          </a:p>
        </p:txBody>
      </p:sp>
      <p:sp>
        <p:nvSpPr>
          <p:cNvPr id="9" name="Rectangle 8">
            <a:extLst>
              <a:ext uri="{FF2B5EF4-FFF2-40B4-BE49-F238E27FC236}">
                <a16:creationId xmlns:a16="http://schemas.microsoft.com/office/drawing/2014/main" id="{A9BFFC91-716D-4CE5-8CA2-850D70A80295}"/>
              </a:ext>
            </a:extLst>
          </p:cNvPr>
          <p:cNvSpPr>
            <a:spLocks noGrp="1"/>
          </p:cNvSpPr>
          <p:nvPr/>
        </p:nvSpPr>
        <p:spPr>
          <a:xfrm>
            <a:off x="657225" y="5210175"/>
            <a:ext cx="6000750" cy="762000"/>
          </a:xfrm>
          <a:prstGeom prst="rect">
            <a:avLst/>
          </a:prstGeom>
          <a:noFill/>
          <a:ln w="0">
            <a:noFill/>
            <a:prstDash val="solid"/>
          </a:ln>
        </p:spPr>
        <p:txBody>
          <a:bodyPr/>
          <a:lstStyle>
            <a:defPPr>
              <a:defRPr sz="2025" b="0">
                <a:solidFill>
                  <a:srgbClr val="B6C3D8"/>
                </a:solidFill>
                <a:latin typeface="DejaVu Sans"/>
                <a:ea typeface="DejaVu Sans"/>
                <a:cs typeface="DejaVu Sans"/>
              </a:defRPr>
            </a:defPPr>
            <a:lvl1pPr>
              <a:defRPr sz="2025" b="0">
                <a:solidFill>
                  <a:srgbClr val="B6C3D8"/>
                </a:solidFill>
                <a:latin typeface="DejaVu Sans"/>
                <a:ea typeface="DejaVu Sans"/>
                <a:cs typeface="DejaVu Sans"/>
              </a:defRPr>
            </a:lvl1pPr>
            <a:lvl2pPr>
              <a:defRPr sz="2025" b="0">
                <a:solidFill>
                  <a:srgbClr val="B6C3D8"/>
                </a:solidFill>
                <a:latin typeface="DejaVu Sans"/>
                <a:ea typeface="DejaVu Sans"/>
                <a:cs typeface="DejaVu Sans"/>
              </a:defRPr>
            </a:lvl2pPr>
            <a:lvl3pPr>
              <a:defRPr sz="2025" b="0">
                <a:solidFill>
                  <a:srgbClr val="B6C3D8"/>
                </a:solidFill>
                <a:latin typeface="DejaVu Sans"/>
                <a:ea typeface="DejaVu Sans"/>
                <a:cs typeface="DejaVu Sans"/>
              </a:defRPr>
            </a:lvl3pPr>
            <a:lvl4pPr>
              <a:defRPr sz="2025" b="0">
                <a:solidFill>
                  <a:srgbClr val="B6C3D8"/>
                </a:solidFill>
                <a:latin typeface="DejaVu Sans"/>
                <a:ea typeface="DejaVu Sans"/>
                <a:cs typeface="DejaVu Sans"/>
              </a:defRPr>
            </a:lvl4pPr>
            <a:lvl5pPr>
              <a:defRPr sz="2025" b="0">
                <a:solidFill>
                  <a:srgbClr val="B6C3D8"/>
                </a:solidFill>
                <a:latin typeface="DejaVu Sans"/>
                <a:ea typeface="DejaVu Sans"/>
                <a:cs typeface="DejaVu Sans"/>
              </a:defRPr>
            </a:lvl5pPr>
            <a:lvl6pPr>
              <a:defRPr sz="2025" b="0">
                <a:solidFill>
                  <a:srgbClr val="B6C3D8"/>
                </a:solidFill>
                <a:latin typeface="DejaVu Sans"/>
                <a:ea typeface="DejaVu Sans"/>
                <a:cs typeface="DejaVu Sans"/>
              </a:defRPr>
            </a:lvl6pPr>
            <a:lvl7pPr>
              <a:defRPr sz="2025" b="0">
                <a:solidFill>
                  <a:srgbClr val="B6C3D8"/>
                </a:solidFill>
                <a:latin typeface="DejaVu Sans"/>
                <a:ea typeface="DejaVu Sans"/>
                <a:cs typeface="DejaVu Sans"/>
              </a:defRPr>
            </a:lvl7pPr>
            <a:lvl8pPr>
              <a:defRPr sz="2025" b="0">
                <a:solidFill>
                  <a:srgbClr val="B6C3D8"/>
                </a:solidFill>
                <a:latin typeface="DejaVu Sans"/>
                <a:ea typeface="DejaVu Sans"/>
                <a:cs typeface="DejaVu Sans"/>
              </a:defRPr>
            </a:lvl8pPr>
            <a:lvl9pPr>
              <a:defRPr sz="2025" b="0">
                <a:solidFill>
                  <a:srgbClr val="B6C3D8"/>
                </a:solidFill>
                <a:latin typeface="DejaVu Sans"/>
                <a:ea typeface="DejaVu Sans"/>
                <a:cs typeface="DejaVu Sans"/>
              </a:defRPr>
            </a:lvl9pPr>
          </a:lstStyle>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e₂ and e₃ form a perpendicular pair</a:t>
            </a:r>
          </a:p>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in the xy plane.</a:t>
            </a:r>
          </a:p>
        </p:txBody>
      </p:sp>
      <p:pic>
        <p:nvPicPr>
          <p:cNvPr id="10" name="Picture 9">
            <a:extLst>
              <a:ext uri="{FF2B5EF4-FFF2-40B4-BE49-F238E27FC236}">
                <a16:creationId xmlns:a16="http://schemas.microsoft.com/office/drawing/2014/main" id="{8CD0A1C4-6C02-439B-96F6-55CA2E0DC14A}"/>
              </a:ext>
            </a:extLst>
          </p:cNvPr>
          <p:cNvPicPr>
            <a:picLocks noChangeAspect="1"/>
          </p:cNvPicPr>
          <p:nvPr/>
        </p:nvPicPr>
        <p:blipFill>
          <a:blip r:embed="rId5"/>
          <a:stretch/>
        </p:blipFill>
        <p:spPr>
          <a:xfrm>
            <a:off x="7461366" y="2038350"/>
            <a:ext cx="3984393" cy="3667125"/>
          </a:xfrm>
          <a:prstGeom prst="rect">
            <a:avLst/>
          </a:prstGeom>
        </p:spPr>
      </p:pic>
    </p:spTree>
    <p:extLst>
      <p:ext uri="{BB962C8B-B14F-4D97-AF65-F5344CB8AC3E}">
        <p14:creationId xmlns:p14="http://schemas.microsoft.com/office/powerpoint/2010/main" val="326613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6A6EFC-FA08-44E5-A695-F68791BD4634}"/>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136EC3D-6551-4E3D-A7A4-771852D8BC39}"/>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6327540C-F8E6-4AC0-9F46-53D97671619C}"/>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8F09F729-D1BF-48CA-A0AD-B2779905860C}"/>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A new basis reveals the principal moments</a:t>
            </a:r>
          </a:p>
        </p:txBody>
      </p:sp>
      <p:sp>
        <p:nvSpPr>
          <p:cNvPr id="5" name="Rectangle 4">
            <a:extLst>
              <a:ext uri="{FF2B5EF4-FFF2-40B4-BE49-F238E27FC236}">
                <a16:creationId xmlns:a16="http://schemas.microsoft.com/office/drawing/2014/main" id="{558C6CB5-0F4E-4FCD-BEE6-9B5D8A25E165}"/>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BC03B6D9-4A2D-4916-B517-995247C9067C}"/>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13</a:t>
            </a:r>
          </a:p>
        </p:txBody>
      </p:sp>
      <p:pic>
        <p:nvPicPr>
          <p:cNvPr id="7" name="Picture 6">
            <a:extLst>
              <a:ext uri="{FF2B5EF4-FFF2-40B4-BE49-F238E27FC236}">
                <a16:creationId xmlns:a16="http://schemas.microsoft.com/office/drawing/2014/main" id="{EFBEF2A5-1816-43CD-9425-0A6F01172C00}"/>
              </a:ext>
            </a:extLst>
          </p:cNvPr>
          <p:cNvPicPr>
            <a:picLocks noChangeAspect="1"/>
          </p:cNvPicPr>
          <p:nvPr/>
        </p:nvPicPr>
        <p:blipFill>
          <a:blip r:embed="rId4"/>
          <a:stretch/>
        </p:blipFill>
        <p:spPr>
          <a:xfrm>
            <a:off x="619125" y="2490788"/>
            <a:ext cx="5715000" cy="1771650"/>
          </a:xfrm>
          <a:prstGeom prst="rect">
            <a:avLst/>
          </a:prstGeom>
        </p:spPr>
      </p:pic>
      <p:sp>
        <p:nvSpPr>
          <p:cNvPr id="8" name="Rectangle 7">
            <a:extLst>
              <a:ext uri="{FF2B5EF4-FFF2-40B4-BE49-F238E27FC236}">
                <a16:creationId xmlns:a16="http://schemas.microsoft.com/office/drawing/2014/main" id="{3C3EB2A6-FCDE-4ACF-9218-E4652D445738}"/>
              </a:ext>
            </a:extLst>
          </p:cNvPr>
          <p:cNvSpPr>
            <a:spLocks noGrp="1"/>
          </p:cNvSpPr>
          <p:nvPr/>
        </p:nvSpPr>
        <p:spPr>
          <a:xfrm>
            <a:off x="7048500" y="2352675"/>
            <a:ext cx="4476750" cy="571500"/>
          </a:xfrm>
          <a:prstGeom prst="rect">
            <a:avLst/>
          </a:prstGeom>
          <a:noFill/>
          <a:ln w="0">
            <a:noFill/>
            <a:prstDash val="solid"/>
          </a:ln>
        </p:spPr>
        <p:txBody>
          <a:bodyPr/>
          <a:lstStyle>
            <a:defPPr>
              <a:defRPr sz="2550" b="1">
                <a:solidFill>
                  <a:srgbClr val="55F3D2"/>
                </a:solidFill>
                <a:latin typeface="DejaVu Sans"/>
                <a:ea typeface="DejaVu Sans"/>
                <a:cs typeface="DejaVu Sans"/>
              </a:defRPr>
            </a:defPPr>
            <a:lvl1pPr>
              <a:defRPr sz="2550" b="1">
                <a:solidFill>
                  <a:srgbClr val="55F3D2"/>
                </a:solidFill>
                <a:latin typeface="DejaVu Sans"/>
                <a:ea typeface="DejaVu Sans"/>
                <a:cs typeface="DejaVu Sans"/>
              </a:defRPr>
            </a:lvl1pPr>
            <a:lvl2pPr>
              <a:defRPr sz="2550" b="1">
                <a:solidFill>
                  <a:srgbClr val="55F3D2"/>
                </a:solidFill>
                <a:latin typeface="DejaVu Sans"/>
                <a:ea typeface="DejaVu Sans"/>
                <a:cs typeface="DejaVu Sans"/>
              </a:defRPr>
            </a:lvl2pPr>
            <a:lvl3pPr>
              <a:defRPr sz="2550" b="1">
                <a:solidFill>
                  <a:srgbClr val="55F3D2"/>
                </a:solidFill>
                <a:latin typeface="DejaVu Sans"/>
                <a:ea typeface="DejaVu Sans"/>
                <a:cs typeface="DejaVu Sans"/>
              </a:defRPr>
            </a:lvl3pPr>
            <a:lvl4pPr>
              <a:defRPr sz="2550" b="1">
                <a:solidFill>
                  <a:srgbClr val="55F3D2"/>
                </a:solidFill>
                <a:latin typeface="DejaVu Sans"/>
                <a:ea typeface="DejaVu Sans"/>
                <a:cs typeface="DejaVu Sans"/>
              </a:defRPr>
            </a:lvl4pPr>
            <a:lvl5pPr>
              <a:defRPr sz="2550" b="1">
                <a:solidFill>
                  <a:srgbClr val="55F3D2"/>
                </a:solidFill>
                <a:latin typeface="DejaVu Sans"/>
                <a:ea typeface="DejaVu Sans"/>
                <a:cs typeface="DejaVu Sans"/>
              </a:defRPr>
            </a:lvl5pPr>
            <a:lvl6pPr>
              <a:defRPr sz="2550" b="1">
                <a:solidFill>
                  <a:srgbClr val="55F3D2"/>
                </a:solidFill>
                <a:latin typeface="DejaVu Sans"/>
                <a:ea typeface="DejaVu Sans"/>
                <a:cs typeface="DejaVu Sans"/>
              </a:defRPr>
            </a:lvl6pPr>
            <a:lvl7pPr>
              <a:defRPr sz="2550" b="1">
                <a:solidFill>
                  <a:srgbClr val="55F3D2"/>
                </a:solidFill>
                <a:latin typeface="DejaVu Sans"/>
                <a:ea typeface="DejaVu Sans"/>
                <a:cs typeface="DejaVu Sans"/>
              </a:defRPr>
            </a:lvl7pPr>
            <a:lvl8pPr>
              <a:defRPr sz="2550" b="1">
                <a:solidFill>
                  <a:srgbClr val="55F3D2"/>
                </a:solidFill>
                <a:latin typeface="DejaVu Sans"/>
                <a:ea typeface="DejaVu Sans"/>
                <a:cs typeface="DejaVu Sans"/>
              </a:defRPr>
            </a:lvl8pPr>
            <a:lvl9pPr>
              <a:defRPr sz="2550" b="1">
                <a:solidFill>
                  <a:srgbClr val="55F3D2"/>
                </a:solidFill>
                <a:latin typeface="DejaVu Sans"/>
                <a:ea typeface="DejaVu Sans"/>
                <a:cs typeface="DejaVu Sans"/>
              </a:defRPr>
            </a:lvl9pPr>
          </a:lstStyle>
          <a:p>
            <a:pPr>
              <a:defRPr sz="2550" b="1">
                <a:solidFill>
                  <a:srgbClr val="55F3D2"/>
                </a:solidFill>
                <a:latin typeface="DejaVu Sans"/>
                <a:ea typeface="DejaVu Sans"/>
                <a:cs typeface="DejaVu Sans"/>
              </a:defRPr>
            </a:pPr>
            <a:r>
              <a:rPr sz="2550" b="1">
                <a:solidFill>
                  <a:srgbClr val="55F3D2"/>
                </a:solidFill>
                <a:latin typeface="DejaVu Sans"/>
                <a:ea typeface="DejaVu Sans"/>
                <a:cs typeface="DejaVu Sans"/>
              </a:rPr>
              <a:t>No cross terms</a:t>
            </a:r>
          </a:p>
        </p:txBody>
      </p:sp>
      <p:sp>
        <p:nvSpPr>
          <p:cNvPr id="9" name="Rectangle 8">
            <a:extLst>
              <a:ext uri="{FF2B5EF4-FFF2-40B4-BE49-F238E27FC236}">
                <a16:creationId xmlns:a16="http://schemas.microsoft.com/office/drawing/2014/main" id="{838EDD89-5452-464C-B2AF-B7790E38448C}"/>
              </a:ext>
            </a:extLst>
          </p:cNvPr>
          <p:cNvSpPr>
            <a:spLocks noGrp="1"/>
          </p:cNvSpPr>
          <p:nvPr/>
        </p:nvSpPr>
        <p:spPr>
          <a:xfrm>
            <a:off x="7048500" y="3371850"/>
            <a:ext cx="4476750" cy="714375"/>
          </a:xfrm>
          <a:prstGeom prst="rect">
            <a:avLst/>
          </a:prstGeom>
          <a:noFill/>
          <a:ln w="0">
            <a:noFill/>
            <a:prstDash val="solid"/>
          </a:ln>
        </p:spPr>
        <p:txBody>
          <a:bodyPr/>
          <a:lstStyle>
            <a:defPPr>
              <a:defRPr sz="3225" b="0">
                <a:solidFill>
                  <a:srgbClr val="F6F7FF"/>
                </a:solidFill>
                <a:latin typeface="DejaVu Sans"/>
                <a:ea typeface="DejaVu Sans"/>
                <a:cs typeface="DejaVu Sans"/>
              </a:defRPr>
            </a:defPPr>
            <a:lvl1pPr>
              <a:defRPr sz="3225" b="0">
                <a:solidFill>
                  <a:srgbClr val="F6F7FF"/>
                </a:solidFill>
                <a:latin typeface="DejaVu Sans"/>
                <a:ea typeface="DejaVu Sans"/>
                <a:cs typeface="DejaVu Sans"/>
              </a:defRPr>
            </a:lvl1pPr>
            <a:lvl2pPr>
              <a:defRPr sz="3225" b="0">
                <a:solidFill>
                  <a:srgbClr val="F6F7FF"/>
                </a:solidFill>
                <a:latin typeface="DejaVu Sans"/>
                <a:ea typeface="DejaVu Sans"/>
                <a:cs typeface="DejaVu Sans"/>
              </a:defRPr>
            </a:lvl2pPr>
            <a:lvl3pPr>
              <a:defRPr sz="3225" b="0">
                <a:solidFill>
                  <a:srgbClr val="F6F7FF"/>
                </a:solidFill>
                <a:latin typeface="DejaVu Sans"/>
                <a:ea typeface="DejaVu Sans"/>
                <a:cs typeface="DejaVu Sans"/>
              </a:defRPr>
            </a:lvl3pPr>
            <a:lvl4pPr>
              <a:defRPr sz="3225" b="0">
                <a:solidFill>
                  <a:srgbClr val="F6F7FF"/>
                </a:solidFill>
                <a:latin typeface="DejaVu Sans"/>
                <a:ea typeface="DejaVu Sans"/>
                <a:cs typeface="DejaVu Sans"/>
              </a:defRPr>
            </a:lvl4pPr>
            <a:lvl5pPr>
              <a:defRPr sz="3225" b="0">
                <a:solidFill>
                  <a:srgbClr val="F6F7FF"/>
                </a:solidFill>
                <a:latin typeface="DejaVu Sans"/>
                <a:ea typeface="DejaVu Sans"/>
                <a:cs typeface="DejaVu Sans"/>
              </a:defRPr>
            </a:lvl5pPr>
            <a:lvl6pPr>
              <a:defRPr sz="3225" b="0">
                <a:solidFill>
                  <a:srgbClr val="F6F7FF"/>
                </a:solidFill>
                <a:latin typeface="DejaVu Sans"/>
                <a:ea typeface="DejaVu Sans"/>
                <a:cs typeface="DejaVu Sans"/>
              </a:defRPr>
            </a:lvl6pPr>
            <a:lvl7pPr>
              <a:defRPr sz="3225" b="0">
                <a:solidFill>
                  <a:srgbClr val="F6F7FF"/>
                </a:solidFill>
                <a:latin typeface="DejaVu Sans"/>
                <a:ea typeface="DejaVu Sans"/>
                <a:cs typeface="DejaVu Sans"/>
              </a:defRPr>
            </a:lvl7pPr>
            <a:lvl8pPr>
              <a:defRPr sz="3225" b="0">
                <a:solidFill>
                  <a:srgbClr val="F6F7FF"/>
                </a:solidFill>
                <a:latin typeface="DejaVu Sans"/>
                <a:ea typeface="DejaVu Sans"/>
                <a:cs typeface="DejaVu Sans"/>
              </a:defRPr>
            </a:lvl8pPr>
            <a:lvl9pPr>
              <a:defRPr sz="3225" b="0">
                <a:solidFill>
                  <a:srgbClr val="F6F7FF"/>
                </a:solidFill>
                <a:latin typeface="DejaVu Sans"/>
                <a:ea typeface="DejaVu Sans"/>
                <a:cs typeface="DejaVu Sans"/>
              </a:defRPr>
            </a:lvl9pPr>
          </a:lstStyle>
          <a:p>
            <a:pPr>
              <a:defRPr sz="3225" b="0">
                <a:solidFill>
                  <a:srgbClr val="F6F7FF"/>
                </a:solidFill>
                <a:latin typeface="DejaVu Sans"/>
                <a:ea typeface="DejaVu Sans"/>
                <a:cs typeface="DejaVu Sans"/>
              </a:defRPr>
            </a:pPr>
            <a:r>
              <a:rPr sz="3225" b="0">
                <a:solidFill>
                  <a:srgbClr val="F6F7FF"/>
                </a:solidFill>
                <a:latin typeface="DejaVu Sans"/>
                <a:ea typeface="DejaVu Sans"/>
                <a:cs typeface="DejaVu Sans"/>
              </a:rPr>
              <a:t>Lₖ = Iₖωₖ</a:t>
            </a:r>
          </a:p>
        </p:txBody>
      </p:sp>
      <p:sp>
        <p:nvSpPr>
          <p:cNvPr id="10" name="Rectangle 9">
            <a:extLst>
              <a:ext uri="{FF2B5EF4-FFF2-40B4-BE49-F238E27FC236}">
                <a16:creationId xmlns:a16="http://schemas.microsoft.com/office/drawing/2014/main" id="{6E53E106-16AD-4CD3-8FA0-9C753F97F2D3}"/>
              </a:ext>
            </a:extLst>
          </p:cNvPr>
          <p:cNvSpPr>
            <a:spLocks noGrp="1"/>
          </p:cNvSpPr>
          <p:nvPr/>
        </p:nvSpPr>
        <p:spPr>
          <a:xfrm>
            <a:off x="7048500" y="4676775"/>
            <a:ext cx="4476750" cy="1047750"/>
          </a:xfrm>
          <a:prstGeom prst="rect">
            <a:avLst/>
          </a:prstGeom>
          <a:noFill/>
          <a:ln w="0">
            <a:noFill/>
            <a:prstDash val="solid"/>
          </a:ln>
        </p:spPr>
        <p:txBody>
          <a:bodyPr/>
          <a:lstStyle>
            <a:defPPr>
              <a:defRPr sz="2025" b="0">
                <a:solidFill>
                  <a:srgbClr val="B6C3D8"/>
                </a:solidFill>
                <a:latin typeface="DejaVu Sans"/>
                <a:ea typeface="DejaVu Sans"/>
                <a:cs typeface="DejaVu Sans"/>
              </a:defRPr>
            </a:defPPr>
            <a:lvl1pPr>
              <a:defRPr sz="2025" b="0">
                <a:solidFill>
                  <a:srgbClr val="B6C3D8"/>
                </a:solidFill>
                <a:latin typeface="DejaVu Sans"/>
                <a:ea typeface="DejaVu Sans"/>
                <a:cs typeface="DejaVu Sans"/>
              </a:defRPr>
            </a:lvl1pPr>
            <a:lvl2pPr>
              <a:defRPr sz="2025" b="0">
                <a:solidFill>
                  <a:srgbClr val="B6C3D8"/>
                </a:solidFill>
                <a:latin typeface="DejaVu Sans"/>
                <a:ea typeface="DejaVu Sans"/>
                <a:cs typeface="DejaVu Sans"/>
              </a:defRPr>
            </a:lvl2pPr>
            <a:lvl3pPr>
              <a:defRPr sz="2025" b="0">
                <a:solidFill>
                  <a:srgbClr val="B6C3D8"/>
                </a:solidFill>
                <a:latin typeface="DejaVu Sans"/>
                <a:ea typeface="DejaVu Sans"/>
                <a:cs typeface="DejaVu Sans"/>
              </a:defRPr>
            </a:lvl3pPr>
            <a:lvl4pPr>
              <a:defRPr sz="2025" b="0">
                <a:solidFill>
                  <a:srgbClr val="B6C3D8"/>
                </a:solidFill>
                <a:latin typeface="DejaVu Sans"/>
                <a:ea typeface="DejaVu Sans"/>
                <a:cs typeface="DejaVu Sans"/>
              </a:defRPr>
            </a:lvl4pPr>
            <a:lvl5pPr>
              <a:defRPr sz="2025" b="0">
                <a:solidFill>
                  <a:srgbClr val="B6C3D8"/>
                </a:solidFill>
                <a:latin typeface="DejaVu Sans"/>
                <a:ea typeface="DejaVu Sans"/>
                <a:cs typeface="DejaVu Sans"/>
              </a:defRPr>
            </a:lvl5pPr>
            <a:lvl6pPr>
              <a:defRPr sz="2025" b="0">
                <a:solidFill>
                  <a:srgbClr val="B6C3D8"/>
                </a:solidFill>
                <a:latin typeface="DejaVu Sans"/>
                <a:ea typeface="DejaVu Sans"/>
                <a:cs typeface="DejaVu Sans"/>
              </a:defRPr>
            </a:lvl6pPr>
            <a:lvl7pPr>
              <a:defRPr sz="2025" b="0">
                <a:solidFill>
                  <a:srgbClr val="B6C3D8"/>
                </a:solidFill>
                <a:latin typeface="DejaVu Sans"/>
                <a:ea typeface="DejaVu Sans"/>
                <a:cs typeface="DejaVu Sans"/>
              </a:defRPr>
            </a:lvl7pPr>
            <a:lvl8pPr>
              <a:defRPr sz="2025" b="0">
                <a:solidFill>
                  <a:srgbClr val="B6C3D8"/>
                </a:solidFill>
                <a:latin typeface="DejaVu Sans"/>
                <a:ea typeface="DejaVu Sans"/>
                <a:cs typeface="DejaVu Sans"/>
              </a:defRPr>
            </a:lvl8pPr>
            <a:lvl9pPr>
              <a:defRPr sz="2025" b="0">
                <a:solidFill>
                  <a:srgbClr val="B6C3D8"/>
                </a:solidFill>
                <a:latin typeface="DejaVu Sans"/>
                <a:ea typeface="DejaVu Sans"/>
                <a:cs typeface="DejaVu Sans"/>
              </a:defRPr>
            </a:lvl9pPr>
          </a:lstStyle>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ω can still have components</a:t>
            </a:r>
          </a:p>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along all three axes.</a:t>
            </a:r>
          </a:p>
        </p:txBody>
      </p:sp>
    </p:spTree>
    <p:extLst>
      <p:ext uri="{BB962C8B-B14F-4D97-AF65-F5344CB8AC3E}">
        <p14:creationId xmlns:p14="http://schemas.microsoft.com/office/powerpoint/2010/main" val="81446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78CC827-41E6-4703-A5BF-B7FF2CFEBA3C}"/>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716574E-75BB-43D6-8355-A4EBF81E9E6F}"/>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F9C21B94-10A9-4432-B984-C82F3EFD5DEB}"/>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5" name="Rectangle 4">
            <a:extLst>
              <a:ext uri="{FF2B5EF4-FFF2-40B4-BE49-F238E27FC236}">
                <a16:creationId xmlns:a16="http://schemas.microsoft.com/office/drawing/2014/main" id="{781774C3-927D-4AE3-BB6B-73CD119357F1}"/>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808A610A-B8AA-4D5A-9D89-2125A7DC619F}"/>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15</a:t>
            </a:r>
          </a:p>
        </p:txBody>
      </p:sp>
      <p:pic>
        <p:nvPicPr>
          <p:cNvPr id="15" name="Picture 14">
            <a:extLst>
              <a:ext uri="{FF2B5EF4-FFF2-40B4-BE49-F238E27FC236}">
                <a16:creationId xmlns:a16="http://schemas.microsoft.com/office/drawing/2014/main" id="{B99DC031-DFD9-659C-945C-F2F54DBA2D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299" y="0"/>
            <a:ext cx="5007022" cy="6858000"/>
          </a:xfrm>
          <a:prstGeom prst="rect">
            <a:avLst/>
          </a:prstGeom>
        </p:spPr>
      </p:pic>
      <p:pic>
        <p:nvPicPr>
          <p:cNvPr id="17" name="Picture 16">
            <a:extLst>
              <a:ext uri="{FF2B5EF4-FFF2-40B4-BE49-F238E27FC236}">
                <a16:creationId xmlns:a16="http://schemas.microsoft.com/office/drawing/2014/main" id="{B7CAB4ED-0B2D-CB08-3489-A28507C3E0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12013" y="1395344"/>
            <a:ext cx="5613400" cy="3987800"/>
          </a:xfrm>
          <a:prstGeom prst="rect">
            <a:avLst/>
          </a:prstGeom>
        </p:spPr>
      </p:pic>
    </p:spTree>
    <p:extLst>
      <p:ext uri="{BB962C8B-B14F-4D97-AF65-F5344CB8AC3E}">
        <p14:creationId xmlns:p14="http://schemas.microsoft.com/office/powerpoint/2010/main" val="1237518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00EF7F3-A6DD-4E22-AEEC-D2EBBF3568A7}"/>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5CA449F-3CCB-4484-8B81-7E37AB14883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D7FC7668-E6A7-4EBE-9327-47B5CAB0AD5E}"/>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FFAAEF59-FFBB-43B1-9800-0DCF292D66E4}"/>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dirty="0">
                <a:solidFill>
                  <a:srgbClr val="F6F7FF"/>
                </a:solidFill>
                <a:latin typeface="DejaVu Sans"/>
                <a:ea typeface="DejaVu Sans"/>
                <a:cs typeface="DejaVu Sans"/>
              </a:rPr>
              <a:t>A pure spin can still be unstable</a:t>
            </a:r>
          </a:p>
        </p:txBody>
      </p:sp>
      <p:sp>
        <p:nvSpPr>
          <p:cNvPr id="5" name="Rectangle 4">
            <a:extLst>
              <a:ext uri="{FF2B5EF4-FFF2-40B4-BE49-F238E27FC236}">
                <a16:creationId xmlns:a16="http://schemas.microsoft.com/office/drawing/2014/main" id="{F9217923-48D7-416E-8F32-A75172FB6F55}"/>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B1.1  /  PRINCIPAL AXES</a:t>
            </a:r>
          </a:p>
        </p:txBody>
      </p:sp>
      <p:sp>
        <p:nvSpPr>
          <p:cNvPr id="6" name="Rectangle 5">
            <a:extLst>
              <a:ext uri="{FF2B5EF4-FFF2-40B4-BE49-F238E27FC236}">
                <a16:creationId xmlns:a16="http://schemas.microsoft.com/office/drawing/2014/main" id="{BA135431-75B7-42A0-A007-AC76CF581217}"/>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14</a:t>
            </a:r>
          </a:p>
        </p:txBody>
      </p:sp>
      <p:pic>
        <p:nvPicPr>
          <p:cNvPr id="7" name="Picture 6">
            <a:extLst>
              <a:ext uri="{FF2B5EF4-FFF2-40B4-BE49-F238E27FC236}">
                <a16:creationId xmlns:a16="http://schemas.microsoft.com/office/drawing/2014/main" id="{D1DDA275-CE8F-4EFE-934B-AEC4366E7DE4}"/>
              </a:ext>
            </a:extLst>
          </p:cNvPr>
          <p:cNvPicPr>
            <a:picLocks noChangeAspect="1"/>
          </p:cNvPicPr>
          <p:nvPr/>
        </p:nvPicPr>
        <p:blipFill>
          <a:blip r:embed="rId4"/>
          <a:stretch/>
        </p:blipFill>
        <p:spPr>
          <a:xfrm>
            <a:off x="4377731" y="1828800"/>
            <a:ext cx="2960288" cy="857250"/>
          </a:xfrm>
          <a:prstGeom prst="rect">
            <a:avLst/>
          </a:prstGeom>
        </p:spPr>
      </p:pic>
      <p:sp>
        <p:nvSpPr>
          <p:cNvPr id="8" name="Rectangle 7">
            <a:extLst>
              <a:ext uri="{FF2B5EF4-FFF2-40B4-BE49-F238E27FC236}">
                <a16:creationId xmlns:a16="http://schemas.microsoft.com/office/drawing/2014/main" id="{0FB01DC3-15EF-49B7-B2B9-9C630EB9AC77}"/>
              </a:ext>
            </a:extLst>
          </p:cNvPr>
          <p:cNvSpPr>
            <a:spLocks noGrp="1"/>
          </p:cNvSpPr>
          <p:nvPr/>
        </p:nvSpPr>
        <p:spPr>
          <a:xfrm>
            <a:off x="666750" y="3324225"/>
            <a:ext cx="3095625" cy="809625"/>
          </a:xfrm>
          <a:prstGeom prst="rect">
            <a:avLst/>
          </a:prstGeom>
          <a:noFill/>
          <a:ln w="0">
            <a:noFill/>
            <a:prstDash val="solid"/>
          </a:ln>
        </p:spPr>
        <p:txBody>
          <a:bodyPr/>
          <a:lstStyle>
            <a:defPPr>
              <a:defRPr sz="2175" b="1">
                <a:solidFill>
                  <a:srgbClr val="F6F7FF"/>
                </a:solidFill>
                <a:latin typeface="DejaVu Sans"/>
                <a:ea typeface="DejaVu Sans"/>
                <a:cs typeface="DejaVu Sans"/>
              </a:defRPr>
            </a:defPPr>
            <a:lvl1pPr>
              <a:defRPr sz="2175" b="1">
                <a:solidFill>
                  <a:srgbClr val="F6F7FF"/>
                </a:solidFill>
                <a:latin typeface="DejaVu Sans"/>
                <a:ea typeface="DejaVu Sans"/>
                <a:cs typeface="DejaVu Sans"/>
              </a:defRPr>
            </a:lvl1pPr>
            <a:lvl2pPr>
              <a:defRPr sz="2175" b="1">
                <a:solidFill>
                  <a:srgbClr val="F6F7FF"/>
                </a:solidFill>
                <a:latin typeface="DejaVu Sans"/>
                <a:ea typeface="DejaVu Sans"/>
                <a:cs typeface="DejaVu Sans"/>
              </a:defRPr>
            </a:lvl2pPr>
            <a:lvl3pPr>
              <a:defRPr sz="2175" b="1">
                <a:solidFill>
                  <a:srgbClr val="F6F7FF"/>
                </a:solidFill>
                <a:latin typeface="DejaVu Sans"/>
                <a:ea typeface="DejaVu Sans"/>
                <a:cs typeface="DejaVu Sans"/>
              </a:defRPr>
            </a:lvl3pPr>
            <a:lvl4pPr>
              <a:defRPr sz="2175" b="1">
                <a:solidFill>
                  <a:srgbClr val="F6F7FF"/>
                </a:solidFill>
                <a:latin typeface="DejaVu Sans"/>
                <a:ea typeface="DejaVu Sans"/>
                <a:cs typeface="DejaVu Sans"/>
              </a:defRPr>
            </a:lvl4pPr>
            <a:lvl5pPr>
              <a:defRPr sz="2175" b="1">
                <a:solidFill>
                  <a:srgbClr val="F6F7FF"/>
                </a:solidFill>
                <a:latin typeface="DejaVu Sans"/>
                <a:ea typeface="DejaVu Sans"/>
                <a:cs typeface="DejaVu Sans"/>
              </a:defRPr>
            </a:lvl5pPr>
            <a:lvl6pPr>
              <a:defRPr sz="2175" b="1">
                <a:solidFill>
                  <a:srgbClr val="F6F7FF"/>
                </a:solidFill>
                <a:latin typeface="DejaVu Sans"/>
                <a:ea typeface="DejaVu Sans"/>
                <a:cs typeface="DejaVu Sans"/>
              </a:defRPr>
            </a:lvl6pPr>
            <a:lvl7pPr>
              <a:defRPr sz="2175" b="1">
                <a:solidFill>
                  <a:srgbClr val="F6F7FF"/>
                </a:solidFill>
                <a:latin typeface="DejaVu Sans"/>
                <a:ea typeface="DejaVu Sans"/>
                <a:cs typeface="DejaVu Sans"/>
              </a:defRPr>
            </a:lvl7pPr>
            <a:lvl8pPr>
              <a:defRPr sz="2175" b="1">
                <a:solidFill>
                  <a:srgbClr val="F6F7FF"/>
                </a:solidFill>
                <a:latin typeface="DejaVu Sans"/>
                <a:ea typeface="DejaVu Sans"/>
                <a:cs typeface="DejaVu Sans"/>
              </a:defRPr>
            </a:lvl8pPr>
            <a:lvl9pPr>
              <a:defRPr sz="2175" b="1">
                <a:solidFill>
                  <a:srgbClr val="F6F7FF"/>
                </a:solidFill>
                <a:latin typeface="DejaVu Sans"/>
                <a:ea typeface="DejaVu Sans"/>
                <a:cs typeface="DejaVu Sans"/>
              </a:defRPr>
            </a:lvl9pPr>
          </a:lstStyle>
          <a:p>
            <a:pPr>
              <a:defRPr sz="2175" b="1">
                <a:solidFill>
                  <a:srgbClr val="F6F7FF"/>
                </a:solidFill>
                <a:latin typeface="DejaVu Sans"/>
                <a:ea typeface="DejaVu Sans"/>
                <a:cs typeface="DejaVu Sans"/>
              </a:defRPr>
            </a:pPr>
            <a:r>
              <a:rPr sz="2175" b="1">
                <a:solidFill>
                  <a:srgbClr val="F6F7FF"/>
                </a:solidFill>
                <a:latin typeface="DejaVu Sans"/>
                <a:ea typeface="DejaVu Sans"/>
                <a:cs typeface="DejaVu Sans"/>
              </a:rPr>
              <a:t>Smallest moment</a:t>
            </a:r>
          </a:p>
        </p:txBody>
      </p:sp>
      <p:sp>
        <p:nvSpPr>
          <p:cNvPr id="9" name="Rectangle 8">
            <a:extLst>
              <a:ext uri="{FF2B5EF4-FFF2-40B4-BE49-F238E27FC236}">
                <a16:creationId xmlns:a16="http://schemas.microsoft.com/office/drawing/2014/main" id="{BF492D9F-5716-4C75-8546-6FC79E9AA4E0}"/>
              </a:ext>
            </a:extLst>
          </p:cNvPr>
          <p:cNvSpPr>
            <a:spLocks noGrp="1"/>
          </p:cNvSpPr>
          <p:nvPr/>
        </p:nvSpPr>
        <p:spPr>
          <a:xfrm>
            <a:off x="666750" y="4381500"/>
            <a:ext cx="2714625" cy="28575"/>
          </a:xfrm>
          <a:prstGeom prst="rect">
            <a:avLst/>
          </a:prstGeom>
          <a:solidFill>
            <a:srgbClr val="55F3D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E67C180-FA4A-4993-8E8E-46F5CC0F35B2}"/>
              </a:ext>
            </a:extLst>
          </p:cNvPr>
          <p:cNvSpPr>
            <a:spLocks noGrp="1"/>
          </p:cNvSpPr>
          <p:nvPr/>
        </p:nvSpPr>
        <p:spPr>
          <a:xfrm>
            <a:off x="666750" y="4810125"/>
            <a:ext cx="2857500" cy="619125"/>
          </a:xfrm>
          <a:prstGeom prst="rect">
            <a:avLst/>
          </a:prstGeom>
          <a:noFill/>
          <a:ln w="0">
            <a:noFill/>
            <a:prstDash val="solid"/>
          </a:ln>
        </p:spPr>
        <p:txBody>
          <a:bodyPr/>
          <a:lstStyle>
            <a:defPPr>
              <a:defRPr sz="2700" b="1">
                <a:solidFill>
                  <a:srgbClr val="55F3D2"/>
                </a:solidFill>
                <a:latin typeface="DejaVu Sans"/>
                <a:ea typeface="DejaVu Sans"/>
                <a:cs typeface="DejaVu Sans"/>
              </a:defRPr>
            </a:defPPr>
            <a:lvl1pPr>
              <a:defRPr sz="2700" b="1">
                <a:solidFill>
                  <a:srgbClr val="55F3D2"/>
                </a:solidFill>
                <a:latin typeface="DejaVu Sans"/>
                <a:ea typeface="DejaVu Sans"/>
                <a:cs typeface="DejaVu Sans"/>
              </a:defRPr>
            </a:lvl1pPr>
            <a:lvl2pPr>
              <a:defRPr sz="2700" b="1">
                <a:solidFill>
                  <a:srgbClr val="55F3D2"/>
                </a:solidFill>
                <a:latin typeface="DejaVu Sans"/>
                <a:ea typeface="DejaVu Sans"/>
                <a:cs typeface="DejaVu Sans"/>
              </a:defRPr>
            </a:lvl2pPr>
            <a:lvl3pPr>
              <a:defRPr sz="2700" b="1">
                <a:solidFill>
                  <a:srgbClr val="55F3D2"/>
                </a:solidFill>
                <a:latin typeface="DejaVu Sans"/>
                <a:ea typeface="DejaVu Sans"/>
                <a:cs typeface="DejaVu Sans"/>
              </a:defRPr>
            </a:lvl3pPr>
            <a:lvl4pPr>
              <a:defRPr sz="2700" b="1">
                <a:solidFill>
                  <a:srgbClr val="55F3D2"/>
                </a:solidFill>
                <a:latin typeface="DejaVu Sans"/>
                <a:ea typeface="DejaVu Sans"/>
                <a:cs typeface="DejaVu Sans"/>
              </a:defRPr>
            </a:lvl4pPr>
            <a:lvl5pPr>
              <a:defRPr sz="2700" b="1">
                <a:solidFill>
                  <a:srgbClr val="55F3D2"/>
                </a:solidFill>
                <a:latin typeface="DejaVu Sans"/>
                <a:ea typeface="DejaVu Sans"/>
                <a:cs typeface="DejaVu Sans"/>
              </a:defRPr>
            </a:lvl5pPr>
            <a:lvl6pPr>
              <a:defRPr sz="2700" b="1">
                <a:solidFill>
                  <a:srgbClr val="55F3D2"/>
                </a:solidFill>
                <a:latin typeface="DejaVu Sans"/>
                <a:ea typeface="DejaVu Sans"/>
                <a:cs typeface="DejaVu Sans"/>
              </a:defRPr>
            </a:lvl6pPr>
            <a:lvl7pPr>
              <a:defRPr sz="2700" b="1">
                <a:solidFill>
                  <a:srgbClr val="55F3D2"/>
                </a:solidFill>
                <a:latin typeface="DejaVu Sans"/>
                <a:ea typeface="DejaVu Sans"/>
                <a:cs typeface="DejaVu Sans"/>
              </a:defRPr>
            </a:lvl7pPr>
            <a:lvl8pPr>
              <a:defRPr sz="2700" b="1">
                <a:solidFill>
                  <a:srgbClr val="55F3D2"/>
                </a:solidFill>
                <a:latin typeface="DejaVu Sans"/>
                <a:ea typeface="DejaVu Sans"/>
                <a:cs typeface="DejaVu Sans"/>
              </a:defRPr>
            </a:lvl8pPr>
            <a:lvl9pPr>
              <a:defRPr sz="2700" b="1">
                <a:solidFill>
                  <a:srgbClr val="55F3D2"/>
                </a:solidFill>
                <a:latin typeface="DejaVu Sans"/>
                <a:ea typeface="DejaVu Sans"/>
                <a:cs typeface="DejaVu Sans"/>
              </a:defRPr>
            </a:lvl9pPr>
          </a:lstStyle>
          <a:p>
            <a:pPr>
              <a:defRPr sz="2700" b="1">
                <a:solidFill>
                  <a:srgbClr val="55F3D2"/>
                </a:solidFill>
                <a:latin typeface="DejaVu Sans"/>
                <a:ea typeface="DejaVu Sans"/>
                <a:cs typeface="DejaVu Sans"/>
              </a:defRPr>
            </a:pPr>
            <a:r>
              <a:rPr sz="2700" b="1">
                <a:solidFill>
                  <a:srgbClr val="55F3D2"/>
                </a:solidFill>
                <a:latin typeface="DejaVu Sans"/>
                <a:ea typeface="DejaVu Sans"/>
                <a:cs typeface="DejaVu Sans"/>
              </a:rPr>
              <a:t>Stable</a:t>
            </a:r>
          </a:p>
        </p:txBody>
      </p:sp>
      <p:sp>
        <p:nvSpPr>
          <p:cNvPr id="11" name="Rectangle 10">
            <a:extLst>
              <a:ext uri="{FF2B5EF4-FFF2-40B4-BE49-F238E27FC236}">
                <a16:creationId xmlns:a16="http://schemas.microsoft.com/office/drawing/2014/main" id="{276AB309-BEFA-466F-B23D-32C4E9A5A2EC}"/>
              </a:ext>
            </a:extLst>
          </p:cNvPr>
          <p:cNvSpPr>
            <a:spLocks noGrp="1"/>
          </p:cNvSpPr>
          <p:nvPr/>
        </p:nvSpPr>
        <p:spPr>
          <a:xfrm>
            <a:off x="4552950" y="3324225"/>
            <a:ext cx="3095625" cy="809625"/>
          </a:xfrm>
          <a:prstGeom prst="rect">
            <a:avLst/>
          </a:prstGeom>
          <a:noFill/>
          <a:ln w="0">
            <a:noFill/>
            <a:prstDash val="solid"/>
          </a:ln>
        </p:spPr>
        <p:txBody>
          <a:bodyPr/>
          <a:lstStyle>
            <a:defPPr>
              <a:defRPr sz="2175" b="1">
                <a:solidFill>
                  <a:srgbClr val="F6F7FF"/>
                </a:solidFill>
                <a:latin typeface="DejaVu Sans"/>
                <a:ea typeface="DejaVu Sans"/>
                <a:cs typeface="DejaVu Sans"/>
              </a:defRPr>
            </a:defPPr>
            <a:lvl1pPr>
              <a:defRPr sz="2175" b="1">
                <a:solidFill>
                  <a:srgbClr val="F6F7FF"/>
                </a:solidFill>
                <a:latin typeface="DejaVu Sans"/>
                <a:ea typeface="DejaVu Sans"/>
                <a:cs typeface="DejaVu Sans"/>
              </a:defRPr>
            </a:lvl1pPr>
            <a:lvl2pPr>
              <a:defRPr sz="2175" b="1">
                <a:solidFill>
                  <a:srgbClr val="F6F7FF"/>
                </a:solidFill>
                <a:latin typeface="DejaVu Sans"/>
                <a:ea typeface="DejaVu Sans"/>
                <a:cs typeface="DejaVu Sans"/>
              </a:defRPr>
            </a:lvl2pPr>
            <a:lvl3pPr>
              <a:defRPr sz="2175" b="1">
                <a:solidFill>
                  <a:srgbClr val="F6F7FF"/>
                </a:solidFill>
                <a:latin typeface="DejaVu Sans"/>
                <a:ea typeface="DejaVu Sans"/>
                <a:cs typeface="DejaVu Sans"/>
              </a:defRPr>
            </a:lvl3pPr>
            <a:lvl4pPr>
              <a:defRPr sz="2175" b="1">
                <a:solidFill>
                  <a:srgbClr val="F6F7FF"/>
                </a:solidFill>
                <a:latin typeface="DejaVu Sans"/>
                <a:ea typeface="DejaVu Sans"/>
                <a:cs typeface="DejaVu Sans"/>
              </a:defRPr>
            </a:lvl4pPr>
            <a:lvl5pPr>
              <a:defRPr sz="2175" b="1">
                <a:solidFill>
                  <a:srgbClr val="F6F7FF"/>
                </a:solidFill>
                <a:latin typeface="DejaVu Sans"/>
                <a:ea typeface="DejaVu Sans"/>
                <a:cs typeface="DejaVu Sans"/>
              </a:defRPr>
            </a:lvl5pPr>
            <a:lvl6pPr>
              <a:defRPr sz="2175" b="1">
                <a:solidFill>
                  <a:srgbClr val="F6F7FF"/>
                </a:solidFill>
                <a:latin typeface="DejaVu Sans"/>
                <a:ea typeface="DejaVu Sans"/>
                <a:cs typeface="DejaVu Sans"/>
              </a:defRPr>
            </a:lvl6pPr>
            <a:lvl7pPr>
              <a:defRPr sz="2175" b="1">
                <a:solidFill>
                  <a:srgbClr val="F6F7FF"/>
                </a:solidFill>
                <a:latin typeface="DejaVu Sans"/>
                <a:ea typeface="DejaVu Sans"/>
                <a:cs typeface="DejaVu Sans"/>
              </a:defRPr>
            </a:lvl7pPr>
            <a:lvl8pPr>
              <a:defRPr sz="2175" b="1">
                <a:solidFill>
                  <a:srgbClr val="F6F7FF"/>
                </a:solidFill>
                <a:latin typeface="DejaVu Sans"/>
                <a:ea typeface="DejaVu Sans"/>
                <a:cs typeface="DejaVu Sans"/>
              </a:defRPr>
            </a:lvl8pPr>
            <a:lvl9pPr>
              <a:defRPr sz="2175" b="1">
                <a:solidFill>
                  <a:srgbClr val="F6F7FF"/>
                </a:solidFill>
                <a:latin typeface="DejaVu Sans"/>
                <a:ea typeface="DejaVu Sans"/>
                <a:cs typeface="DejaVu Sans"/>
              </a:defRPr>
            </a:lvl9pPr>
          </a:lstStyle>
          <a:p>
            <a:pPr>
              <a:defRPr sz="2175" b="1">
                <a:solidFill>
                  <a:srgbClr val="F6F7FF"/>
                </a:solidFill>
                <a:latin typeface="DejaVu Sans"/>
                <a:ea typeface="DejaVu Sans"/>
                <a:cs typeface="DejaVu Sans"/>
              </a:defRPr>
            </a:pPr>
            <a:r>
              <a:rPr sz="2175" b="1">
                <a:solidFill>
                  <a:srgbClr val="F6F7FF"/>
                </a:solidFill>
                <a:latin typeface="DejaVu Sans"/>
                <a:ea typeface="DejaVu Sans"/>
                <a:cs typeface="DejaVu Sans"/>
              </a:rPr>
              <a:t>Intermediate moment</a:t>
            </a:r>
          </a:p>
        </p:txBody>
      </p:sp>
      <p:sp>
        <p:nvSpPr>
          <p:cNvPr id="12" name="Rectangle 11">
            <a:extLst>
              <a:ext uri="{FF2B5EF4-FFF2-40B4-BE49-F238E27FC236}">
                <a16:creationId xmlns:a16="http://schemas.microsoft.com/office/drawing/2014/main" id="{C315507E-E005-4876-B234-4FC20BAADCBC}"/>
              </a:ext>
            </a:extLst>
          </p:cNvPr>
          <p:cNvSpPr>
            <a:spLocks noGrp="1"/>
          </p:cNvSpPr>
          <p:nvPr/>
        </p:nvSpPr>
        <p:spPr>
          <a:xfrm>
            <a:off x="4552950" y="4381500"/>
            <a:ext cx="2714625" cy="28575"/>
          </a:xfrm>
          <a:prstGeom prst="rect">
            <a:avLst/>
          </a:prstGeom>
          <a:solidFill>
            <a:srgbClr val="B5A2FF"/>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6A611A4-D0CB-4D3A-8EF1-E4AE802D9D30}"/>
              </a:ext>
            </a:extLst>
          </p:cNvPr>
          <p:cNvSpPr>
            <a:spLocks noGrp="1"/>
          </p:cNvSpPr>
          <p:nvPr/>
        </p:nvSpPr>
        <p:spPr>
          <a:xfrm>
            <a:off x="4552950" y="4810125"/>
            <a:ext cx="2857500" cy="619125"/>
          </a:xfrm>
          <a:prstGeom prst="rect">
            <a:avLst/>
          </a:prstGeom>
          <a:noFill/>
          <a:ln w="0">
            <a:noFill/>
            <a:prstDash val="solid"/>
          </a:ln>
        </p:spPr>
        <p:txBody>
          <a:bodyPr/>
          <a:lstStyle>
            <a:defPPr>
              <a:defRPr sz="2700" b="1">
                <a:solidFill>
                  <a:srgbClr val="B5A2FF"/>
                </a:solidFill>
                <a:latin typeface="DejaVu Sans"/>
                <a:ea typeface="DejaVu Sans"/>
                <a:cs typeface="DejaVu Sans"/>
              </a:defRPr>
            </a:defPPr>
            <a:lvl1pPr>
              <a:defRPr sz="2700" b="1">
                <a:solidFill>
                  <a:srgbClr val="B5A2FF"/>
                </a:solidFill>
                <a:latin typeface="DejaVu Sans"/>
                <a:ea typeface="DejaVu Sans"/>
                <a:cs typeface="DejaVu Sans"/>
              </a:defRPr>
            </a:lvl1pPr>
            <a:lvl2pPr>
              <a:defRPr sz="2700" b="1">
                <a:solidFill>
                  <a:srgbClr val="B5A2FF"/>
                </a:solidFill>
                <a:latin typeface="DejaVu Sans"/>
                <a:ea typeface="DejaVu Sans"/>
                <a:cs typeface="DejaVu Sans"/>
              </a:defRPr>
            </a:lvl2pPr>
            <a:lvl3pPr>
              <a:defRPr sz="2700" b="1">
                <a:solidFill>
                  <a:srgbClr val="B5A2FF"/>
                </a:solidFill>
                <a:latin typeface="DejaVu Sans"/>
                <a:ea typeface="DejaVu Sans"/>
                <a:cs typeface="DejaVu Sans"/>
              </a:defRPr>
            </a:lvl3pPr>
            <a:lvl4pPr>
              <a:defRPr sz="2700" b="1">
                <a:solidFill>
                  <a:srgbClr val="B5A2FF"/>
                </a:solidFill>
                <a:latin typeface="DejaVu Sans"/>
                <a:ea typeface="DejaVu Sans"/>
                <a:cs typeface="DejaVu Sans"/>
              </a:defRPr>
            </a:lvl4pPr>
            <a:lvl5pPr>
              <a:defRPr sz="2700" b="1">
                <a:solidFill>
                  <a:srgbClr val="B5A2FF"/>
                </a:solidFill>
                <a:latin typeface="DejaVu Sans"/>
                <a:ea typeface="DejaVu Sans"/>
                <a:cs typeface="DejaVu Sans"/>
              </a:defRPr>
            </a:lvl5pPr>
            <a:lvl6pPr>
              <a:defRPr sz="2700" b="1">
                <a:solidFill>
                  <a:srgbClr val="B5A2FF"/>
                </a:solidFill>
                <a:latin typeface="DejaVu Sans"/>
                <a:ea typeface="DejaVu Sans"/>
                <a:cs typeface="DejaVu Sans"/>
              </a:defRPr>
            </a:lvl6pPr>
            <a:lvl7pPr>
              <a:defRPr sz="2700" b="1">
                <a:solidFill>
                  <a:srgbClr val="B5A2FF"/>
                </a:solidFill>
                <a:latin typeface="DejaVu Sans"/>
                <a:ea typeface="DejaVu Sans"/>
                <a:cs typeface="DejaVu Sans"/>
              </a:defRPr>
            </a:lvl7pPr>
            <a:lvl8pPr>
              <a:defRPr sz="2700" b="1">
                <a:solidFill>
                  <a:srgbClr val="B5A2FF"/>
                </a:solidFill>
                <a:latin typeface="DejaVu Sans"/>
                <a:ea typeface="DejaVu Sans"/>
                <a:cs typeface="DejaVu Sans"/>
              </a:defRPr>
            </a:lvl8pPr>
            <a:lvl9pPr>
              <a:defRPr sz="2700" b="1">
                <a:solidFill>
                  <a:srgbClr val="B5A2FF"/>
                </a:solidFill>
                <a:latin typeface="DejaVu Sans"/>
                <a:ea typeface="DejaVu Sans"/>
                <a:cs typeface="DejaVu Sans"/>
              </a:defRPr>
            </a:lvl9pPr>
          </a:lstStyle>
          <a:p>
            <a:pPr>
              <a:defRPr sz="2700" b="1">
                <a:solidFill>
                  <a:srgbClr val="B5A2FF"/>
                </a:solidFill>
                <a:latin typeface="DejaVu Sans"/>
                <a:ea typeface="DejaVu Sans"/>
                <a:cs typeface="DejaVu Sans"/>
              </a:defRPr>
            </a:pPr>
            <a:r>
              <a:rPr sz="2700" b="1">
                <a:solidFill>
                  <a:srgbClr val="B5A2FF"/>
                </a:solidFill>
                <a:latin typeface="DejaVu Sans"/>
                <a:ea typeface="DejaVu Sans"/>
                <a:cs typeface="DejaVu Sans"/>
              </a:rPr>
              <a:t>Unstable</a:t>
            </a:r>
          </a:p>
        </p:txBody>
      </p:sp>
      <p:sp>
        <p:nvSpPr>
          <p:cNvPr id="14" name="Rectangle 13">
            <a:extLst>
              <a:ext uri="{FF2B5EF4-FFF2-40B4-BE49-F238E27FC236}">
                <a16:creationId xmlns:a16="http://schemas.microsoft.com/office/drawing/2014/main" id="{17D2EB40-BE79-4AD5-B7FD-4A6C3FD3C97E}"/>
              </a:ext>
            </a:extLst>
          </p:cNvPr>
          <p:cNvSpPr>
            <a:spLocks noGrp="1"/>
          </p:cNvSpPr>
          <p:nvPr/>
        </p:nvSpPr>
        <p:spPr>
          <a:xfrm>
            <a:off x="8429625" y="3324225"/>
            <a:ext cx="3095625" cy="809625"/>
          </a:xfrm>
          <a:prstGeom prst="rect">
            <a:avLst/>
          </a:prstGeom>
          <a:noFill/>
          <a:ln w="0">
            <a:noFill/>
            <a:prstDash val="solid"/>
          </a:ln>
        </p:spPr>
        <p:txBody>
          <a:bodyPr/>
          <a:lstStyle>
            <a:defPPr>
              <a:defRPr sz="2175" b="1">
                <a:solidFill>
                  <a:srgbClr val="F6F7FF"/>
                </a:solidFill>
                <a:latin typeface="DejaVu Sans"/>
                <a:ea typeface="DejaVu Sans"/>
                <a:cs typeface="DejaVu Sans"/>
              </a:defRPr>
            </a:defPPr>
            <a:lvl1pPr>
              <a:defRPr sz="2175" b="1">
                <a:solidFill>
                  <a:srgbClr val="F6F7FF"/>
                </a:solidFill>
                <a:latin typeface="DejaVu Sans"/>
                <a:ea typeface="DejaVu Sans"/>
                <a:cs typeface="DejaVu Sans"/>
              </a:defRPr>
            </a:lvl1pPr>
            <a:lvl2pPr>
              <a:defRPr sz="2175" b="1">
                <a:solidFill>
                  <a:srgbClr val="F6F7FF"/>
                </a:solidFill>
                <a:latin typeface="DejaVu Sans"/>
                <a:ea typeface="DejaVu Sans"/>
                <a:cs typeface="DejaVu Sans"/>
              </a:defRPr>
            </a:lvl2pPr>
            <a:lvl3pPr>
              <a:defRPr sz="2175" b="1">
                <a:solidFill>
                  <a:srgbClr val="F6F7FF"/>
                </a:solidFill>
                <a:latin typeface="DejaVu Sans"/>
                <a:ea typeface="DejaVu Sans"/>
                <a:cs typeface="DejaVu Sans"/>
              </a:defRPr>
            </a:lvl3pPr>
            <a:lvl4pPr>
              <a:defRPr sz="2175" b="1">
                <a:solidFill>
                  <a:srgbClr val="F6F7FF"/>
                </a:solidFill>
                <a:latin typeface="DejaVu Sans"/>
                <a:ea typeface="DejaVu Sans"/>
                <a:cs typeface="DejaVu Sans"/>
              </a:defRPr>
            </a:lvl4pPr>
            <a:lvl5pPr>
              <a:defRPr sz="2175" b="1">
                <a:solidFill>
                  <a:srgbClr val="F6F7FF"/>
                </a:solidFill>
                <a:latin typeface="DejaVu Sans"/>
                <a:ea typeface="DejaVu Sans"/>
                <a:cs typeface="DejaVu Sans"/>
              </a:defRPr>
            </a:lvl5pPr>
            <a:lvl6pPr>
              <a:defRPr sz="2175" b="1">
                <a:solidFill>
                  <a:srgbClr val="F6F7FF"/>
                </a:solidFill>
                <a:latin typeface="DejaVu Sans"/>
                <a:ea typeface="DejaVu Sans"/>
                <a:cs typeface="DejaVu Sans"/>
              </a:defRPr>
            </a:lvl6pPr>
            <a:lvl7pPr>
              <a:defRPr sz="2175" b="1">
                <a:solidFill>
                  <a:srgbClr val="F6F7FF"/>
                </a:solidFill>
                <a:latin typeface="DejaVu Sans"/>
                <a:ea typeface="DejaVu Sans"/>
                <a:cs typeface="DejaVu Sans"/>
              </a:defRPr>
            </a:lvl7pPr>
            <a:lvl8pPr>
              <a:defRPr sz="2175" b="1">
                <a:solidFill>
                  <a:srgbClr val="F6F7FF"/>
                </a:solidFill>
                <a:latin typeface="DejaVu Sans"/>
                <a:ea typeface="DejaVu Sans"/>
                <a:cs typeface="DejaVu Sans"/>
              </a:defRPr>
            </a:lvl8pPr>
            <a:lvl9pPr>
              <a:defRPr sz="2175" b="1">
                <a:solidFill>
                  <a:srgbClr val="F6F7FF"/>
                </a:solidFill>
                <a:latin typeface="DejaVu Sans"/>
                <a:ea typeface="DejaVu Sans"/>
                <a:cs typeface="DejaVu Sans"/>
              </a:defRPr>
            </a:lvl9pPr>
          </a:lstStyle>
          <a:p>
            <a:pPr>
              <a:defRPr sz="2175" b="1">
                <a:solidFill>
                  <a:srgbClr val="F6F7FF"/>
                </a:solidFill>
                <a:latin typeface="DejaVu Sans"/>
                <a:ea typeface="DejaVu Sans"/>
                <a:cs typeface="DejaVu Sans"/>
              </a:defRPr>
            </a:pPr>
            <a:r>
              <a:rPr sz="2175" b="1">
                <a:solidFill>
                  <a:srgbClr val="F6F7FF"/>
                </a:solidFill>
                <a:latin typeface="DejaVu Sans"/>
                <a:ea typeface="DejaVu Sans"/>
                <a:cs typeface="DejaVu Sans"/>
              </a:rPr>
              <a:t>Largest moment</a:t>
            </a:r>
          </a:p>
        </p:txBody>
      </p:sp>
      <p:sp>
        <p:nvSpPr>
          <p:cNvPr id="15" name="Rectangle 14">
            <a:extLst>
              <a:ext uri="{FF2B5EF4-FFF2-40B4-BE49-F238E27FC236}">
                <a16:creationId xmlns:a16="http://schemas.microsoft.com/office/drawing/2014/main" id="{53E29C39-6B0A-43C3-9F85-44263EC65FBB}"/>
              </a:ext>
            </a:extLst>
          </p:cNvPr>
          <p:cNvSpPr>
            <a:spLocks noGrp="1"/>
          </p:cNvSpPr>
          <p:nvPr/>
        </p:nvSpPr>
        <p:spPr>
          <a:xfrm>
            <a:off x="8429625" y="4381500"/>
            <a:ext cx="2714625" cy="28575"/>
          </a:xfrm>
          <a:prstGeom prst="rect">
            <a:avLst/>
          </a:prstGeom>
          <a:solidFill>
            <a:srgbClr val="55F3D2"/>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32D1D54-382A-4557-A9C4-834D8E5C6939}"/>
              </a:ext>
            </a:extLst>
          </p:cNvPr>
          <p:cNvSpPr>
            <a:spLocks noGrp="1"/>
          </p:cNvSpPr>
          <p:nvPr/>
        </p:nvSpPr>
        <p:spPr>
          <a:xfrm>
            <a:off x="8429625" y="4810125"/>
            <a:ext cx="2857500" cy="619125"/>
          </a:xfrm>
          <a:prstGeom prst="rect">
            <a:avLst/>
          </a:prstGeom>
          <a:noFill/>
          <a:ln w="0">
            <a:noFill/>
            <a:prstDash val="solid"/>
          </a:ln>
        </p:spPr>
        <p:txBody>
          <a:bodyPr/>
          <a:lstStyle>
            <a:defPPr>
              <a:defRPr sz="2700" b="1">
                <a:solidFill>
                  <a:srgbClr val="55F3D2"/>
                </a:solidFill>
                <a:latin typeface="DejaVu Sans"/>
                <a:ea typeface="DejaVu Sans"/>
                <a:cs typeface="DejaVu Sans"/>
              </a:defRPr>
            </a:defPPr>
            <a:lvl1pPr>
              <a:defRPr sz="2700" b="1">
                <a:solidFill>
                  <a:srgbClr val="55F3D2"/>
                </a:solidFill>
                <a:latin typeface="DejaVu Sans"/>
                <a:ea typeface="DejaVu Sans"/>
                <a:cs typeface="DejaVu Sans"/>
              </a:defRPr>
            </a:lvl1pPr>
            <a:lvl2pPr>
              <a:defRPr sz="2700" b="1">
                <a:solidFill>
                  <a:srgbClr val="55F3D2"/>
                </a:solidFill>
                <a:latin typeface="DejaVu Sans"/>
                <a:ea typeface="DejaVu Sans"/>
                <a:cs typeface="DejaVu Sans"/>
              </a:defRPr>
            </a:lvl2pPr>
            <a:lvl3pPr>
              <a:defRPr sz="2700" b="1">
                <a:solidFill>
                  <a:srgbClr val="55F3D2"/>
                </a:solidFill>
                <a:latin typeface="DejaVu Sans"/>
                <a:ea typeface="DejaVu Sans"/>
                <a:cs typeface="DejaVu Sans"/>
              </a:defRPr>
            </a:lvl3pPr>
            <a:lvl4pPr>
              <a:defRPr sz="2700" b="1">
                <a:solidFill>
                  <a:srgbClr val="55F3D2"/>
                </a:solidFill>
                <a:latin typeface="DejaVu Sans"/>
                <a:ea typeface="DejaVu Sans"/>
                <a:cs typeface="DejaVu Sans"/>
              </a:defRPr>
            </a:lvl4pPr>
            <a:lvl5pPr>
              <a:defRPr sz="2700" b="1">
                <a:solidFill>
                  <a:srgbClr val="55F3D2"/>
                </a:solidFill>
                <a:latin typeface="DejaVu Sans"/>
                <a:ea typeface="DejaVu Sans"/>
                <a:cs typeface="DejaVu Sans"/>
              </a:defRPr>
            </a:lvl5pPr>
            <a:lvl6pPr>
              <a:defRPr sz="2700" b="1">
                <a:solidFill>
                  <a:srgbClr val="55F3D2"/>
                </a:solidFill>
                <a:latin typeface="DejaVu Sans"/>
                <a:ea typeface="DejaVu Sans"/>
                <a:cs typeface="DejaVu Sans"/>
              </a:defRPr>
            </a:lvl6pPr>
            <a:lvl7pPr>
              <a:defRPr sz="2700" b="1">
                <a:solidFill>
                  <a:srgbClr val="55F3D2"/>
                </a:solidFill>
                <a:latin typeface="DejaVu Sans"/>
                <a:ea typeface="DejaVu Sans"/>
                <a:cs typeface="DejaVu Sans"/>
              </a:defRPr>
            </a:lvl7pPr>
            <a:lvl8pPr>
              <a:defRPr sz="2700" b="1">
                <a:solidFill>
                  <a:srgbClr val="55F3D2"/>
                </a:solidFill>
                <a:latin typeface="DejaVu Sans"/>
                <a:ea typeface="DejaVu Sans"/>
                <a:cs typeface="DejaVu Sans"/>
              </a:defRPr>
            </a:lvl8pPr>
            <a:lvl9pPr>
              <a:defRPr sz="2700" b="1">
                <a:solidFill>
                  <a:srgbClr val="55F3D2"/>
                </a:solidFill>
                <a:latin typeface="DejaVu Sans"/>
                <a:ea typeface="DejaVu Sans"/>
                <a:cs typeface="DejaVu Sans"/>
              </a:defRPr>
            </a:lvl9pPr>
          </a:lstStyle>
          <a:p>
            <a:pPr>
              <a:defRPr sz="2700" b="1">
                <a:solidFill>
                  <a:srgbClr val="55F3D2"/>
                </a:solidFill>
                <a:latin typeface="DejaVu Sans"/>
                <a:ea typeface="DejaVu Sans"/>
                <a:cs typeface="DejaVu Sans"/>
              </a:defRPr>
            </a:pPr>
            <a:r>
              <a:rPr sz="2700" b="1">
                <a:solidFill>
                  <a:srgbClr val="55F3D2"/>
                </a:solidFill>
                <a:latin typeface="DejaVu Sans"/>
                <a:ea typeface="DejaVu Sans"/>
                <a:cs typeface="DejaVu Sans"/>
              </a:rPr>
              <a:t>Stable</a:t>
            </a:r>
          </a:p>
        </p:txBody>
      </p:sp>
      <p:sp>
        <p:nvSpPr>
          <p:cNvPr id="17" name="Rectangle 16">
            <a:extLst>
              <a:ext uri="{FF2B5EF4-FFF2-40B4-BE49-F238E27FC236}">
                <a16:creationId xmlns:a16="http://schemas.microsoft.com/office/drawing/2014/main" id="{DCA8C2E4-43E5-470E-B89A-8BD1384F0C48}"/>
              </a:ext>
            </a:extLst>
          </p:cNvPr>
          <p:cNvSpPr>
            <a:spLocks noGrp="1"/>
          </p:cNvSpPr>
          <p:nvPr/>
        </p:nvSpPr>
        <p:spPr>
          <a:xfrm>
            <a:off x="657225" y="5734050"/>
            <a:ext cx="10477500" cy="400050"/>
          </a:xfrm>
          <a:prstGeom prst="rect">
            <a:avLst/>
          </a:prstGeom>
          <a:noFill/>
          <a:ln w="0">
            <a:noFill/>
            <a:prstDash val="solid"/>
          </a:ln>
        </p:spPr>
        <p:txBody>
          <a:bodyPr/>
          <a:lstStyle>
            <a:defPPr>
              <a:defRPr sz="1800" b="0">
                <a:solidFill>
                  <a:srgbClr val="B6C3D8"/>
                </a:solidFill>
                <a:latin typeface="DejaVu Sans"/>
                <a:ea typeface="DejaVu Sans"/>
                <a:cs typeface="DejaVu Sans"/>
              </a:defRPr>
            </a:defPPr>
            <a:lvl1pPr>
              <a:defRPr sz="1800" b="0">
                <a:solidFill>
                  <a:srgbClr val="B6C3D8"/>
                </a:solidFill>
                <a:latin typeface="DejaVu Sans"/>
                <a:ea typeface="DejaVu Sans"/>
                <a:cs typeface="DejaVu Sans"/>
              </a:defRPr>
            </a:lvl1pPr>
            <a:lvl2pPr>
              <a:defRPr sz="1800" b="0">
                <a:solidFill>
                  <a:srgbClr val="B6C3D8"/>
                </a:solidFill>
                <a:latin typeface="DejaVu Sans"/>
                <a:ea typeface="DejaVu Sans"/>
                <a:cs typeface="DejaVu Sans"/>
              </a:defRPr>
            </a:lvl2pPr>
            <a:lvl3pPr>
              <a:defRPr sz="1800" b="0">
                <a:solidFill>
                  <a:srgbClr val="B6C3D8"/>
                </a:solidFill>
                <a:latin typeface="DejaVu Sans"/>
                <a:ea typeface="DejaVu Sans"/>
                <a:cs typeface="DejaVu Sans"/>
              </a:defRPr>
            </a:lvl3pPr>
            <a:lvl4pPr>
              <a:defRPr sz="1800" b="0">
                <a:solidFill>
                  <a:srgbClr val="B6C3D8"/>
                </a:solidFill>
                <a:latin typeface="DejaVu Sans"/>
                <a:ea typeface="DejaVu Sans"/>
                <a:cs typeface="DejaVu Sans"/>
              </a:defRPr>
            </a:lvl4pPr>
            <a:lvl5pPr>
              <a:defRPr sz="1800" b="0">
                <a:solidFill>
                  <a:srgbClr val="B6C3D8"/>
                </a:solidFill>
                <a:latin typeface="DejaVu Sans"/>
                <a:ea typeface="DejaVu Sans"/>
                <a:cs typeface="DejaVu Sans"/>
              </a:defRPr>
            </a:lvl5pPr>
            <a:lvl6pPr>
              <a:defRPr sz="1800" b="0">
                <a:solidFill>
                  <a:srgbClr val="B6C3D8"/>
                </a:solidFill>
                <a:latin typeface="DejaVu Sans"/>
                <a:ea typeface="DejaVu Sans"/>
                <a:cs typeface="DejaVu Sans"/>
              </a:defRPr>
            </a:lvl6pPr>
            <a:lvl7pPr>
              <a:defRPr sz="1800" b="0">
                <a:solidFill>
                  <a:srgbClr val="B6C3D8"/>
                </a:solidFill>
                <a:latin typeface="DejaVu Sans"/>
                <a:ea typeface="DejaVu Sans"/>
                <a:cs typeface="DejaVu Sans"/>
              </a:defRPr>
            </a:lvl7pPr>
            <a:lvl8pPr>
              <a:defRPr sz="1800" b="0">
                <a:solidFill>
                  <a:srgbClr val="B6C3D8"/>
                </a:solidFill>
                <a:latin typeface="DejaVu Sans"/>
                <a:ea typeface="DejaVu Sans"/>
                <a:cs typeface="DejaVu Sans"/>
              </a:defRPr>
            </a:lvl8pPr>
            <a:lvl9pPr>
              <a:defRPr sz="1800" b="0">
                <a:solidFill>
                  <a:srgbClr val="B6C3D8"/>
                </a:solidFill>
                <a:latin typeface="DejaVu Sans"/>
                <a:ea typeface="DejaVu Sans"/>
                <a:cs typeface="DejaVu Sans"/>
              </a:defRPr>
            </a:lvl9pPr>
          </a:lstStyle>
          <a:p>
            <a:pPr>
              <a:defRPr sz="1800" b="0">
                <a:solidFill>
                  <a:srgbClr val="B6C3D8"/>
                </a:solidFill>
                <a:latin typeface="DejaVu Sans"/>
                <a:ea typeface="DejaVu Sans"/>
                <a:cs typeface="DejaVu Sans"/>
              </a:defRPr>
            </a:pPr>
            <a:r>
              <a:rPr sz="1800" b="0">
                <a:solidFill>
                  <a:srgbClr val="B6C3D8"/>
                </a:solidFill>
                <a:latin typeface="DejaVu Sans"/>
                <a:ea typeface="DejaVu Sans"/>
                <a:cs typeface="DejaVu Sans"/>
              </a:rPr>
              <a:t>Torque-free rotation, distinct moments, small disturbances.</a:t>
            </a:r>
          </a:p>
        </p:txBody>
      </p:sp>
    </p:spTree>
    <p:extLst>
      <p:ext uri="{BB962C8B-B14F-4D97-AF65-F5344CB8AC3E}">
        <p14:creationId xmlns:p14="http://schemas.microsoft.com/office/powerpoint/2010/main" val="11588307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TotalTime>
  <Words>2696</Words>
  <Application>Microsoft Macintosh PowerPoint</Application>
  <DocSecurity>0</DocSecurity>
  <PresentationFormat>Widescreen</PresentationFormat>
  <Paragraphs>174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DejaVu Sans</vt: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Kim Nielsen</cp:lastModifiedBy>
  <cp:revision>11</cp:revision>
  <dcterms:created xsi:type="dcterms:W3CDTF">2026-10-28T19:17:14Z</dcterms:created>
  <dcterms:modified xsi:type="dcterms:W3CDTF">2026-10-29T02:24:30Z</dcterms:modified>
</cp:coreProperties>
</file>