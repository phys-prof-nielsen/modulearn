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40"/>
    <p:restoredTop sz="94630"/>
  </p:normalViewPr>
  <p:slideViewPr>
    <p:cSldViewPr snapToGrid="0">
      <p:cViewPr varScale="1">
        <p:scale>
          <a:sx n="153" d="100"/>
          <a:sy n="153" d="100"/>
        </p:scale>
        <p:origin x="184" y="10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B1.2 Kinetic Energy in Rotational Dynamics course PDF. Introduce how the mass distribution and rotation direction determine energy.</a:t>
            </a:r>
          </a:p>
          <a:p>
            <a:r>
              <a:t>Artwork: AI-generated decorative background, not a physical diagram.</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B1.2 Kinetic Energy in Rotational Dynamics course PDF. Ask students to compare a rod spinning about its long axis with rotation about an axis through its center perpendicular to its length. Hold angular speed fixed.</a:t>
            </a:r>
          </a:p>
          <a:p>
            <a:r>
              <a:t>Artwork: AI-generated decorative background, not a physical diagram.</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B1.2 Kinetic Energy in Rotational Dynamics course PDF. Use a fixed point O in an inertial frame for pure rotation. Alternatively, positions and velocities may be relative to the center of mass.</a:t>
            </a:r>
          </a:p>
          <a:p>
            <a:r>
              <a:t>Artwork: AI-generated decorative background, not a physical diagram.</a:t>
            </a:r>
          </a:p>
          <a:p>
            <a:endParaRPr/>
          </a:p>
          <a:p>
            <a:br/>
            <a:r>
              <a:t>LaTeX equation:</a:t>
            </a:r>
            <a:br/>
            <a:r>
              <a:t>\mathbf{v}_i=\boldsymbol{\omega}\times\mathbf{r}_i</a:t>
            </a:r>
            <a:br/>
            <a:endParaRPr/>
          </a:p>
          <a:p>
            <a:br/>
            <a:r>
              <a:t>LaTeX equation:</a:t>
            </a:r>
            <a:br/>
            <a:r>
              <a:t>T=\frac{1}{2}\sum_i m_i\left|\boldsymbol{\omega}\times\mathbf{r}_i\right|^2</a:t>
            </a:r>
            <a:b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B1.2 Kinetic Energy in Rotational Dynamics course PDF. Derive from the cross product identity. The tensor components shown use the convention Ixy = −Σ mxy. Replace sums by integrals for a continuous body.</a:t>
            </a:r>
          </a:p>
          <a:p>
            <a:r>
              <a:t>Artwork: AI-generated decorative background, not a physical diagram.</a:t>
            </a:r>
          </a:p>
          <a:p>
            <a:endParaRPr/>
          </a:p>
          <a:p>
            <a:br/>
            <a:r>
              <a:t>LaTeX equation:</a:t>
            </a:r>
            <a:br/>
            <a:r>
              <a:t>|\boldsymbol{\omega}\times\mathbf{r}|^2=\omega^2r^2-(\boldsymbol{\omega}\cdot\mathbf{r})^2</a:t>
            </a:r>
            <a:br/>
            <a:endParaRPr/>
          </a:p>
          <a:p>
            <a:br/>
            <a:r>
              <a:t>LaTeX equation:</a:t>
            </a:r>
            <a:br/>
            <a:r>
              <a:t>I_{ab}=\sum_i m_i(r_i^2\delta_{ab}-r_{ia}r_{ib})</a:t>
            </a:r>
            <a:b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B1.2 Kinetic Energy in Rotational Dynamics course PDF. I is symmetric, so the off-diagonal terms occur twice inside one half omega transpose I omega. Energy is a scalar and is independent of the coordinate basis.</a:t>
            </a:r>
          </a:p>
          <a:p>
            <a:r>
              <a:t>Artwork: AI-generated decorative background, not a physical diagram.</a:t>
            </a:r>
          </a:p>
          <a:p>
            <a:endParaRPr/>
          </a:p>
          <a:p>
            <a:br/>
            <a:r>
              <a:t>LaTeX equation:</a:t>
            </a:r>
            <a:br/>
            <a:r>
              <a:t>T=\frac{1}{2}\boldsymbol{\omega}^{T}\mathbf{I}\boldsymbol{\omega}</a:t>
            </a:r>
            <a:br/>
            <a:endParaRPr/>
          </a:p>
          <a:p>
            <a:br/>
            <a:r>
              <a:t>LaTeX equation:</a:t>
            </a:r>
            <a:br/>
            <a:r>
              <a:t>T=\frac{1}{2}(I_{xx}\omega_x^2+I_{yy}\omega_y^2+I_{zz}\omega_z^2)+I_{xy}\omega_x\omega_y+I_{xz}\omega_x\omega_z+I_{yz}\omega_y\omega_z</a:t>
            </a:r>
            <a:b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B1.2 Kinetic Energy in Rotational Dynamics course PDF. A principal-axis basis diagonalizes the symmetric inertia tensor. The angular velocity may still have all three components. A diagonal tensor does not require rotation about only one principal axis.</a:t>
            </a:r>
          </a:p>
          <a:p>
            <a:r>
              <a:t>Artwork: AI-generated decorative background, not a physical diagram.</a:t>
            </a:r>
          </a:p>
          <a:p>
            <a:endParaRPr/>
          </a:p>
          <a:p>
            <a:br/>
            <a:r>
              <a:t>LaTeX equation:</a:t>
            </a:r>
            <a:br/>
            <a:r>
              <a:t>T=\frac{1}{2}(I_1\omega_1^2+I_2\omega_2^2+I_3\omega_3^2)</a:t>
            </a:r>
            <a:b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B1.2 Kinetic Energy in Rotational Dynamics course PDF. This scalar reduction is valid for pure instantaneous rotation about any specified axis through the chosen origin. For nonprincipal axes, angular momentum need not be parallel to angular velocity.</a:t>
            </a:r>
          </a:p>
          <a:p>
            <a:r>
              <a:t>Artwork: AI-generated decorative background, not a physical diagram.</a:t>
            </a:r>
          </a:p>
          <a:p>
            <a:endParaRPr/>
          </a:p>
          <a:p>
            <a:br/>
            <a:r>
              <a:t>LaTeX equation:</a:t>
            </a:r>
            <a:br/>
            <a:r>
              <a:t>\boldsymbol{\omega}=\omega\hat{\mathbf{n}}\qquad I_{\hat n}=\hat{\mathbf{n}}^{T}\mathbf{I}\hat{\mathbf{n}}</a:t>
            </a:r>
            <a:br/>
            <a:endParaRPr/>
          </a:p>
          <a:p>
            <a:br/>
            <a:r>
              <a:t>LaTeX equation:</a:t>
            </a:r>
            <a:br/>
            <a:r>
              <a:t>T=\frac{1}{2}I_{\hat n}\omega^2</a:t>
            </a:r>
            <a:b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B1.2 Kinetic Energy in Rotational Dynamics course PDF. L and omega must refer to the same origin and frame as I. The dot product includes the angle between them. In general, L is not parallel to omega.</a:t>
            </a:r>
          </a:p>
          <a:p>
            <a:r>
              <a:t>Artwork: AI-generated decorative background, not a physical diagram.</a:t>
            </a:r>
          </a:p>
          <a:p>
            <a:endParaRPr/>
          </a:p>
          <a:p>
            <a:br/>
            <a:r>
              <a:t>LaTeX equation:</a:t>
            </a:r>
            <a:br/>
            <a:r>
              <a:t>\mathbf{L}=\mathbf{I}\boldsymbol{\omega}\qquad T=\frac{1}{2}\boldsymbol{\omega}\cdot\mathbf{L}</a:t>
            </a:r>
            <a:br/>
            <a:endParaRPr/>
          </a:p>
          <a:p>
            <a:br/>
            <a:r>
              <a:t>LaTeX equation:</a:t>
            </a:r>
            <a:br/>
            <a:r>
              <a:t>T=\frac12\omega L\cos\theta</a:t>
            </a:r>
            <a:b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B1.2 Kinetic Energy in Rotational Dynamics course PDF. For general rigid-body motion, use the center-of-mass decomposition. No cross term survives because Σ m r relative to the center of mass equals zero.</a:t>
            </a:r>
          </a:p>
          <a:p>
            <a:r>
              <a:t>Artwork: AI-generated decorative background, not a physical diagram.</a:t>
            </a:r>
          </a:p>
          <a:p>
            <a:endParaRPr/>
          </a:p>
          <a:p>
            <a:br/>
            <a:r>
              <a:t>LaTeX equation:</a:t>
            </a:r>
            <a:br/>
            <a:r>
              <a:t>T=\frac{1}{2}Mv_{\mathrm{CM}}^2+\frac{1}{2}\boldsymbol{\omega}^{T}\mathbf{I}_{\mathrm{CM}}\boldsymbol{\omega}</a:t>
            </a:r>
            <a:b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B1.2 Kinetic Energy in Rotational Dynamics course PDF. Box 1. Uniform thin rod, axis through one end and perpendicular to its length. Derive I = integral from 0 to ell of x²(M/ell) dx. At the same omega this energy is four times the energy for a parallel axis through the center.</a:t>
            </a:r>
          </a:p>
          <a:p>
            <a:r>
              <a:t>Artwork: AI-generated decorative background, not a physical diagram.</a:t>
            </a:r>
          </a:p>
          <a:p>
            <a:endParaRPr/>
          </a:p>
          <a:p>
            <a:br/>
            <a:r>
              <a:t>LaTeX equation:</a:t>
            </a:r>
            <a:br/>
            <a:r>
              <a:t>I_{\mathrm{end}}=\frac{1}{3}M\ell^2\qquad T=\frac{1}{6}M\ell^2\omega^2</a:t>
            </a:r>
            <a:b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B1.2 Kinetic Energy in Rotational Dynamics course PDF. Box 2. Pause before advancing. Ask students to calculate L, compute T in two ways, and decide whether omega and L are parallel.</a:t>
            </a:r>
          </a:p>
          <a:p>
            <a:r>
              <a:t>Artwork: AI-generated decorative background, not a physical diagram.</a:t>
            </a:r>
          </a:p>
          <a:p>
            <a:endParaRPr/>
          </a:p>
          <a:p>
            <a:br/>
            <a:r>
              <a:t>LaTeX equation:</a:t>
            </a:r>
            <a:br/>
            <a:r>
              <a:t>\mathbf{I}=\mathrm{diag}(3,2,1)\ \mathrm{kg\,m^2}\qquad\boldsymbol{\omega}=(1,2,3)\ \mathrm{rad/s}</a:t>
            </a:r>
            <a:b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B1.2 Kinetic Energy in Rotational Dynamics course PDF. Clarification to Box 3: compare orientations of a fixed rigid body at fixed angular momentum vector in space, equivalently fixed magnitude with variable direction in body coordinates. A fixed tensor and a fully specified L in the same coordinates uniquely determine omega, leaving no minimization.</a:t>
            </a:r>
          </a:p>
          <a:p>
            <a:r>
              <a:t>Artwork: AI-generated decorative background, not a physical diagram.</a:t>
            </a:r>
          </a:p>
          <a:p>
            <a:endParaRPr/>
          </a:p>
          <a:p>
            <a:br/>
            <a:r>
              <a:t>LaTeX equation:</a:t>
            </a:r>
            <a:br/>
            <a:r>
              <a:t>T=\frac{1}{2}I_{\hat n}\omega^2</a:t>
            </a:r>
            <a:br/>
            <a:endParaRPr/>
          </a:p>
          <a:p>
            <a:br/>
            <a:r>
              <a:t>LaTeX equation:</a:t>
            </a:r>
            <a:br/>
            <a:r>
              <a:t>T=\frac{L^2}{2I_k}</a:t>
            </a:r>
            <a:b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B1.2 Kinetic Energy in Rotational Dynamics course PDF. For positive definite inertia and fixed |L|, the Rayleigh quotient gives the bounds. Equality at Imax minimizes energy. Other principal axes are stationary directions, not all minima. For torque-free ideal motion both T and L are conserved, so a body does not spontaneously relax to the minimum.</a:t>
            </a:r>
          </a:p>
          <a:p>
            <a:r>
              <a:t>Artwork: AI-generated decorative background, not a physical diagram.</a:t>
            </a:r>
          </a:p>
          <a:p>
            <a:endParaRPr/>
          </a:p>
          <a:p>
            <a:br/>
            <a:r>
              <a:t>LaTeX equation:</a:t>
            </a:r>
            <a:br/>
            <a:r>
              <a:t>T=\frac{1}{2}\mathbf{L}^{T}\mathbf{I}^{-1}\mathbf{L}=\frac{1}{2}\sum_k\frac{L_k^2}{I_k}</a:t>
            </a:r>
            <a:br/>
            <a:endParaRPr/>
          </a:p>
          <a:p>
            <a:br/>
            <a:r>
              <a:t>LaTeX equation:</a:t>
            </a:r>
            <a:br/>
            <a:r>
              <a:t>\frac{L^2}{2I_{\max}}\leq T\leq\frac{L^2}{2I_{\min}}</a:t>
            </a:r>
            <a:b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B1.2 Kinetic Energy in Rotational Dynamics course PDF. Illustrative reconstruction consistent with the PDF’s reported I=8 identity and T=16 output. Six masses, each 2 kg, at ±1 m on each coordinate axis. The PDF does not expose the Python source. Units are SI.</a:t>
            </a:r>
          </a:p>
          <a:p>
            <a:r>
              <a:t>Artwork: AI-generated decorative background, not a physical diagram.</a:t>
            </a:r>
          </a:p>
          <a:p>
            <a:endParaRPr/>
          </a:p>
          <a:p>
            <a:br/>
            <a:r>
              <a:t>LaTeX equation:</a:t>
            </a:r>
            <a:br/>
            <a:r>
              <a:t>\mathbf I=8\mathbf1\ \mathrm{kg\,m^2}\qquad\boldsymbol\omega=(0,0,2)\ \mathrm{rad/s}</a:t>
            </a:r>
            <a:br/>
            <a:endParaRPr/>
          </a:p>
          <a:p>
            <a:br/>
            <a:r>
              <a:t>LaTeX equation:</a:t>
            </a:r>
            <a:br/>
            <a:r>
              <a:t>T=16\ \mathrm{J}</a:t>
            </a:r>
            <a:b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B1.2 Kinetic Energy in Rotational Dynamics course PDF. Exit prompt: explain why the same rigid body can have different kinetic energies at the same angular speed. Then ask which principal axis minimizes energy at fixed |L|.</a:t>
            </a:r>
          </a:p>
          <a:p>
            <a:r>
              <a:t>Artwork: AI-generated decorative background, not a physical diagram.</a:t>
            </a:r>
          </a:p>
          <a:p>
            <a:endParaRPr/>
          </a:p>
          <a:p>
            <a:br/>
            <a:r>
              <a:t>LaTeX equation:</a:t>
            </a:r>
            <a:br/>
            <a:r>
              <a:t>T=\frac{1}{2}\boldsymbol{\omega}^{T}\mathbf{I}\boldsymbol{\omega}</a:t>
            </a:r>
            <a:br/>
            <a:endParaRPr/>
          </a:p>
          <a:p>
            <a:br/>
            <a:r>
              <a:t>LaTeX equation:</a:t>
            </a:r>
            <a:br/>
            <a:r>
              <a:t>\mathbf{L}=\mathbf{I}\boldsymbol{\omega}\qquad T=\frac{1}{2}\boldsymbol{\omega}\cdot\mathbf{L}</a:t>
            </a:r>
            <a:b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5B71B92-366F-42B3-AFA5-0DA54DC6052D}"/>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C12BCB00-43A7-49F4-B02B-579E70C83DB2}"/>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120E4AF3-BD1C-49BA-8433-D0AE8BEA9634}"/>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3FC3043-EC3C-4143-A4AF-0FDA2A20047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8EA1F63C-75FA-4B18-93ED-4CDA3BB3B182}"/>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2E7FEBF2-0D4C-448C-8446-DE7568355A8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286F9A63-E86B-424F-BD89-69FE0300F10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7D9BBF94-4BA8-4974-80A7-19DCDA3569AE}"/>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AD476B9-5B14-43A5-8DF3-C3199B3C9B4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7B50B94F-7922-4F09-803C-6824572704E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3.gif"/><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image" Target="../media/image20.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467C096-C88D-4FA0-8F39-A3E00DD47CC7}"/>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0F327F24-BB70-4AED-8DD6-E62094C02C54}"/>
              </a:ext>
            </a:extLst>
          </p:cNvPr>
          <p:cNvSpPr>
            <a:spLocks noGrp="1"/>
          </p:cNvSpPr>
          <p:nvPr/>
        </p:nvSpPr>
        <p:spPr>
          <a:xfrm>
            <a:off x="0" y="0"/>
            <a:ext cx="6953250" cy="6858000"/>
          </a:xfrm>
          <a:prstGeom prst="rect">
            <a:avLst/>
          </a:prstGeom>
          <a:gradFill>
            <a:gsLst>
              <a:gs pos="0">
                <a:srgbClr val="030817">
                  <a:alpha val="0"/>
                </a:srgbClr>
              </a:gs>
              <a:gs pos="90000">
                <a:srgbClr val="030817">
                  <a:alpha val="78000"/>
                </a:srgbClr>
              </a:gs>
            </a:gsLst>
            <a:lin ang="0"/>
          </a:gradFill>
          <a:ln w="0">
            <a:noFill/>
            <a:prstDash val="solid"/>
          </a:ln>
        </p:spPr>
        <p:txBody>
          <a:bodyPr/>
          <a:lstStyle/>
          <a:p>
            <a:endParaRPr lang="en-US"/>
          </a:p>
        </p:txBody>
      </p:sp>
      <p:sp>
        <p:nvSpPr>
          <p:cNvPr id="3" name="Rectangle 2">
            <a:extLst>
              <a:ext uri="{FF2B5EF4-FFF2-40B4-BE49-F238E27FC236}">
                <a16:creationId xmlns:a16="http://schemas.microsoft.com/office/drawing/2014/main" id="{D59BD5B7-B392-4847-B64C-64ACF87635FB}"/>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138D5F42-D2E7-4D60-8613-5D1A39CA58FD}"/>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B1.2  /  ROTATIONAL ENERGY</a:t>
            </a:r>
          </a:p>
        </p:txBody>
      </p:sp>
      <p:sp>
        <p:nvSpPr>
          <p:cNvPr id="5" name="Rectangle 4">
            <a:extLst>
              <a:ext uri="{FF2B5EF4-FFF2-40B4-BE49-F238E27FC236}">
                <a16:creationId xmlns:a16="http://schemas.microsoft.com/office/drawing/2014/main" id="{0481ACBF-387D-440B-A361-4605ED217B81}"/>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01</a:t>
            </a:r>
          </a:p>
        </p:txBody>
      </p:sp>
      <p:sp>
        <p:nvSpPr>
          <p:cNvPr id="6" name="Rectangle 5">
            <a:extLst>
              <a:ext uri="{FF2B5EF4-FFF2-40B4-BE49-F238E27FC236}">
                <a16:creationId xmlns:a16="http://schemas.microsoft.com/office/drawing/2014/main" id="{F6EFF146-0BD9-4426-BD7B-59A596E84F66}"/>
              </a:ext>
            </a:extLst>
          </p:cNvPr>
          <p:cNvSpPr>
            <a:spLocks noGrp="1"/>
          </p:cNvSpPr>
          <p:nvPr/>
        </p:nvSpPr>
        <p:spPr>
          <a:xfrm>
            <a:off x="609600" y="1676400"/>
            <a:ext cx="6858000" cy="1952625"/>
          </a:xfrm>
          <a:prstGeom prst="rect">
            <a:avLst/>
          </a:prstGeom>
          <a:noFill/>
          <a:ln w="0">
            <a:noFill/>
            <a:prstDash val="solid"/>
          </a:ln>
        </p:spPr>
        <p:txBody>
          <a:bodyPr/>
          <a:lstStyle>
            <a:defPPr>
              <a:defRPr sz="5850" b="1">
                <a:solidFill>
                  <a:srgbClr val="F6F7FF"/>
                </a:solidFill>
                <a:latin typeface="DejaVu Sans"/>
                <a:ea typeface="DejaVu Sans"/>
                <a:cs typeface="DejaVu Sans"/>
              </a:defRPr>
            </a:defPPr>
            <a:lvl1pPr>
              <a:defRPr sz="5850" b="1">
                <a:solidFill>
                  <a:srgbClr val="F6F7FF"/>
                </a:solidFill>
                <a:latin typeface="DejaVu Sans"/>
                <a:ea typeface="DejaVu Sans"/>
                <a:cs typeface="DejaVu Sans"/>
              </a:defRPr>
            </a:lvl1pPr>
            <a:lvl2pPr>
              <a:defRPr sz="5850" b="1">
                <a:solidFill>
                  <a:srgbClr val="F6F7FF"/>
                </a:solidFill>
                <a:latin typeface="DejaVu Sans"/>
                <a:ea typeface="DejaVu Sans"/>
                <a:cs typeface="DejaVu Sans"/>
              </a:defRPr>
            </a:lvl2pPr>
            <a:lvl3pPr>
              <a:defRPr sz="5850" b="1">
                <a:solidFill>
                  <a:srgbClr val="F6F7FF"/>
                </a:solidFill>
                <a:latin typeface="DejaVu Sans"/>
                <a:ea typeface="DejaVu Sans"/>
                <a:cs typeface="DejaVu Sans"/>
              </a:defRPr>
            </a:lvl3pPr>
            <a:lvl4pPr>
              <a:defRPr sz="5850" b="1">
                <a:solidFill>
                  <a:srgbClr val="F6F7FF"/>
                </a:solidFill>
                <a:latin typeface="DejaVu Sans"/>
                <a:ea typeface="DejaVu Sans"/>
                <a:cs typeface="DejaVu Sans"/>
              </a:defRPr>
            </a:lvl4pPr>
            <a:lvl5pPr>
              <a:defRPr sz="5850" b="1">
                <a:solidFill>
                  <a:srgbClr val="F6F7FF"/>
                </a:solidFill>
                <a:latin typeface="DejaVu Sans"/>
                <a:ea typeface="DejaVu Sans"/>
                <a:cs typeface="DejaVu Sans"/>
              </a:defRPr>
            </a:lvl5pPr>
            <a:lvl6pPr>
              <a:defRPr sz="5850" b="1">
                <a:solidFill>
                  <a:srgbClr val="F6F7FF"/>
                </a:solidFill>
                <a:latin typeface="DejaVu Sans"/>
                <a:ea typeface="DejaVu Sans"/>
                <a:cs typeface="DejaVu Sans"/>
              </a:defRPr>
            </a:lvl6pPr>
            <a:lvl7pPr>
              <a:defRPr sz="5850" b="1">
                <a:solidFill>
                  <a:srgbClr val="F6F7FF"/>
                </a:solidFill>
                <a:latin typeface="DejaVu Sans"/>
                <a:ea typeface="DejaVu Sans"/>
                <a:cs typeface="DejaVu Sans"/>
              </a:defRPr>
            </a:lvl7pPr>
            <a:lvl8pPr>
              <a:defRPr sz="5850" b="1">
                <a:solidFill>
                  <a:srgbClr val="F6F7FF"/>
                </a:solidFill>
                <a:latin typeface="DejaVu Sans"/>
                <a:ea typeface="DejaVu Sans"/>
                <a:cs typeface="DejaVu Sans"/>
              </a:defRPr>
            </a:lvl8pPr>
            <a:lvl9pPr>
              <a:defRPr sz="5850" b="1">
                <a:solidFill>
                  <a:srgbClr val="F6F7FF"/>
                </a:solidFill>
                <a:latin typeface="DejaVu Sans"/>
                <a:ea typeface="DejaVu Sans"/>
                <a:cs typeface="DejaVu Sans"/>
              </a:defRPr>
            </a:lvl9pPr>
          </a:lstStyle>
          <a:p>
            <a:pPr>
              <a:defRPr sz="5850" b="1">
                <a:solidFill>
                  <a:srgbClr val="F6F7FF"/>
                </a:solidFill>
                <a:latin typeface="DejaVu Sans"/>
                <a:ea typeface="DejaVu Sans"/>
                <a:cs typeface="DejaVu Sans"/>
              </a:defRPr>
            </a:pPr>
            <a:r>
              <a:rPr sz="5850" b="1">
                <a:solidFill>
                  <a:srgbClr val="F6F7FF"/>
                </a:solidFill>
                <a:latin typeface="DejaVu Sans"/>
                <a:ea typeface="DejaVu Sans"/>
                <a:cs typeface="DejaVu Sans"/>
              </a:rPr>
              <a:t>ROTATIONAL</a:t>
            </a:r>
          </a:p>
          <a:p>
            <a:pPr>
              <a:defRPr sz="5850" b="1">
                <a:solidFill>
                  <a:srgbClr val="F6F7FF"/>
                </a:solidFill>
                <a:latin typeface="DejaVu Sans"/>
                <a:ea typeface="DejaVu Sans"/>
                <a:cs typeface="DejaVu Sans"/>
              </a:defRPr>
            </a:pPr>
            <a:r>
              <a:rPr sz="5850" b="1">
                <a:solidFill>
                  <a:srgbClr val="F6F7FF"/>
                </a:solidFill>
                <a:latin typeface="DejaVu Sans"/>
                <a:ea typeface="DejaVu Sans"/>
                <a:cs typeface="DejaVu Sans"/>
              </a:rPr>
              <a:t>ENERGY</a:t>
            </a:r>
          </a:p>
        </p:txBody>
      </p:sp>
      <p:sp>
        <p:nvSpPr>
          <p:cNvPr id="7" name="Rectangle 6">
            <a:extLst>
              <a:ext uri="{FF2B5EF4-FFF2-40B4-BE49-F238E27FC236}">
                <a16:creationId xmlns:a16="http://schemas.microsoft.com/office/drawing/2014/main" id="{7E1798A2-6484-49EC-9F5D-B35A9C541736}"/>
              </a:ext>
            </a:extLst>
          </p:cNvPr>
          <p:cNvSpPr>
            <a:spLocks noGrp="1"/>
          </p:cNvSpPr>
          <p:nvPr/>
        </p:nvSpPr>
        <p:spPr>
          <a:xfrm>
            <a:off x="657225" y="3933825"/>
            <a:ext cx="6381750" cy="571500"/>
          </a:xfrm>
          <a:prstGeom prst="rect">
            <a:avLst/>
          </a:prstGeom>
          <a:noFill/>
          <a:ln w="0">
            <a:noFill/>
            <a:prstDash val="solid"/>
          </a:ln>
        </p:spPr>
        <p:txBody>
          <a:bodyPr/>
          <a:lstStyle>
            <a:defPPr>
              <a:defRPr sz="2100" b="0">
                <a:solidFill>
                  <a:srgbClr val="55F3D2"/>
                </a:solidFill>
                <a:latin typeface="DejaVu Sans"/>
                <a:ea typeface="DejaVu Sans"/>
                <a:cs typeface="DejaVu Sans"/>
              </a:defRPr>
            </a:defPPr>
            <a:lvl1pPr>
              <a:defRPr sz="2100" b="0">
                <a:solidFill>
                  <a:srgbClr val="55F3D2"/>
                </a:solidFill>
                <a:latin typeface="DejaVu Sans"/>
                <a:ea typeface="DejaVu Sans"/>
                <a:cs typeface="DejaVu Sans"/>
              </a:defRPr>
            </a:lvl1pPr>
            <a:lvl2pPr>
              <a:defRPr sz="2100" b="0">
                <a:solidFill>
                  <a:srgbClr val="55F3D2"/>
                </a:solidFill>
                <a:latin typeface="DejaVu Sans"/>
                <a:ea typeface="DejaVu Sans"/>
                <a:cs typeface="DejaVu Sans"/>
              </a:defRPr>
            </a:lvl2pPr>
            <a:lvl3pPr>
              <a:defRPr sz="2100" b="0">
                <a:solidFill>
                  <a:srgbClr val="55F3D2"/>
                </a:solidFill>
                <a:latin typeface="DejaVu Sans"/>
                <a:ea typeface="DejaVu Sans"/>
                <a:cs typeface="DejaVu Sans"/>
              </a:defRPr>
            </a:lvl3pPr>
            <a:lvl4pPr>
              <a:defRPr sz="2100" b="0">
                <a:solidFill>
                  <a:srgbClr val="55F3D2"/>
                </a:solidFill>
                <a:latin typeface="DejaVu Sans"/>
                <a:ea typeface="DejaVu Sans"/>
                <a:cs typeface="DejaVu Sans"/>
              </a:defRPr>
            </a:lvl4pPr>
            <a:lvl5pPr>
              <a:defRPr sz="2100" b="0">
                <a:solidFill>
                  <a:srgbClr val="55F3D2"/>
                </a:solidFill>
                <a:latin typeface="DejaVu Sans"/>
                <a:ea typeface="DejaVu Sans"/>
                <a:cs typeface="DejaVu Sans"/>
              </a:defRPr>
            </a:lvl5pPr>
            <a:lvl6pPr>
              <a:defRPr sz="2100" b="0">
                <a:solidFill>
                  <a:srgbClr val="55F3D2"/>
                </a:solidFill>
                <a:latin typeface="DejaVu Sans"/>
                <a:ea typeface="DejaVu Sans"/>
                <a:cs typeface="DejaVu Sans"/>
              </a:defRPr>
            </a:lvl6pPr>
            <a:lvl7pPr>
              <a:defRPr sz="2100" b="0">
                <a:solidFill>
                  <a:srgbClr val="55F3D2"/>
                </a:solidFill>
                <a:latin typeface="DejaVu Sans"/>
                <a:ea typeface="DejaVu Sans"/>
                <a:cs typeface="DejaVu Sans"/>
              </a:defRPr>
            </a:lvl7pPr>
            <a:lvl8pPr>
              <a:defRPr sz="2100" b="0">
                <a:solidFill>
                  <a:srgbClr val="55F3D2"/>
                </a:solidFill>
                <a:latin typeface="DejaVu Sans"/>
                <a:ea typeface="DejaVu Sans"/>
                <a:cs typeface="DejaVu Sans"/>
              </a:defRPr>
            </a:lvl8pPr>
            <a:lvl9pPr>
              <a:defRPr sz="2100" b="0">
                <a:solidFill>
                  <a:srgbClr val="55F3D2"/>
                </a:solidFill>
                <a:latin typeface="DejaVu Sans"/>
                <a:ea typeface="DejaVu Sans"/>
                <a:cs typeface="DejaVu Sans"/>
              </a:defRPr>
            </a:lvl9pPr>
          </a:lstStyle>
          <a:p>
            <a:pPr>
              <a:defRPr sz="2100" b="0">
                <a:solidFill>
                  <a:srgbClr val="55F3D2"/>
                </a:solidFill>
                <a:latin typeface="DejaVu Sans"/>
                <a:ea typeface="DejaVu Sans"/>
                <a:cs typeface="DejaVu Sans"/>
              </a:defRPr>
            </a:pPr>
            <a:r>
              <a:rPr sz="2100" b="0">
                <a:solidFill>
                  <a:srgbClr val="55F3D2"/>
                </a:solidFill>
                <a:latin typeface="DejaVu Sans"/>
                <a:ea typeface="DejaVu Sans"/>
                <a:cs typeface="DejaVu Sans"/>
              </a:rPr>
              <a:t>The geometry behind kinetic energy</a:t>
            </a:r>
          </a:p>
        </p:txBody>
      </p:sp>
      <p:sp>
        <p:nvSpPr>
          <p:cNvPr id="8" name="Rectangle 7">
            <a:extLst>
              <a:ext uri="{FF2B5EF4-FFF2-40B4-BE49-F238E27FC236}">
                <a16:creationId xmlns:a16="http://schemas.microsoft.com/office/drawing/2014/main" id="{C5B340EE-8E1A-4D80-A765-FE311FF8FD3B}"/>
              </a:ext>
            </a:extLst>
          </p:cNvPr>
          <p:cNvSpPr>
            <a:spLocks noGrp="1"/>
          </p:cNvSpPr>
          <p:nvPr/>
        </p:nvSpPr>
        <p:spPr>
          <a:xfrm>
            <a:off x="657225" y="4838700"/>
            <a:ext cx="5524500" cy="400050"/>
          </a:xfrm>
          <a:prstGeom prst="rect">
            <a:avLst/>
          </a:prstGeom>
          <a:noFill/>
          <a:ln w="0">
            <a:noFill/>
            <a:prstDash val="solid"/>
          </a:ln>
        </p:spPr>
        <p:txBody>
          <a:bodyPr/>
          <a:lstStyle>
            <a:defPPr>
              <a:defRPr sz="1725" b="0">
                <a:solidFill>
                  <a:srgbClr val="B6C3D8"/>
                </a:solidFill>
                <a:latin typeface="DejaVu Sans"/>
                <a:ea typeface="DejaVu Sans"/>
                <a:cs typeface="DejaVu Sans"/>
              </a:defRPr>
            </a:defPPr>
            <a:lvl1pPr>
              <a:defRPr sz="1725" b="0">
                <a:solidFill>
                  <a:srgbClr val="B6C3D8"/>
                </a:solidFill>
                <a:latin typeface="DejaVu Sans"/>
                <a:ea typeface="DejaVu Sans"/>
                <a:cs typeface="DejaVu Sans"/>
              </a:defRPr>
            </a:lvl1pPr>
            <a:lvl2pPr>
              <a:defRPr sz="1725" b="0">
                <a:solidFill>
                  <a:srgbClr val="B6C3D8"/>
                </a:solidFill>
                <a:latin typeface="DejaVu Sans"/>
                <a:ea typeface="DejaVu Sans"/>
                <a:cs typeface="DejaVu Sans"/>
              </a:defRPr>
            </a:lvl2pPr>
            <a:lvl3pPr>
              <a:defRPr sz="1725" b="0">
                <a:solidFill>
                  <a:srgbClr val="B6C3D8"/>
                </a:solidFill>
                <a:latin typeface="DejaVu Sans"/>
                <a:ea typeface="DejaVu Sans"/>
                <a:cs typeface="DejaVu Sans"/>
              </a:defRPr>
            </a:lvl3pPr>
            <a:lvl4pPr>
              <a:defRPr sz="1725" b="0">
                <a:solidFill>
                  <a:srgbClr val="B6C3D8"/>
                </a:solidFill>
                <a:latin typeface="DejaVu Sans"/>
                <a:ea typeface="DejaVu Sans"/>
                <a:cs typeface="DejaVu Sans"/>
              </a:defRPr>
            </a:lvl4pPr>
            <a:lvl5pPr>
              <a:defRPr sz="1725" b="0">
                <a:solidFill>
                  <a:srgbClr val="B6C3D8"/>
                </a:solidFill>
                <a:latin typeface="DejaVu Sans"/>
                <a:ea typeface="DejaVu Sans"/>
                <a:cs typeface="DejaVu Sans"/>
              </a:defRPr>
            </a:lvl5pPr>
            <a:lvl6pPr>
              <a:defRPr sz="1725" b="0">
                <a:solidFill>
                  <a:srgbClr val="B6C3D8"/>
                </a:solidFill>
                <a:latin typeface="DejaVu Sans"/>
                <a:ea typeface="DejaVu Sans"/>
                <a:cs typeface="DejaVu Sans"/>
              </a:defRPr>
            </a:lvl6pPr>
            <a:lvl7pPr>
              <a:defRPr sz="1725" b="0">
                <a:solidFill>
                  <a:srgbClr val="B6C3D8"/>
                </a:solidFill>
                <a:latin typeface="DejaVu Sans"/>
                <a:ea typeface="DejaVu Sans"/>
                <a:cs typeface="DejaVu Sans"/>
              </a:defRPr>
            </a:lvl7pPr>
            <a:lvl8pPr>
              <a:defRPr sz="1725" b="0">
                <a:solidFill>
                  <a:srgbClr val="B6C3D8"/>
                </a:solidFill>
                <a:latin typeface="DejaVu Sans"/>
                <a:ea typeface="DejaVu Sans"/>
                <a:cs typeface="DejaVu Sans"/>
              </a:defRPr>
            </a:lvl8pPr>
            <a:lvl9pPr>
              <a:defRPr sz="1725" b="0">
                <a:solidFill>
                  <a:srgbClr val="B6C3D8"/>
                </a:solidFill>
                <a:latin typeface="DejaVu Sans"/>
                <a:ea typeface="DejaVu Sans"/>
                <a:cs typeface="DejaVu Sans"/>
              </a:defRPr>
            </a:lvl9pPr>
          </a:lstStyle>
          <a:p>
            <a:pPr>
              <a:defRPr sz="1725" b="0">
                <a:solidFill>
                  <a:srgbClr val="B6C3D8"/>
                </a:solidFill>
                <a:latin typeface="DejaVu Sans"/>
                <a:ea typeface="DejaVu Sans"/>
                <a:cs typeface="DejaVu Sans"/>
              </a:defRPr>
            </a:pPr>
            <a:r>
              <a:rPr sz="1725" b="0">
                <a:solidFill>
                  <a:srgbClr val="B6C3D8"/>
                </a:solidFill>
                <a:latin typeface="DejaVu Sans"/>
                <a:ea typeface="DejaVu Sans"/>
                <a:cs typeface="DejaVu Sans"/>
              </a:rPr>
              <a:t>Advanced rotational dynamics</a:t>
            </a:r>
          </a:p>
        </p:txBody>
      </p:sp>
    </p:spTree>
    <p:extLst>
      <p:ext uri="{BB962C8B-B14F-4D97-AF65-F5344CB8AC3E}">
        <p14:creationId xmlns:p14="http://schemas.microsoft.com/office/powerpoint/2010/main" val="1834731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319003C-4FB6-4565-9ECA-F5D79D6F5E72}"/>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5CEE2393-28BB-4833-94BD-946EAF4E2A43}"/>
              </a:ext>
            </a:extLst>
          </p:cNvPr>
          <p:cNvSpPr>
            <a:spLocks noGrp="1"/>
          </p:cNvSpPr>
          <p:nvPr/>
        </p:nvSpPr>
        <p:spPr>
          <a:xfrm>
            <a:off x="0" y="0"/>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BC35C7DC-36A1-4629-9EBB-D53CEB4FF63C}"/>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487F5402-64BE-4F72-82AD-DAFEBA4B481E}"/>
              </a:ext>
            </a:extLst>
          </p:cNvPr>
          <p:cNvSpPr>
            <a:spLocks noGrp="1"/>
          </p:cNvSpPr>
          <p:nvPr/>
        </p:nvSpPr>
        <p:spPr>
          <a:xfrm>
            <a:off x="609600" y="933450"/>
            <a:ext cx="10858500" cy="1000125"/>
          </a:xfrm>
          <a:prstGeom prst="rect">
            <a:avLst/>
          </a:prstGeom>
          <a:noFill/>
          <a:ln w="0">
            <a:noFill/>
            <a:prstDash val="solid"/>
          </a:ln>
        </p:spPr>
        <p:txBody>
          <a:bodyPr/>
          <a:lstStyle>
            <a:defPPr>
              <a:defRPr sz="3225" b="1">
                <a:solidFill>
                  <a:srgbClr val="F6F7FF"/>
                </a:solidFill>
                <a:latin typeface="DejaVu Sans"/>
                <a:ea typeface="DejaVu Sans"/>
                <a:cs typeface="DejaVu Sans"/>
              </a:defRPr>
            </a:defPPr>
            <a:lvl1pPr>
              <a:defRPr sz="3225" b="1">
                <a:solidFill>
                  <a:srgbClr val="F6F7FF"/>
                </a:solidFill>
                <a:latin typeface="DejaVu Sans"/>
                <a:ea typeface="DejaVu Sans"/>
                <a:cs typeface="DejaVu Sans"/>
              </a:defRPr>
            </a:lvl1pPr>
            <a:lvl2pPr>
              <a:defRPr sz="3225" b="1">
                <a:solidFill>
                  <a:srgbClr val="F6F7FF"/>
                </a:solidFill>
                <a:latin typeface="DejaVu Sans"/>
                <a:ea typeface="DejaVu Sans"/>
                <a:cs typeface="DejaVu Sans"/>
              </a:defRPr>
            </a:lvl2pPr>
            <a:lvl3pPr>
              <a:defRPr sz="3225" b="1">
                <a:solidFill>
                  <a:srgbClr val="F6F7FF"/>
                </a:solidFill>
                <a:latin typeface="DejaVu Sans"/>
                <a:ea typeface="DejaVu Sans"/>
                <a:cs typeface="DejaVu Sans"/>
              </a:defRPr>
            </a:lvl3pPr>
            <a:lvl4pPr>
              <a:defRPr sz="3225" b="1">
                <a:solidFill>
                  <a:srgbClr val="F6F7FF"/>
                </a:solidFill>
                <a:latin typeface="DejaVu Sans"/>
                <a:ea typeface="DejaVu Sans"/>
                <a:cs typeface="DejaVu Sans"/>
              </a:defRPr>
            </a:lvl4pPr>
            <a:lvl5pPr>
              <a:defRPr sz="3225" b="1">
                <a:solidFill>
                  <a:srgbClr val="F6F7FF"/>
                </a:solidFill>
                <a:latin typeface="DejaVu Sans"/>
                <a:ea typeface="DejaVu Sans"/>
                <a:cs typeface="DejaVu Sans"/>
              </a:defRPr>
            </a:lvl5pPr>
            <a:lvl6pPr>
              <a:defRPr sz="3225" b="1">
                <a:solidFill>
                  <a:srgbClr val="F6F7FF"/>
                </a:solidFill>
                <a:latin typeface="DejaVu Sans"/>
                <a:ea typeface="DejaVu Sans"/>
                <a:cs typeface="DejaVu Sans"/>
              </a:defRPr>
            </a:lvl6pPr>
            <a:lvl7pPr>
              <a:defRPr sz="3225" b="1">
                <a:solidFill>
                  <a:srgbClr val="F6F7FF"/>
                </a:solidFill>
                <a:latin typeface="DejaVu Sans"/>
                <a:ea typeface="DejaVu Sans"/>
                <a:cs typeface="DejaVu Sans"/>
              </a:defRPr>
            </a:lvl7pPr>
            <a:lvl8pPr>
              <a:defRPr sz="3225" b="1">
                <a:solidFill>
                  <a:srgbClr val="F6F7FF"/>
                </a:solidFill>
                <a:latin typeface="DejaVu Sans"/>
                <a:ea typeface="DejaVu Sans"/>
                <a:cs typeface="DejaVu Sans"/>
              </a:defRPr>
            </a:lvl8pPr>
            <a:lvl9pPr>
              <a:defRPr sz="3225" b="1">
                <a:solidFill>
                  <a:srgbClr val="F6F7FF"/>
                </a:solidFill>
                <a:latin typeface="DejaVu Sans"/>
                <a:ea typeface="DejaVu Sans"/>
                <a:cs typeface="DejaVu Sans"/>
              </a:defRPr>
            </a:lvl9pPr>
          </a:lstStyle>
          <a:p>
            <a:pPr>
              <a:defRPr sz="3225" b="1">
                <a:solidFill>
                  <a:srgbClr val="F6F7FF"/>
                </a:solidFill>
                <a:latin typeface="DejaVu Sans"/>
                <a:ea typeface="DejaVu Sans"/>
                <a:cs typeface="DejaVu Sans"/>
              </a:defRPr>
            </a:pPr>
            <a:r>
              <a:rPr sz="3225" b="1">
                <a:solidFill>
                  <a:srgbClr val="F6F7FF"/>
                </a:solidFill>
                <a:latin typeface="DejaVu Sans"/>
                <a:ea typeface="DejaVu Sans"/>
                <a:cs typeface="DejaVu Sans"/>
              </a:rPr>
              <a:t>The same spin can carry different energy</a:t>
            </a:r>
          </a:p>
        </p:txBody>
      </p:sp>
      <p:sp>
        <p:nvSpPr>
          <p:cNvPr id="5" name="Rectangle 4">
            <a:extLst>
              <a:ext uri="{FF2B5EF4-FFF2-40B4-BE49-F238E27FC236}">
                <a16:creationId xmlns:a16="http://schemas.microsoft.com/office/drawing/2014/main" id="{5DFA855B-AB31-41E4-BB9C-F8DF4315B11A}"/>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B1.2  /  ROTATIONAL ENERGY</a:t>
            </a:r>
          </a:p>
        </p:txBody>
      </p:sp>
      <p:sp>
        <p:nvSpPr>
          <p:cNvPr id="6" name="Rectangle 5">
            <a:extLst>
              <a:ext uri="{FF2B5EF4-FFF2-40B4-BE49-F238E27FC236}">
                <a16:creationId xmlns:a16="http://schemas.microsoft.com/office/drawing/2014/main" id="{DBFE6D31-601B-43DD-8A02-23B7D18CB6C8}"/>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02</a:t>
            </a:r>
          </a:p>
        </p:txBody>
      </p:sp>
      <p:sp>
        <p:nvSpPr>
          <p:cNvPr id="7" name="Rectangle 6">
            <a:extLst>
              <a:ext uri="{FF2B5EF4-FFF2-40B4-BE49-F238E27FC236}">
                <a16:creationId xmlns:a16="http://schemas.microsoft.com/office/drawing/2014/main" id="{BEBD48CC-586A-49A6-8F0C-ED3FF60071C0}"/>
              </a:ext>
            </a:extLst>
          </p:cNvPr>
          <p:cNvSpPr>
            <a:spLocks noGrp="1"/>
          </p:cNvSpPr>
          <p:nvPr/>
        </p:nvSpPr>
        <p:spPr>
          <a:xfrm>
            <a:off x="638175" y="2000250"/>
            <a:ext cx="4332836" cy="857250"/>
          </a:xfrm>
          <a:prstGeom prst="rect">
            <a:avLst/>
          </a:prstGeom>
          <a:noFill/>
          <a:ln w="0">
            <a:noFill/>
            <a:prstDash val="solid"/>
          </a:ln>
        </p:spPr>
        <p:txBody>
          <a:bodyPr/>
          <a:lstStyle>
            <a:defPPr>
              <a:defRPr sz="2475" b="0">
                <a:solidFill>
                  <a:srgbClr val="F6F7FF"/>
                </a:solidFill>
                <a:latin typeface="DejaVu Sans"/>
                <a:ea typeface="DejaVu Sans"/>
                <a:cs typeface="DejaVu Sans"/>
              </a:defRPr>
            </a:defPPr>
            <a:lvl1pPr>
              <a:defRPr sz="2475" b="0">
                <a:solidFill>
                  <a:srgbClr val="F6F7FF"/>
                </a:solidFill>
                <a:latin typeface="DejaVu Sans"/>
                <a:ea typeface="DejaVu Sans"/>
                <a:cs typeface="DejaVu Sans"/>
              </a:defRPr>
            </a:lvl1pPr>
            <a:lvl2pPr>
              <a:defRPr sz="2475" b="0">
                <a:solidFill>
                  <a:srgbClr val="F6F7FF"/>
                </a:solidFill>
                <a:latin typeface="DejaVu Sans"/>
                <a:ea typeface="DejaVu Sans"/>
                <a:cs typeface="DejaVu Sans"/>
              </a:defRPr>
            </a:lvl2pPr>
            <a:lvl3pPr>
              <a:defRPr sz="2475" b="0">
                <a:solidFill>
                  <a:srgbClr val="F6F7FF"/>
                </a:solidFill>
                <a:latin typeface="DejaVu Sans"/>
                <a:ea typeface="DejaVu Sans"/>
                <a:cs typeface="DejaVu Sans"/>
              </a:defRPr>
            </a:lvl3pPr>
            <a:lvl4pPr>
              <a:defRPr sz="2475" b="0">
                <a:solidFill>
                  <a:srgbClr val="F6F7FF"/>
                </a:solidFill>
                <a:latin typeface="DejaVu Sans"/>
                <a:ea typeface="DejaVu Sans"/>
                <a:cs typeface="DejaVu Sans"/>
              </a:defRPr>
            </a:lvl4pPr>
            <a:lvl5pPr>
              <a:defRPr sz="2475" b="0">
                <a:solidFill>
                  <a:srgbClr val="F6F7FF"/>
                </a:solidFill>
                <a:latin typeface="DejaVu Sans"/>
                <a:ea typeface="DejaVu Sans"/>
                <a:cs typeface="DejaVu Sans"/>
              </a:defRPr>
            </a:lvl5pPr>
            <a:lvl6pPr>
              <a:defRPr sz="2475" b="0">
                <a:solidFill>
                  <a:srgbClr val="F6F7FF"/>
                </a:solidFill>
                <a:latin typeface="DejaVu Sans"/>
                <a:ea typeface="DejaVu Sans"/>
                <a:cs typeface="DejaVu Sans"/>
              </a:defRPr>
            </a:lvl6pPr>
            <a:lvl7pPr>
              <a:defRPr sz="2475" b="0">
                <a:solidFill>
                  <a:srgbClr val="F6F7FF"/>
                </a:solidFill>
                <a:latin typeface="DejaVu Sans"/>
                <a:ea typeface="DejaVu Sans"/>
                <a:cs typeface="DejaVu Sans"/>
              </a:defRPr>
            </a:lvl7pPr>
            <a:lvl8pPr>
              <a:defRPr sz="2475" b="0">
                <a:solidFill>
                  <a:srgbClr val="F6F7FF"/>
                </a:solidFill>
                <a:latin typeface="DejaVu Sans"/>
                <a:ea typeface="DejaVu Sans"/>
                <a:cs typeface="DejaVu Sans"/>
              </a:defRPr>
            </a:lvl8pPr>
            <a:lvl9pPr>
              <a:defRPr sz="2475" b="0">
                <a:solidFill>
                  <a:srgbClr val="F6F7FF"/>
                </a:solidFill>
                <a:latin typeface="DejaVu Sans"/>
                <a:ea typeface="DejaVu Sans"/>
                <a:cs typeface="DejaVu Sans"/>
              </a:defRPr>
            </a:lvl9pPr>
          </a:lstStyle>
          <a:p>
            <a:pPr>
              <a:defRPr sz="2475" b="0">
                <a:solidFill>
                  <a:srgbClr val="F6F7FF"/>
                </a:solidFill>
                <a:latin typeface="DejaVu Sans"/>
                <a:ea typeface="DejaVu Sans"/>
                <a:cs typeface="DejaVu Sans"/>
              </a:defRPr>
            </a:pPr>
            <a:r>
              <a:rPr sz="2475" b="0" dirty="0">
                <a:solidFill>
                  <a:srgbClr val="F6F7FF"/>
                </a:solidFill>
                <a:latin typeface="DejaVu Sans"/>
                <a:ea typeface="DejaVu Sans"/>
                <a:cs typeface="DejaVu Sans"/>
              </a:rPr>
              <a:t>Mass farther from the axis moves faster.</a:t>
            </a:r>
          </a:p>
        </p:txBody>
      </p:sp>
      <p:sp>
        <p:nvSpPr>
          <p:cNvPr id="8" name="Rectangle 7">
            <a:extLst>
              <a:ext uri="{FF2B5EF4-FFF2-40B4-BE49-F238E27FC236}">
                <a16:creationId xmlns:a16="http://schemas.microsoft.com/office/drawing/2014/main" id="{0C38D214-02C5-42A9-A3A8-382DD474F808}"/>
              </a:ext>
            </a:extLst>
          </p:cNvPr>
          <p:cNvSpPr>
            <a:spLocks noGrp="1"/>
          </p:cNvSpPr>
          <p:nvPr/>
        </p:nvSpPr>
        <p:spPr>
          <a:xfrm>
            <a:off x="638175" y="3457575"/>
            <a:ext cx="4108392" cy="1190625"/>
          </a:xfrm>
          <a:prstGeom prst="rect">
            <a:avLst/>
          </a:prstGeom>
          <a:noFill/>
          <a:ln w="0">
            <a:noFill/>
            <a:prstDash val="solid"/>
          </a:ln>
        </p:spPr>
        <p:txBody>
          <a:bodyPr/>
          <a:lstStyle>
            <a:defPPr>
              <a:defRPr sz="2100" b="0">
                <a:solidFill>
                  <a:srgbClr val="B6C3D8"/>
                </a:solidFill>
                <a:latin typeface="DejaVu Sans"/>
                <a:ea typeface="DejaVu Sans"/>
                <a:cs typeface="DejaVu Sans"/>
              </a:defRPr>
            </a:defPPr>
            <a:lvl1pPr>
              <a:defRPr sz="2100" b="0">
                <a:solidFill>
                  <a:srgbClr val="B6C3D8"/>
                </a:solidFill>
                <a:latin typeface="DejaVu Sans"/>
                <a:ea typeface="DejaVu Sans"/>
                <a:cs typeface="DejaVu Sans"/>
              </a:defRPr>
            </a:lvl1pPr>
            <a:lvl2pPr>
              <a:defRPr sz="2100" b="0">
                <a:solidFill>
                  <a:srgbClr val="B6C3D8"/>
                </a:solidFill>
                <a:latin typeface="DejaVu Sans"/>
                <a:ea typeface="DejaVu Sans"/>
                <a:cs typeface="DejaVu Sans"/>
              </a:defRPr>
            </a:lvl2pPr>
            <a:lvl3pPr>
              <a:defRPr sz="2100" b="0">
                <a:solidFill>
                  <a:srgbClr val="B6C3D8"/>
                </a:solidFill>
                <a:latin typeface="DejaVu Sans"/>
                <a:ea typeface="DejaVu Sans"/>
                <a:cs typeface="DejaVu Sans"/>
              </a:defRPr>
            </a:lvl3pPr>
            <a:lvl4pPr>
              <a:defRPr sz="2100" b="0">
                <a:solidFill>
                  <a:srgbClr val="B6C3D8"/>
                </a:solidFill>
                <a:latin typeface="DejaVu Sans"/>
                <a:ea typeface="DejaVu Sans"/>
                <a:cs typeface="DejaVu Sans"/>
              </a:defRPr>
            </a:lvl4pPr>
            <a:lvl5pPr>
              <a:defRPr sz="2100" b="0">
                <a:solidFill>
                  <a:srgbClr val="B6C3D8"/>
                </a:solidFill>
                <a:latin typeface="DejaVu Sans"/>
                <a:ea typeface="DejaVu Sans"/>
                <a:cs typeface="DejaVu Sans"/>
              </a:defRPr>
            </a:lvl5pPr>
            <a:lvl6pPr>
              <a:defRPr sz="2100" b="0">
                <a:solidFill>
                  <a:srgbClr val="B6C3D8"/>
                </a:solidFill>
                <a:latin typeface="DejaVu Sans"/>
                <a:ea typeface="DejaVu Sans"/>
                <a:cs typeface="DejaVu Sans"/>
              </a:defRPr>
            </a:lvl6pPr>
            <a:lvl7pPr>
              <a:defRPr sz="2100" b="0">
                <a:solidFill>
                  <a:srgbClr val="B6C3D8"/>
                </a:solidFill>
                <a:latin typeface="DejaVu Sans"/>
                <a:ea typeface="DejaVu Sans"/>
                <a:cs typeface="DejaVu Sans"/>
              </a:defRPr>
            </a:lvl7pPr>
            <a:lvl8pPr>
              <a:defRPr sz="2100" b="0">
                <a:solidFill>
                  <a:srgbClr val="B6C3D8"/>
                </a:solidFill>
                <a:latin typeface="DejaVu Sans"/>
                <a:ea typeface="DejaVu Sans"/>
                <a:cs typeface="DejaVu Sans"/>
              </a:defRPr>
            </a:lvl8pPr>
            <a:lvl9pPr>
              <a:defRPr sz="2100" b="0">
                <a:solidFill>
                  <a:srgbClr val="B6C3D8"/>
                </a:solidFill>
                <a:latin typeface="DejaVu Sans"/>
                <a:ea typeface="DejaVu Sans"/>
                <a:cs typeface="DejaVu Sans"/>
              </a:defRPr>
            </a:lvl9pPr>
          </a:lstStyle>
          <a:p>
            <a:pPr>
              <a:defRPr sz="2100" b="0">
                <a:solidFill>
                  <a:srgbClr val="B6C3D8"/>
                </a:solidFill>
                <a:latin typeface="DejaVu Sans"/>
                <a:ea typeface="DejaVu Sans"/>
                <a:cs typeface="DejaVu Sans"/>
              </a:defRPr>
            </a:pPr>
            <a:r>
              <a:rPr sz="2100" b="0" dirty="0">
                <a:solidFill>
                  <a:srgbClr val="B6C3D8"/>
                </a:solidFill>
                <a:latin typeface="DejaVu Sans"/>
                <a:ea typeface="DejaVu Sans"/>
                <a:cs typeface="DejaVu Sans"/>
              </a:rPr>
              <a:t>At fixed angular speed, moving mass outward raises kinetic energy.</a:t>
            </a:r>
          </a:p>
        </p:txBody>
      </p:sp>
      <p:pic>
        <p:nvPicPr>
          <p:cNvPr id="9" name="Picture 8">
            <a:extLst>
              <a:ext uri="{FF2B5EF4-FFF2-40B4-BE49-F238E27FC236}">
                <a16:creationId xmlns:a16="http://schemas.microsoft.com/office/drawing/2014/main" id="{3D4A4409-0AD8-4A90-BC40-EE3DDA78C5BB}"/>
              </a:ext>
            </a:extLst>
          </p:cNvPr>
          <p:cNvPicPr>
            <a:picLocks noChangeAspect="1"/>
          </p:cNvPicPr>
          <p:nvPr/>
        </p:nvPicPr>
        <p:blipFill>
          <a:blip r:embed="rId4"/>
          <a:stretch/>
        </p:blipFill>
        <p:spPr>
          <a:xfrm>
            <a:off x="3997729" y="1322525"/>
            <a:ext cx="4381500" cy="3190657"/>
          </a:xfrm>
          <a:prstGeom prst="rect">
            <a:avLst/>
          </a:prstGeom>
        </p:spPr>
      </p:pic>
      <p:sp>
        <p:nvSpPr>
          <p:cNvPr id="10" name="Rectangle 9">
            <a:extLst>
              <a:ext uri="{FF2B5EF4-FFF2-40B4-BE49-F238E27FC236}">
                <a16:creationId xmlns:a16="http://schemas.microsoft.com/office/drawing/2014/main" id="{2A66251A-094B-46FF-B0DD-CB4827E65241}"/>
              </a:ext>
            </a:extLst>
          </p:cNvPr>
          <p:cNvSpPr>
            <a:spLocks noGrp="1"/>
          </p:cNvSpPr>
          <p:nvPr/>
        </p:nvSpPr>
        <p:spPr>
          <a:xfrm>
            <a:off x="646488" y="4787611"/>
            <a:ext cx="6311265" cy="523875"/>
          </a:xfrm>
          <a:prstGeom prst="rect">
            <a:avLst/>
          </a:prstGeom>
          <a:noFill/>
          <a:ln w="0">
            <a:noFill/>
            <a:prstDash val="solid"/>
          </a:ln>
        </p:spPr>
        <p:txBody>
          <a:bodyPr/>
          <a:lstStyle>
            <a:defPPr>
              <a:defRPr sz="2550" b="1">
                <a:solidFill>
                  <a:srgbClr val="B5A2FF"/>
                </a:solidFill>
                <a:latin typeface="DejaVu Sans"/>
                <a:ea typeface="DejaVu Sans"/>
                <a:cs typeface="DejaVu Sans"/>
              </a:defRPr>
            </a:defPPr>
            <a:lvl1pPr>
              <a:defRPr sz="2550" b="1">
                <a:solidFill>
                  <a:srgbClr val="B5A2FF"/>
                </a:solidFill>
                <a:latin typeface="DejaVu Sans"/>
                <a:ea typeface="DejaVu Sans"/>
                <a:cs typeface="DejaVu Sans"/>
              </a:defRPr>
            </a:lvl1pPr>
            <a:lvl2pPr>
              <a:defRPr sz="2550" b="1">
                <a:solidFill>
                  <a:srgbClr val="B5A2FF"/>
                </a:solidFill>
                <a:latin typeface="DejaVu Sans"/>
                <a:ea typeface="DejaVu Sans"/>
                <a:cs typeface="DejaVu Sans"/>
              </a:defRPr>
            </a:lvl2pPr>
            <a:lvl3pPr>
              <a:defRPr sz="2550" b="1">
                <a:solidFill>
                  <a:srgbClr val="B5A2FF"/>
                </a:solidFill>
                <a:latin typeface="DejaVu Sans"/>
                <a:ea typeface="DejaVu Sans"/>
                <a:cs typeface="DejaVu Sans"/>
              </a:defRPr>
            </a:lvl3pPr>
            <a:lvl4pPr>
              <a:defRPr sz="2550" b="1">
                <a:solidFill>
                  <a:srgbClr val="B5A2FF"/>
                </a:solidFill>
                <a:latin typeface="DejaVu Sans"/>
                <a:ea typeface="DejaVu Sans"/>
                <a:cs typeface="DejaVu Sans"/>
              </a:defRPr>
            </a:lvl4pPr>
            <a:lvl5pPr>
              <a:defRPr sz="2550" b="1">
                <a:solidFill>
                  <a:srgbClr val="B5A2FF"/>
                </a:solidFill>
                <a:latin typeface="DejaVu Sans"/>
                <a:ea typeface="DejaVu Sans"/>
                <a:cs typeface="DejaVu Sans"/>
              </a:defRPr>
            </a:lvl5pPr>
            <a:lvl6pPr>
              <a:defRPr sz="2550" b="1">
                <a:solidFill>
                  <a:srgbClr val="B5A2FF"/>
                </a:solidFill>
                <a:latin typeface="DejaVu Sans"/>
                <a:ea typeface="DejaVu Sans"/>
                <a:cs typeface="DejaVu Sans"/>
              </a:defRPr>
            </a:lvl6pPr>
            <a:lvl7pPr>
              <a:defRPr sz="2550" b="1">
                <a:solidFill>
                  <a:srgbClr val="B5A2FF"/>
                </a:solidFill>
                <a:latin typeface="DejaVu Sans"/>
                <a:ea typeface="DejaVu Sans"/>
                <a:cs typeface="DejaVu Sans"/>
              </a:defRPr>
            </a:lvl7pPr>
            <a:lvl8pPr>
              <a:defRPr sz="2550" b="1">
                <a:solidFill>
                  <a:srgbClr val="B5A2FF"/>
                </a:solidFill>
                <a:latin typeface="DejaVu Sans"/>
                <a:ea typeface="DejaVu Sans"/>
                <a:cs typeface="DejaVu Sans"/>
              </a:defRPr>
            </a:lvl8pPr>
            <a:lvl9pPr>
              <a:defRPr sz="2550" b="1">
                <a:solidFill>
                  <a:srgbClr val="B5A2FF"/>
                </a:solidFill>
                <a:latin typeface="DejaVu Sans"/>
                <a:ea typeface="DejaVu Sans"/>
                <a:cs typeface="DejaVu Sans"/>
              </a:defRPr>
            </a:lvl9pPr>
          </a:lstStyle>
          <a:p>
            <a:pPr>
              <a:defRPr sz="2550" b="1">
                <a:solidFill>
                  <a:srgbClr val="B5A2FF"/>
                </a:solidFill>
                <a:latin typeface="DejaVu Sans"/>
                <a:ea typeface="DejaVu Sans"/>
                <a:cs typeface="DejaVu Sans"/>
              </a:defRPr>
            </a:pPr>
            <a:r>
              <a:rPr lang="en-US" dirty="0"/>
              <a:t>At the same angular speed, kinetic energy depends on the rotation axis.</a:t>
            </a:r>
            <a:endParaRPr sz="2550" b="1" dirty="0">
              <a:solidFill>
                <a:srgbClr val="B5A2FF"/>
              </a:solidFill>
              <a:latin typeface="DejaVu Sans"/>
              <a:ea typeface="DejaVu Sans"/>
              <a:cs typeface="DejaVu Sans"/>
            </a:endParaRPr>
          </a:p>
        </p:txBody>
      </p:sp>
      <p:pic>
        <p:nvPicPr>
          <p:cNvPr id="13" name="Picture 12">
            <a:extLst>
              <a:ext uri="{FF2B5EF4-FFF2-40B4-BE49-F238E27FC236}">
                <a16:creationId xmlns:a16="http://schemas.microsoft.com/office/drawing/2014/main" id="{12B1405D-2853-72D8-7245-C0E119CB3AA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96103" y="1713807"/>
            <a:ext cx="3690850" cy="3690850"/>
          </a:xfrm>
          <a:prstGeom prst="rect">
            <a:avLst/>
          </a:prstGeom>
        </p:spPr>
      </p:pic>
    </p:spTree>
    <p:extLst>
      <p:ext uri="{BB962C8B-B14F-4D97-AF65-F5344CB8AC3E}">
        <p14:creationId xmlns:p14="http://schemas.microsoft.com/office/powerpoint/2010/main" val="1516784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5A052AF-832C-48AE-9ACE-E5F212474AD6}"/>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3145763A-3CE3-490E-88BE-5F21D4AC3404}"/>
              </a:ext>
            </a:extLst>
          </p:cNvPr>
          <p:cNvSpPr>
            <a:spLocks noGrp="1"/>
          </p:cNvSpPr>
          <p:nvPr/>
        </p:nvSpPr>
        <p:spPr>
          <a:xfrm>
            <a:off x="0" y="0"/>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8E3275DF-49A1-47F2-BD72-AB2D46701F2E}"/>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CBEB6AEC-E05B-409C-A7D9-80499BC013C5}"/>
              </a:ext>
            </a:extLst>
          </p:cNvPr>
          <p:cNvSpPr>
            <a:spLocks noGrp="1"/>
          </p:cNvSpPr>
          <p:nvPr/>
        </p:nvSpPr>
        <p:spPr>
          <a:xfrm>
            <a:off x="609600" y="933450"/>
            <a:ext cx="10858500" cy="1000125"/>
          </a:xfrm>
          <a:prstGeom prst="rect">
            <a:avLst/>
          </a:prstGeom>
          <a:noFill/>
          <a:ln w="0">
            <a:noFill/>
            <a:prstDash val="solid"/>
          </a:ln>
        </p:spPr>
        <p:txBody>
          <a:bodyPr/>
          <a:lstStyle>
            <a:defPPr>
              <a:defRPr sz="3225" b="1">
                <a:solidFill>
                  <a:srgbClr val="F6F7FF"/>
                </a:solidFill>
                <a:latin typeface="DejaVu Sans"/>
                <a:ea typeface="DejaVu Sans"/>
                <a:cs typeface="DejaVu Sans"/>
              </a:defRPr>
            </a:defPPr>
            <a:lvl1pPr>
              <a:defRPr sz="3225" b="1">
                <a:solidFill>
                  <a:srgbClr val="F6F7FF"/>
                </a:solidFill>
                <a:latin typeface="DejaVu Sans"/>
                <a:ea typeface="DejaVu Sans"/>
                <a:cs typeface="DejaVu Sans"/>
              </a:defRPr>
            </a:lvl1pPr>
            <a:lvl2pPr>
              <a:defRPr sz="3225" b="1">
                <a:solidFill>
                  <a:srgbClr val="F6F7FF"/>
                </a:solidFill>
                <a:latin typeface="DejaVu Sans"/>
                <a:ea typeface="DejaVu Sans"/>
                <a:cs typeface="DejaVu Sans"/>
              </a:defRPr>
            </a:lvl2pPr>
            <a:lvl3pPr>
              <a:defRPr sz="3225" b="1">
                <a:solidFill>
                  <a:srgbClr val="F6F7FF"/>
                </a:solidFill>
                <a:latin typeface="DejaVu Sans"/>
                <a:ea typeface="DejaVu Sans"/>
                <a:cs typeface="DejaVu Sans"/>
              </a:defRPr>
            </a:lvl3pPr>
            <a:lvl4pPr>
              <a:defRPr sz="3225" b="1">
                <a:solidFill>
                  <a:srgbClr val="F6F7FF"/>
                </a:solidFill>
                <a:latin typeface="DejaVu Sans"/>
                <a:ea typeface="DejaVu Sans"/>
                <a:cs typeface="DejaVu Sans"/>
              </a:defRPr>
            </a:lvl4pPr>
            <a:lvl5pPr>
              <a:defRPr sz="3225" b="1">
                <a:solidFill>
                  <a:srgbClr val="F6F7FF"/>
                </a:solidFill>
                <a:latin typeface="DejaVu Sans"/>
                <a:ea typeface="DejaVu Sans"/>
                <a:cs typeface="DejaVu Sans"/>
              </a:defRPr>
            </a:lvl5pPr>
            <a:lvl6pPr>
              <a:defRPr sz="3225" b="1">
                <a:solidFill>
                  <a:srgbClr val="F6F7FF"/>
                </a:solidFill>
                <a:latin typeface="DejaVu Sans"/>
                <a:ea typeface="DejaVu Sans"/>
                <a:cs typeface="DejaVu Sans"/>
              </a:defRPr>
            </a:lvl6pPr>
            <a:lvl7pPr>
              <a:defRPr sz="3225" b="1">
                <a:solidFill>
                  <a:srgbClr val="F6F7FF"/>
                </a:solidFill>
                <a:latin typeface="DejaVu Sans"/>
                <a:ea typeface="DejaVu Sans"/>
                <a:cs typeface="DejaVu Sans"/>
              </a:defRPr>
            </a:lvl7pPr>
            <a:lvl8pPr>
              <a:defRPr sz="3225" b="1">
                <a:solidFill>
                  <a:srgbClr val="F6F7FF"/>
                </a:solidFill>
                <a:latin typeface="DejaVu Sans"/>
                <a:ea typeface="DejaVu Sans"/>
                <a:cs typeface="DejaVu Sans"/>
              </a:defRPr>
            </a:lvl8pPr>
            <a:lvl9pPr>
              <a:defRPr sz="3225" b="1">
                <a:solidFill>
                  <a:srgbClr val="F6F7FF"/>
                </a:solidFill>
                <a:latin typeface="DejaVu Sans"/>
                <a:ea typeface="DejaVu Sans"/>
                <a:cs typeface="DejaVu Sans"/>
              </a:defRPr>
            </a:lvl9pPr>
          </a:lstStyle>
          <a:p>
            <a:pPr>
              <a:defRPr sz="3225" b="1">
                <a:solidFill>
                  <a:srgbClr val="F6F7FF"/>
                </a:solidFill>
                <a:latin typeface="DejaVu Sans"/>
                <a:ea typeface="DejaVu Sans"/>
                <a:cs typeface="DejaVu Sans"/>
              </a:defRPr>
            </a:pPr>
            <a:r>
              <a:rPr sz="3225" b="1">
                <a:solidFill>
                  <a:srgbClr val="F6F7FF"/>
                </a:solidFill>
                <a:latin typeface="DejaVu Sans"/>
                <a:ea typeface="DejaVu Sans"/>
                <a:cs typeface="DejaVu Sans"/>
              </a:rPr>
              <a:t>Every mass element contributes</a:t>
            </a:r>
          </a:p>
        </p:txBody>
      </p:sp>
      <p:sp>
        <p:nvSpPr>
          <p:cNvPr id="5" name="Rectangle 4">
            <a:extLst>
              <a:ext uri="{FF2B5EF4-FFF2-40B4-BE49-F238E27FC236}">
                <a16:creationId xmlns:a16="http://schemas.microsoft.com/office/drawing/2014/main" id="{2CCF8B14-31F5-458A-8A0D-1E9201853D08}"/>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B1.2  /  ROTATIONAL ENERGY</a:t>
            </a:r>
          </a:p>
        </p:txBody>
      </p:sp>
      <p:sp>
        <p:nvSpPr>
          <p:cNvPr id="6" name="Rectangle 5">
            <a:extLst>
              <a:ext uri="{FF2B5EF4-FFF2-40B4-BE49-F238E27FC236}">
                <a16:creationId xmlns:a16="http://schemas.microsoft.com/office/drawing/2014/main" id="{1C14D3B5-6FBD-43CE-9D75-DDF8B7AC2D00}"/>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03</a:t>
            </a:r>
          </a:p>
        </p:txBody>
      </p:sp>
      <p:pic>
        <p:nvPicPr>
          <p:cNvPr id="7" name="Picture 6">
            <a:extLst>
              <a:ext uri="{FF2B5EF4-FFF2-40B4-BE49-F238E27FC236}">
                <a16:creationId xmlns:a16="http://schemas.microsoft.com/office/drawing/2014/main" id="{5BAAFBAC-C1CB-435A-BF70-7E1ED9ADBDBA}"/>
              </a:ext>
            </a:extLst>
          </p:cNvPr>
          <p:cNvPicPr>
            <a:picLocks noChangeAspect="1"/>
          </p:cNvPicPr>
          <p:nvPr/>
        </p:nvPicPr>
        <p:blipFill>
          <a:blip r:embed="rId4"/>
          <a:stretch/>
        </p:blipFill>
        <p:spPr>
          <a:xfrm>
            <a:off x="1841445" y="1809750"/>
            <a:ext cx="3327511" cy="952500"/>
          </a:xfrm>
          <a:prstGeom prst="rect">
            <a:avLst/>
          </a:prstGeom>
        </p:spPr>
      </p:pic>
      <p:pic>
        <p:nvPicPr>
          <p:cNvPr id="8" name="Picture 7">
            <a:extLst>
              <a:ext uri="{FF2B5EF4-FFF2-40B4-BE49-F238E27FC236}">
                <a16:creationId xmlns:a16="http://schemas.microsoft.com/office/drawing/2014/main" id="{B4DA22CD-1822-452E-8BAC-B15A0C0B1583}"/>
              </a:ext>
            </a:extLst>
          </p:cNvPr>
          <p:cNvPicPr>
            <a:picLocks noChangeAspect="1"/>
          </p:cNvPicPr>
          <p:nvPr/>
        </p:nvPicPr>
        <p:blipFill>
          <a:blip r:embed="rId5"/>
          <a:stretch/>
        </p:blipFill>
        <p:spPr>
          <a:xfrm>
            <a:off x="2111355" y="3238500"/>
            <a:ext cx="3549689" cy="1190625"/>
          </a:xfrm>
          <a:prstGeom prst="rect">
            <a:avLst/>
          </a:prstGeom>
        </p:spPr>
      </p:pic>
      <p:pic>
        <p:nvPicPr>
          <p:cNvPr id="9" name="Picture 8">
            <a:extLst>
              <a:ext uri="{FF2B5EF4-FFF2-40B4-BE49-F238E27FC236}">
                <a16:creationId xmlns:a16="http://schemas.microsoft.com/office/drawing/2014/main" id="{75261720-2F91-4939-ABB4-B2C4D3E5FFE2}"/>
              </a:ext>
            </a:extLst>
          </p:cNvPr>
          <p:cNvPicPr>
            <a:picLocks noChangeAspect="1"/>
          </p:cNvPicPr>
          <p:nvPr/>
        </p:nvPicPr>
        <p:blipFill>
          <a:blip r:embed="rId6"/>
          <a:stretch/>
        </p:blipFill>
        <p:spPr>
          <a:xfrm>
            <a:off x="7572375" y="2266939"/>
            <a:ext cx="3714750" cy="2705122"/>
          </a:xfrm>
          <a:prstGeom prst="rect">
            <a:avLst/>
          </a:prstGeom>
        </p:spPr>
      </p:pic>
      <p:sp>
        <p:nvSpPr>
          <p:cNvPr id="10" name="Rectangle 9">
            <a:extLst>
              <a:ext uri="{FF2B5EF4-FFF2-40B4-BE49-F238E27FC236}">
                <a16:creationId xmlns:a16="http://schemas.microsoft.com/office/drawing/2014/main" id="{9C59C3BD-D72B-4E40-B8BE-2BAA34008B53}"/>
              </a:ext>
            </a:extLst>
          </p:cNvPr>
          <p:cNvSpPr>
            <a:spLocks noGrp="1"/>
          </p:cNvSpPr>
          <p:nvPr/>
        </p:nvSpPr>
        <p:spPr>
          <a:xfrm>
            <a:off x="628650" y="5267325"/>
            <a:ext cx="10477500" cy="666750"/>
          </a:xfrm>
          <a:prstGeom prst="rect">
            <a:avLst/>
          </a:prstGeom>
          <a:noFill/>
          <a:ln w="0">
            <a:noFill/>
            <a:prstDash val="solid"/>
          </a:ln>
        </p:spPr>
        <p:txBody>
          <a:bodyPr/>
          <a:lstStyle>
            <a:defPPr>
              <a:defRPr sz="2100" b="0">
                <a:solidFill>
                  <a:srgbClr val="55F3D2"/>
                </a:solidFill>
                <a:latin typeface="DejaVu Sans"/>
                <a:ea typeface="DejaVu Sans"/>
                <a:cs typeface="DejaVu Sans"/>
              </a:defRPr>
            </a:defPPr>
            <a:lvl1pPr>
              <a:defRPr sz="2100" b="0">
                <a:solidFill>
                  <a:srgbClr val="55F3D2"/>
                </a:solidFill>
                <a:latin typeface="DejaVu Sans"/>
                <a:ea typeface="DejaVu Sans"/>
                <a:cs typeface="DejaVu Sans"/>
              </a:defRPr>
            </a:lvl1pPr>
            <a:lvl2pPr>
              <a:defRPr sz="2100" b="0">
                <a:solidFill>
                  <a:srgbClr val="55F3D2"/>
                </a:solidFill>
                <a:latin typeface="DejaVu Sans"/>
                <a:ea typeface="DejaVu Sans"/>
                <a:cs typeface="DejaVu Sans"/>
              </a:defRPr>
            </a:lvl2pPr>
            <a:lvl3pPr>
              <a:defRPr sz="2100" b="0">
                <a:solidFill>
                  <a:srgbClr val="55F3D2"/>
                </a:solidFill>
                <a:latin typeface="DejaVu Sans"/>
                <a:ea typeface="DejaVu Sans"/>
                <a:cs typeface="DejaVu Sans"/>
              </a:defRPr>
            </a:lvl3pPr>
            <a:lvl4pPr>
              <a:defRPr sz="2100" b="0">
                <a:solidFill>
                  <a:srgbClr val="55F3D2"/>
                </a:solidFill>
                <a:latin typeface="DejaVu Sans"/>
                <a:ea typeface="DejaVu Sans"/>
                <a:cs typeface="DejaVu Sans"/>
              </a:defRPr>
            </a:lvl4pPr>
            <a:lvl5pPr>
              <a:defRPr sz="2100" b="0">
                <a:solidFill>
                  <a:srgbClr val="55F3D2"/>
                </a:solidFill>
                <a:latin typeface="DejaVu Sans"/>
                <a:ea typeface="DejaVu Sans"/>
                <a:cs typeface="DejaVu Sans"/>
              </a:defRPr>
            </a:lvl5pPr>
            <a:lvl6pPr>
              <a:defRPr sz="2100" b="0">
                <a:solidFill>
                  <a:srgbClr val="55F3D2"/>
                </a:solidFill>
                <a:latin typeface="DejaVu Sans"/>
                <a:ea typeface="DejaVu Sans"/>
                <a:cs typeface="DejaVu Sans"/>
              </a:defRPr>
            </a:lvl6pPr>
            <a:lvl7pPr>
              <a:defRPr sz="2100" b="0">
                <a:solidFill>
                  <a:srgbClr val="55F3D2"/>
                </a:solidFill>
                <a:latin typeface="DejaVu Sans"/>
                <a:ea typeface="DejaVu Sans"/>
                <a:cs typeface="DejaVu Sans"/>
              </a:defRPr>
            </a:lvl7pPr>
            <a:lvl8pPr>
              <a:defRPr sz="2100" b="0">
                <a:solidFill>
                  <a:srgbClr val="55F3D2"/>
                </a:solidFill>
                <a:latin typeface="DejaVu Sans"/>
                <a:ea typeface="DejaVu Sans"/>
                <a:cs typeface="DejaVu Sans"/>
              </a:defRPr>
            </a:lvl8pPr>
            <a:lvl9pPr>
              <a:defRPr sz="2100" b="0">
                <a:solidFill>
                  <a:srgbClr val="55F3D2"/>
                </a:solidFill>
                <a:latin typeface="DejaVu Sans"/>
                <a:ea typeface="DejaVu Sans"/>
                <a:cs typeface="DejaVu Sans"/>
              </a:defRPr>
            </a:lvl9pPr>
          </a:lstStyle>
          <a:p>
            <a:pPr>
              <a:defRPr sz="2100" b="0">
                <a:solidFill>
                  <a:srgbClr val="55F3D2"/>
                </a:solidFill>
                <a:latin typeface="DejaVu Sans"/>
                <a:ea typeface="DejaVu Sans"/>
                <a:cs typeface="DejaVu Sans"/>
              </a:defRPr>
            </a:pPr>
            <a:r>
              <a:rPr sz="2100" b="0" dirty="0">
                <a:solidFill>
                  <a:srgbClr val="55F3D2"/>
                </a:solidFill>
                <a:latin typeface="DejaVu Sans"/>
                <a:ea typeface="DejaVu Sans"/>
                <a:cs typeface="DejaVu Sans"/>
              </a:rPr>
              <a:t>One rigid body shares </a:t>
            </a:r>
            <a:r>
              <a:rPr sz="2100" b="0" dirty="0" err="1">
                <a:solidFill>
                  <a:srgbClr val="55F3D2"/>
                </a:solidFill>
                <a:latin typeface="DejaVu Sans"/>
                <a:ea typeface="DejaVu Sans"/>
                <a:cs typeface="DejaVu Sans"/>
              </a:rPr>
              <a:t>ω</a:t>
            </a:r>
            <a:r>
              <a:rPr sz="2100" b="0" dirty="0">
                <a:solidFill>
                  <a:srgbClr val="55F3D2"/>
                </a:solidFill>
                <a:latin typeface="DejaVu Sans"/>
                <a:ea typeface="DejaVu Sans"/>
                <a:cs typeface="DejaVu Sans"/>
              </a:rPr>
              <a:t>. Each point has its own vᵢ.</a:t>
            </a:r>
          </a:p>
        </p:txBody>
      </p:sp>
    </p:spTree>
    <p:extLst>
      <p:ext uri="{BB962C8B-B14F-4D97-AF65-F5344CB8AC3E}">
        <p14:creationId xmlns:p14="http://schemas.microsoft.com/office/powerpoint/2010/main" val="1366014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8A24C34-05BC-4D7F-A7B9-C77F0989C08D}"/>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92ED8371-D9E6-4829-A73F-C2DCCED8AFD7}"/>
              </a:ext>
            </a:extLst>
          </p:cNvPr>
          <p:cNvSpPr>
            <a:spLocks noGrp="1"/>
          </p:cNvSpPr>
          <p:nvPr/>
        </p:nvSpPr>
        <p:spPr>
          <a:xfrm>
            <a:off x="0" y="0"/>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233D25B9-CBAE-4C65-A9DB-39CF8CC33371}"/>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A47F7B5F-9970-4260-B0DF-50A064AA68BE}"/>
              </a:ext>
            </a:extLst>
          </p:cNvPr>
          <p:cNvSpPr>
            <a:spLocks noGrp="1"/>
          </p:cNvSpPr>
          <p:nvPr/>
        </p:nvSpPr>
        <p:spPr>
          <a:xfrm>
            <a:off x="609600" y="933450"/>
            <a:ext cx="10858500" cy="1000125"/>
          </a:xfrm>
          <a:prstGeom prst="rect">
            <a:avLst/>
          </a:prstGeom>
          <a:noFill/>
          <a:ln w="0">
            <a:noFill/>
            <a:prstDash val="solid"/>
          </a:ln>
        </p:spPr>
        <p:txBody>
          <a:bodyPr/>
          <a:lstStyle>
            <a:defPPr>
              <a:defRPr sz="3225" b="1">
                <a:solidFill>
                  <a:srgbClr val="F6F7FF"/>
                </a:solidFill>
                <a:latin typeface="DejaVu Sans"/>
                <a:ea typeface="DejaVu Sans"/>
                <a:cs typeface="DejaVu Sans"/>
              </a:defRPr>
            </a:defPPr>
            <a:lvl1pPr>
              <a:defRPr sz="3225" b="1">
                <a:solidFill>
                  <a:srgbClr val="F6F7FF"/>
                </a:solidFill>
                <a:latin typeface="DejaVu Sans"/>
                <a:ea typeface="DejaVu Sans"/>
                <a:cs typeface="DejaVu Sans"/>
              </a:defRPr>
            </a:lvl1pPr>
            <a:lvl2pPr>
              <a:defRPr sz="3225" b="1">
                <a:solidFill>
                  <a:srgbClr val="F6F7FF"/>
                </a:solidFill>
                <a:latin typeface="DejaVu Sans"/>
                <a:ea typeface="DejaVu Sans"/>
                <a:cs typeface="DejaVu Sans"/>
              </a:defRPr>
            </a:lvl2pPr>
            <a:lvl3pPr>
              <a:defRPr sz="3225" b="1">
                <a:solidFill>
                  <a:srgbClr val="F6F7FF"/>
                </a:solidFill>
                <a:latin typeface="DejaVu Sans"/>
                <a:ea typeface="DejaVu Sans"/>
                <a:cs typeface="DejaVu Sans"/>
              </a:defRPr>
            </a:lvl3pPr>
            <a:lvl4pPr>
              <a:defRPr sz="3225" b="1">
                <a:solidFill>
                  <a:srgbClr val="F6F7FF"/>
                </a:solidFill>
                <a:latin typeface="DejaVu Sans"/>
                <a:ea typeface="DejaVu Sans"/>
                <a:cs typeface="DejaVu Sans"/>
              </a:defRPr>
            </a:lvl4pPr>
            <a:lvl5pPr>
              <a:defRPr sz="3225" b="1">
                <a:solidFill>
                  <a:srgbClr val="F6F7FF"/>
                </a:solidFill>
                <a:latin typeface="DejaVu Sans"/>
                <a:ea typeface="DejaVu Sans"/>
                <a:cs typeface="DejaVu Sans"/>
              </a:defRPr>
            </a:lvl5pPr>
            <a:lvl6pPr>
              <a:defRPr sz="3225" b="1">
                <a:solidFill>
                  <a:srgbClr val="F6F7FF"/>
                </a:solidFill>
                <a:latin typeface="DejaVu Sans"/>
                <a:ea typeface="DejaVu Sans"/>
                <a:cs typeface="DejaVu Sans"/>
              </a:defRPr>
            </a:lvl6pPr>
            <a:lvl7pPr>
              <a:defRPr sz="3225" b="1">
                <a:solidFill>
                  <a:srgbClr val="F6F7FF"/>
                </a:solidFill>
                <a:latin typeface="DejaVu Sans"/>
                <a:ea typeface="DejaVu Sans"/>
                <a:cs typeface="DejaVu Sans"/>
              </a:defRPr>
            </a:lvl7pPr>
            <a:lvl8pPr>
              <a:defRPr sz="3225" b="1">
                <a:solidFill>
                  <a:srgbClr val="F6F7FF"/>
                </a:solidFill>
                <a:latin typeface="DejaVu Sans"/>
                <a:ea typeface="DejaVu Sans"/>
                <a:cs typeface="DejaVu Sans"/>
              </a:defRPr>
            </a:lvl8pPr>
            <a:lvl9pPr>
              <a:defRPr sz="3225" b="1">
                <a:solidFill>
                  <a:srgbClr val="F6F7FF"/>
                </a:solidFill>
                <a:latin typeface="DejaVu Sans"/>
                <a:ea typeface="DejaVu Sans"/>
                <a:cs typeface="DejaVu Sans"/>
              </a:defRPr>
            </a:lvl9pPr>
          </a:lstStyle>
          <a:p>
            <a:pPr>
              <a:defRPr sz="3225" b="1">
                <a:solidFill>
                  <a:srgbClr val="F6F7FF"/>
                </a:solidFill>
                <a:latin typeface="DejaVu Sans"/>
                <a:ea typeface="DejaVu Sans"/>
                <a:cs typeface="DejaVu Sans"/>
              </a:defRPr>
            </a:pPr>
            <a:r>
              <a:rPr sz="3225" b="1">
                <a:solidFill>
                  <a:srgbClr val="F6F7FF"/>
                </a:solidFill>
                <a:latin typeface="DejaVu Sans"/>
                <a:ea typeface="DejaVu Sans"/>
                <a:cs typeface="DejaVu Sans"/>
              </a:rPr>
              <a:t>The tensor collects the geometry</a:t>
            </a:r>
          </a:p>
        </p:txBody>
      </p:sp>
      <p:sp>
        <p:nvSpPr>
          <p:cNvPr id="5" name="Rectangle 4">
            <a:extLst>
              <a:ext uri="{FF2B5EF4-FFF2-40B4-BE49-F238E27FC236}">
                <a16:creationId xmlns:a16="http://schemas.microsoft.com/office/drawing/2014/main" id="{622341E4-C97D-4AE9-BC56-6241104A08D1}"/>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B1.2  /  ROTATIONAL ENERGY</a:t>
            </a:r>
          </a:p>
        </p:txBody>
      </p:sp>
      <p:sp>
        <p:nvSpPr>
          <p:cNvPr id="6" name="Rectangle 5">
            <a:extLst>
              <a:ext uri="{FF2B5EF4-FFF2-40B4-BE49-F238E27FC236}">
                <a16:creationId xmlns:a16="http://schemas.microsoft.com/office/drawing/2014/main" id="{4DC3378E-D770-40C8-B27B-D941DB3C7E4E}"/>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04</a:t>
            </a:r>
          </a:p>
        </p:txBody>
      </p:sp>
      <p:pic>
        <p:nvPicPr>
          <p:cNvPr id="7" name="Picture 6">
            <a:extLst>
              <a:ext uri="{FF2B5EF4-FFF2-40B4-BE49-F238E27FC236}">
                <a16:creationId xmlns:a16="http://schemas.microsoft.com/office/drawing/2014/main" id="{68DC36E4-2C18-4A47-96F4-F40EC83DCD73}"/>
              </a:ext>
            </a:extLst>
          </p:cNvPr>
          <p:cNvPicPr>
            <a:picLocks noChangeAspect="1"/>
          </p:cNvPicPr>
          <p:nvPr/>
        </p:nvPicPr>
        <p:blipFill>
          <a:blip r:embed="rId4"/>
          <a:stretch/>
        </p:blipFill>
        <p:spPr>
          <a:xfrm>
            <a:off x="2745764" y="1781175"/>
            <a:ext cx="6319471" cy="1095375"/>
          </a:xfrm>
          <a:prstGeom prst="rect">
            <a:avLst/>
          </a:prstGeom>
        </p:spPr>
      </p:pic>
      <p:pic>
        <p:nvPicPr>
          <p:cNvPr id="8" name="Picture 7">
            <a:extLst>
              <a:ext uri="{FF2B5EF4-FFF2-40B4-BE49-F238E27FC236}">
                <a16:creationId xmlns:a16="http://schemas.microsoft.com/office/drawing/2014/main" id="{60528518-07F6-4189-A212-E5F673B46CC8}"/>
              </a:ext>
            </a:extLst>
          </p:cNvPr>
          <p:cNvPicPr>
            <a:picLocks noChangeAspect="1"/>
          </p:cNvPicPr>
          <p:nvPr/>
        </p:nvPicPr>
        <p:blipFill>
          <a:blip r:embed="rId5"/>
          <a:stretch/>
        </p:blipFill>
        <p:spPr>
          <a:xfrm>
            <a:off x="3533528" y="3181350"/>
            <a:ext cx="4267695" cy="1095375"/>
          </a:xfrm>
          <a:prstGeom prst="rect">
            <a:avLst/>
          </a:prstGeom>
        </p:spPr>
      </p:pic>
      <p:sp>
        <p:nvSpPr>
          <p:cNvPr id="9" name="Rectangle 8">
            <a:extLst>
              <a:ext uri="{FF2B5EF4-FFF2-40B4-BE49-F238E27FC236}">
                <a16:creationId xmlns:a16="http://schemas.microsoft.com/office/drawing/2014/main" id="{830360A1-9BFB-4DF0-AC65-9EA973976DF6}"/>
              </a:ext>
            </a:extLst>
          </p:cNvPr>
          <p:cNvSpPr>
            <a:spLocks noGrp="1"/>
          </p:cNvSpPr>
          <p:nvPr/>
        </p:nvSpPr>
        <p:spPr>
          <a:xfrm>
            <a:off x="629862" y="4475538"/>
            <a:ext cx="10477500" cy="714375"/>
          </a:xfrm>
          <a:prstGeom prst="rect">
            <a:avLst/>
          </a:prstGeom>
          <a:noFill/>
          <a:ln w="0">
            <a:noFill/>
            <a:prstDash val="solid"/>
          </a:ln>
        </p:spPr>
        <p:txBody>
          <a:bodyPr/>
          <a:lstStyle>
            <a:defPPr>
              <a:defRPr sz="2250" b="0">
                <a:solidFill>
                  <a:srgbClr val="55F3D2"/>
                </a:solidFill>
                <a:latin typeface="DejaVu Sans"/>
                <a:ea typeface="DejaVu Sans"/>
                <a:cs typeface="DejaVu Sans"/>
              </a:defRPr>
            </a:defPPr>
            <a:lvl1pPr>
              <a:defRPr sz="2250" b="0">
                <a:solidFill>
                  <a:srgbClr val="55F3D2"/>
                </a:solidFill>
                <a:latin typeface="DejaVu Sans"/>
                <a:ea typeface="DejaVu Sans"/>
                <a:cs typeface="DejaVu Sans"/>
              </a:defRPr>
            </a:lvl1pPr>
            <a:lvl2pPr>
              <a:defRPr sz="2250" b="0">
                <a:solidFill>
                  <a:srgbClr val="55F3D2"/>
                </a:solidFill>
                <a:latin typeface="DejaVu Sans"/>
                <a:ea typeface="DejaVu Sans"/>
                <a:cs typeface="DejaVu Sans"/>
              </a:defRPr>
            </a:lvl2pPr>
            <a:lvl3pPr>
              <a:defRPr sz="2250" b="0">
                <a:solidFill>
                  <a:srgbClr val="55F3D2"/>
                </a:solidFill>
                <a:latin typeface="DejaVu Sans"/>
                <a:ea typeface="DejaVu Sans"/>
                <a:cs typeface="DejaVu Sans"/>
              </a:defRPr>
            </a:lvl3pPr>
            <a:lvl4pPr>
              <a:defRPr sz="2250" b="0">
                <a:solidFill>
                  <a:srgbClr val="55F3D2"/>
                </a:solidFill>
                <a:latin typeface="DejaVu Sans"/>
                <a:ea typeface="DejaVu Sans"/>
                <a:cs typeface="DejaVu Sans"/>
              </a:defRPr>
            </a:lvl4pPr>
            <a:lvl5pPr>
              <a:defRPr sz="2250" b="0">
                <a:solidFill>
                  <a:srgbClr val="55F3D2"/>
                </a:solidFill>
                <a:latin typeface="DejaVu Sans"/>
                <a:ea typeface="DejaVu Sans"/>
                <a:cs typeface="DejaVu Sans"/>
              </a:defRPr>
            </a:lvl5pPr>
            <a:lvl6pPr>
              <a:defRPr sz="2250" b="0">
                <a:solidFill>
                  <a:srgbClr val="55F3D2"/>
                </a:solidFill>
                <a:latin typeface="DejaVu Sans"/>
                <a:ea typeface="DejaVu Sans"/>
                <a:cs typeface="DejaVu Sans"/>
              </a:defRPr>
            </a:lvl6pPr>
            <a:lvl7pPr>
              <a:defRPr sz="2250" b="0">
                <a:solidFill>
                  <a:srgbClr val="55F3D2"/>
                </a:solidFill>
                <a:latin typeface="DejaVu Sans"/>
                <a:ea typeface="DejaVu Sans"/>
                <a:cs typeface="DejaVu Sans"/>
              </a:defRPr>
            </a:lvl7pPr>
            <a:lvl8pPr>
              <a:defRPr sz="2250" b="0">
                <a:solidFill>
                  <a:srgbClr val="55F3D2"/>
                </a:solidFill>
                <a:latin typeface="DejaVu Sans"/>
                <a:ea typeface="DejaVu Sans"/>
                <a:cs typeface="DejaVu Sans"/>
              </a:defRPr>
            </a:lvl8pPr>
            <a:lvl9pPr>
              <a:defRPr sz="2250" b="0">
                <a:solidFill>
                  <a:srgbClr val="55F3D2"/>
                </a:solidFill>
                <a:latin typeface="DejaVu Sans"/>
                <a:ea typeface="DejaVu Sans"/>
                <a:cs typeface="DejaVu Sans"/>
              </a:defRPr>
            </a:lvl9pPr>
          </a:lstStyle>
          <a:p>
            <a:pPr>
              <a:defRPr sz="2250" b="0">
                <a:solidFill>
                  <a:srgbClr val="55F3D2"/>
                </a:solidFill>
                <a:latin typeface="DejaVu Sans"/>
                <a:ea typeface="DejaVu Sans"/>
                <a:cs typeface="DejaVu Sans"/>
              </a:defRPr>
            </a:pPr>
            <a:r>
              <a:rPr lang="en-US" dirty="0"/>
              <a:t>The inertia tensor describes mass geometry. </a:t>
            </a:r>
          </a:p>
          <a:p>
            <a:pPr>
              <a:defRPr sz="2250" b="0">
                <a:solidFill>
                  <a:srgbClr val="55F3D2"/>
                </a:solidFill>
                <a:latin typeface="DejaVu Sans"/>
                <a:ea typeface="DejaVu Sans"/>
                <a:cs typeface="DejaVu Sans"/>
              </a:defRPr>
            </a:pPr>
            <a:r>
              <a:rPr lang="en-US" dirty="0"/>
              <a:t>Angular velocity describes rotation.</a:t>
            </a:r>
            <a:endParaRPr sz="2250" b="0" dirty="0">
              <a:solidFill>
                <a:srgbClr val="55F3D2"/>
              </a:solidFill>
              <a:latin typeface="DejaVu Sans"/>
              <a:ea typeface="DejaVu Sans"/>
              <a:cs typeface="DejaVu Sans"/>
            </a:endParaRPr>
          </a:p>
        </p:txBody>
      </p:sp>
      <p:sp>
        <p:nvSpPr>
          <p:cNvPr id="10" name="Rectangle 9">
            <a:extLst>
              <a:ext uri="{FF2B5EF4-FFF2-40B4-BE49-F238E27FC236}">
                <a16:creationId xmlns:a16="http://schemas.microsoft.com/office/drawing/2014/main" id="{36B8614B-38CD-4A14-AA76-7CC1F056AE86}"/>
              </a:ext>
            </a:extLst>
          </p:cNvPr>
          <p:cNvSpPr>
            <a:spLocks noGrp="1"/>
          </p:cNvSpPr>
          <p:nvPr/>
        </p:nvSpPr>
        <p:spPr>
          <a:xfrm>
            <a:off x="638175" y="5724525"/>
            <a:ext cx="10477500" cy="381000"/>
          </a:xfrm>
          <a:prstGeom prst="rect">
            <a:avLst/>
          </a:prstGeom>
          <a:noFill/>
          <a:ln w="0">
            <a:noFill/>
            <a:prstDash val="solid"/>
          </a:ln>
        </p:spPr>
        <p:txBody>
          <a:bodyPr/>
          <a:lstStyle>
            <a:defPPr>
              <a:defRPr sz="1650" b="0">
                <a:solidFill>
                  <a:srgbClr val="B6C3D8"/>
                </a:solidFill>
                <a:latin typeface="DejaVu Sans"/>
                <a:ea typeface="DejaVu Sans"/>
                <a:cs typeface="DejaVu Sans"/>
              </a:defRPr>
            </a:defPPr>
            <a:lvl1pPr>
              <a:defRPr sz="1650" b="0">
                <a:solidFill>
                  <a:srgbClr val="B6C3D8"/>
                </a:solidFill>
                <a:latin typeface="DejaVu Sans"/>
                <a:ea typeface="DejaVu Sans"/>
                <a:cs typeface="DejaVu Sans"/>
              </a:defRPr>
            </a:lvl1pPr>
            <a:lvl2pPr>
              <a:defRPr sz="1650" b="0">
                <a:solidFill>
                  <a:srgbClr val="B6C3D8"/>
                </a:solidFill>
                <a:latin typeface="DejaVu Sans"/>
                <a:ea typeface="DejaVu Sans"/>
                <a:cs typeface="DejaVu Sans"/>
              </a:defRPr>
            </a:lvl2pPr>
            <a:lvl3pPr>
              <a:defRPr sz="1650" b="0">
                <a:solidFill>
                  <a:srgbClr val="B6C3D8"/>
                </a:solidFill>
                <a:latin typeface="DejaVu Sans"/>
                <a:ea typeface="DejaVu Sans"/>
                <a:cs typeface="DejaVu Sans"/>
              </a:defRPr>
            </a:lvl3pPr>
            <a:lvl4pPr>
              <a:defRPr sz="1650" b="0">
                <a:solidFill>
                  <a:srgbClr val="B6C3D8"/>
                </a:solidFill>
                <a:latin typeface="DejaVu Sans"/>
                <a:ea typeface="DejaVu Sans"/>
                <a:cs typeface="DejaVu Sans"/>
              </a:defRPr>
            </a:lvl4pPr>
            <a:lvl5pPr>
              <a:defRPr sz="1650" b="0">
                <a:solidFill>
                  <a:srgbClr val="B6C3D8"/>
                </a:solidFill>
                <a:latin typeface="DejaVu Sans"/>
                <a:ea typeface="DejaVu Sans"/>
                <a:cs typeface="DejaVu Sans"/>
              </a:defRPr>
            </a:lvl5pPr>
            <a:lvl6pPr>
              <a:defRPr sz="1650" b="0">
                <a:solidFill>
                  <a:srgbClr val="B6C3D8"/>
                </a:solidFill>
                <a:latin typeface="DejaVu Sans"/>
                <a:ea typeface="DejaVu Sans"/>
                <a:cs typeface="DejaVu Sans"/>
              </a:defRPr>
            </a:lvl6pPr>
            <a:lvl7pPr>
              <a:defRPr sz="1650" b="0">
                <a:solidFill>
                  <a:srgbClr val="B6C3D8"/>
                </a:solidFill>
                <a:latin typeface="DejaVu Sans"/>
                <a:ea typeface="DejaVu Sans"/>
                <a:cs typeface="DejaVu Sans"/>
              </a:defRPr>
            </a:lvl7pPr>
            <a:lvl8pPr>
              <a:defRPr sz="1650" b="0">
                <a:solidFill>
                  <a:srgbClr val="B6C3D8"/>
                </a:solidFill>
                <a:latin typeface="DejaVu Sans"/>
                <a:ea typeface="DejaVu Sans"/>
                <a:cs typeface="DejaVu Sans"/>
              </a:defRPr>
            </a:lvl8pPr>
            <a:lvl9pPr>
              <a:defRPr sz="1650" b="0">
                <a:solidFill>
                  <a:srgbClr val="B6C3D8"/>
                </a:solidFill>
                <a:latin typeface="DejaVu Sans"/>
                <a:ea typeface="DejaVu Sans"/>
                <a:cs typeface="DejaVu Sans"/>
              </a:defRPr>
            </a:lvl9pPr>
          </a:lstStyle>
          <a:p>
            <a:pPr>
              <a:defRPr sz="1650" b="0">
                <a:solidFill>
                  <a:srgbClr val="B6C3D8"/>
                </a:solidFill>
                <a:latin typeface="DejaVu Sans"/>
                <a:ea typeface="DejaVu Sans"/>
                <a:cs typeface="DejaVu Sans"/>
              </a:defRPr>
            </a:pPr>
            <a:r>
              <a:rPr sz="1650" b="0">
                <a:solidFill>
                  <a:srgbClr val="B6C3D8"/>
                </a:solidFill>
                <a:latin typeface="DejaVu Sans"/>
                <a:ea typeface="DejaVu Sans"/>
                <a:cs typeface="DejaVu Sans"/>
              </a:rPr>
              <a:t>For continuous matter, replace the sum with an integral.</a:t>
            </a:r>
          </a:p>
        </p:txBody>
      </p:sp>
    </p:spTree>
    <p:extLst>
      <p:ext uri="{BB962C8B-B14F-4D97-AF65-F5344CB8AC3E}">
        <p14:creationId xmlns:p14="http://schemas.microsoft.com/office/powerpoint/2010/main" val="50694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F9717AB-620E-441C-9249-A8C9086AB5FD}"/>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05DB7D97-5199-4FFF-9EEE-041C0B89F498}"/>
              </a:ext>
            </a:extLst>
          </p:cNvPr>
          <p:cNvSpPr>
            <a:spLocks noGrp="1"/>
          </p:cNvSpPr>
          <p:nvPr/>
        </p:nvSpPr>
        <p:spPr>
          <a:xfrm>
            <a:off x="0" y="0"/>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3608C69F-0CFA-4386-A390-E17C102A1B4D}"/>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70E9B1EC-4996-4248-A88C-AA9E8DCA5717}"/>
              </a:ext>
            </a:extLst>
          </p:cNvPr>
          <p:cNvSpPr>
            <a:spLocks noGrp="1"/>
          </p:cNvSpPr>
          <p:nvPr/>
        </p:nvSpPr>
        <p:spPr>
          <a:xfrm>
            <a:off x="609600" y="933450"/>
            <a:ext cx="10858500" cy="1000125"/>
          </a:xfrm>
          <a:prstGeom prst="rect">
            <a:avLst/>
          </a:prstGeom>
          <a:noFill/>
          <a:ln w="0">
            <a:noFill/>
            <a:prstDash val="solid"/>
          </a:ln>
        </p:spPr>
        <p:txBody>
          <a:bodyPr/>
          <a:lstStyle>
            <a:defPPr>
              <a:defRPr sz="3225" b="1">
                <a:solidFill>
                  <a:srgbClr val="F6F7FF"/>
                </a:solidFill>
                <a:latin typeface="DejaVu Sans"/>
                <a:ea typeface="DejaVu Sans"/>
                <a:cs typeface="DejaVu Sans"/>
              </a:defRPr>
            </a:defPPr>
            <a:lvl1pPr>
              <a:defRPr sz="3225" b="1">
                <a:solidFill>
                  <a:srgbClr val="F6F7FF"/>
                </a:solidFill>
                <a:latin typeface="DejaVu Sans"/>
                <a:ea typeface="DejaVu Sans"/>
                <a:cs typeface="DejaVu Sans"/>
              </a:defRPr>
            </a:lvl1pPr>
            <a:lvl2pPr>
              <a:defRPr sz="3225" b="1">
                <a:solidFill>
                  <a:srgbClr val="F6F7FF"/>
                </a:solidFill>
                <a:latin typeface="DejaVu Sans"/>
                <a:ea typeface="DejaVu Sans"/>
                <a:cs typeface="DejaVu Sans"/>
              </a:defRPr>
            </a:lvl2pPr>
            <a:lvl3pPr>
              <a:defRPr sz="3225" b="1">
                <a:solidFill>
                  <a:srgbClr val="F6F7FF"/>
                </a:solidFill>
                <a:latin typeface="DejaVu Sans"/>
                <a:ea typeface="DejaVu Sans"/>
                <a:cs typeface="DejaVu Sans"/>
              </a:defRPr>
            </a:lvl3pPr>
            <a:lvl4pPr>
              <a:defRPr sz="3225" b="1">
                <a:solidFill>
                  <a:srgbClr val="F6F7FF"/>
                </a:solidFill>
                <a:latin typeface="DejaVu Sans"/>
                <a:ea typeface="DejaVu Sans"/>
                <a:cs typeface="DejaVu Sans"/>
              </a:defRPr>
            </a:lvl4pPr>
            <a:lvl5pPr>
              <a:defRPr sz="3225" b="1">
                <a:solidFill>
                  <a:srgbClr val="F6F7FF"/>
                </a:solidFill>
                <a:latin typeface="DejaVu Sans"/>
                <a:ea typeface="DejaVu Sans"/>
                <a:cs typeface="DejaVu Sans"/>
              </a:defRPr>
            </a:lvl5pPr>
            <a:lvl6pPr>
              <a:defRPr sz="3225" b="1">
                <a:solidFill>
                  <a:srgbClr val="F6F7FF"/>
                </a:solidFill>
                <a:latin typeface="DejaVu Sans"/>
                <a:ea typeface="DejaVu Sans"/>
                <a:cs typeface="DejaVu Sans"/>
              </a:defRPr>
            </a:lvl6pPr>
            <a:lvl7pPr>
              <a:defRPr sz="3225" b="1">
                <a:solidFill>
                  <a:srgbClr val="F6F7FF"/>
                </a:solidFill>
                <a:latin typeface="DejaVu Sans"/>
                <a:ea typeface="DejaVu Sans"/>
                <a:cs typeface="DejaVu Sans"/>
              </a:defRPr>
            </a:lvl7pPr>
            <a:lvl8pPr>
              <a:defRPr sz="3225" b="1">
                <a:solidFill>
                  <a:srgbClr val="F6F7FF"/>
                </a:solidFill>
                <a:latin typeface="DejaVu Sans"/>
                <a:ea typeface="DejaVu Sans"/>
                <a:cs typeface="DejaVu Sans"/>
              </a:defRPr>
            </a:lvl8pPr>
            <a:lvl9pPr>
              <a:defRPr sz="3225" b="1">
                <a:solidFill>
                  <a:srgbClr val="F6F7FF"/>
                </a:solidFill>
                <a:latin typeface="DejaVu Sans"/>
                <a:ea typeface="DejaVu Sans"/>
                <a:cs typeface="DejaVu Sans"/>
              </a:defRPr>
            </a:lvl9pPr>
          </a:lstStyle>
          <a:p>
            <a:pPr>
              <a:defRPr sz="3225" b="1">
                <a:solidFill>
                  <a:srgbClr val="F6F7FF"/>
                </a:solidFill>
                <a:latin typeface="DejaVu Sans"/>
                <a:ea typeface="DejaVu Sans"/>
                <a:cs typeface="DejaVu Sans"/>
              </a:defRPr>
            </a:pPr>
            <a:r>
              <a:rPr sz="3225" b="1">
                <a:solidFill>
                  <a:srgbClr val="F6F7FF"/>
                </a:solidFill>
                <a:latin typeface="DejaVu Sans"/>
                <a:ea typeface="DejaVu Sans"/>
                <a:cs typeface="DejaVu Sans"/>
              </a:rPr>
              <a:t>Rotational energy is a quadratic form</a:t>
            </a:r>
          </a:p>
        </p:txBody>
      </p:sp>
      <p:sp>
        <p:nvSpPr>
          <p:cNvPr id="5" name="Rectangle 4">
            <a:extLst>
              <a:ext uri="{FF2B5EF4-FFF2-40B4-BE49-F238E27FC236}">
                <a16:creationId xmlns:a16="http://schemas.microsoft.com/office/drawing/2014/main" id="{72EBB09C-A990-4685-A90C-1DBC1903C6F7}"/>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B1.2  /  ROTATIONAL ENERGY</a:t>
            </a:r>
          </a:p>
        </p:txBody>
      </p:sp>
      <p:sp>
        <p:nvSpPr>
          <p:cNvPr id="6" name="Rectangle 5">
            <a:extLst>
              <a:ext uri="{FF2B5EF4-FFF2-40B4-BE49-F238E27FC236}">
                <a16:creationId xmlns:a16="http://schemas.microsoft.com/office/drawing/2014/main" id="{D1151725-98E5-4F3A-9312-BBB0B3C0C5A5}"/>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05</a:t>
            </a:r>
          </a:p>
        </p:txBody>
      </p:sp>
      <p:pic>
        <p:nvPicPr>
          <p:cNvPr id="7" name="Picture 6">
            <a:extLst>
              <a:ext uri="{FF2B5EF4-FFF2-40B4-BE49-F238E27FC236}">
                <a16:creationId xmlns:a16="http://schemas.microsoft.com/office/drawing/2014/main" id="{1C6C0736-DA0F-4EF6-9E6A-420D7FBDA370}"/>
              </a:ext>
            </a:extLst>
          </p:cNvPr>
          <p:cNvPicPr>
            <a:picLocks noChangeAspect="1"/>
          </p:cNvPicPr>
          <p:nvPr/>
        </p:nvPicPr>
        <p:blipFill>
          <a:blip r:embed="rId4"/>
          <a:stretch/>
        </p:blipFill>
        <p:spPr>
          <a:xfrm>
            <a:off x="4033127" y="1876425"/>
            <a:ext cx="2925596" cy="1381125"/>
          </a:xfrm>
          <a:prstGeom prst="rect">
            <a:avLst/>
          </a:prstGeom>
        </p:spPr>
      </p:pic>
      <p:pic>
        <p:nvPicPr>
          <p:cNvPr id="8" name="Picture 7">
            <a:extLst>
              <a:ext uri="{FF2B5EF4-FFF2-40B4-BE49-F238E27FC236}">
                <a16:creationId xmlns:a16="http://schemas.microsoft.com/office/drawing/2014/main" id="{F306C2F9-336B-4410-8785-BE0ACB049EA3}"/>
              </a:ext>
            </a:extLst>
          </p:cNvPr>
          <p:cNvPicPr>
            <a:picLocks noChangeAspect="1"/>
          </p:cNvPicPr>
          <p:nvPr/>
        </p:nvPicPr>
        <p:blipFill>
          <a:blip r:embed="rId5"/>
          <a:stretch/>
        </p:blipFill>
        <p:spPr>
          <a:xfrm>
            <a:off x="1219276" y="3609975"/>
            <a:ext cx="9562948" cy="1000125"/>
          </a:xfrm>
          <a:prstGeom prst="rect">
            <a:avLst/>
          </a:prstGeom>
        </p:spPr>
      </p:pic>
      <p:sp>
        <p:nvSpPr>
          <p:cNvPr id="9" name="Rectangle 8">
            <a:extLst>
              <a:ext uri="{FF2B5EF4-FFF2-40B4-BE49-F238E27FC236}">
                <a16:creationId xmlns:a16="http://schemas.microsoft.com/office/drawing/2014/main" id="{64D7B966-0ECB-4F5D-9183-BEC68E4F4825}"/>
              </a:ext>
            </a:extLst>
          </p:cNvPr>
          <p:cNvSpPr>
            <a:spLocks noGrp="1"/>
          </p:cNvSpPr>
          <p:nvPr/>
        </p:nvSpPr>
        <p:spPr>
          <a:xfrm>
            <a:off x="638175" y="5095875"/>
            <a:ext cx="10287000" cy="762000"/>
          </a:xfrm>
          <a:prstGeom prst="rect">
            <a:avLst/>
          </a:prstGeom>
          <a:noFill/>
          <a:ln w="0">
            <a:noFill/>
            <a:prstDash val="solid"/>
          </a:ln>
        </p:spPr>
        <p:txBody>
          <a:bodyPr/>
          <a:lstStyle>
            <a:defPPr>
              <a:defRPr sz="2250" b="0">
                <a:solidFill>
                  <a:srgbClr val="B5A2FF"/>
                </a:solidFill>
                <a:latin typeface="DejaVu Sans"/>
                <a:ea typeface="DejaVu Sans"/>
                <a:cs typeface="DejaVu Sans"/>
              </a:defRPr>
            </a:defPPr>
            <a:lvl1pPr>
              <a:defRPr sz="2250" b="0">
                <a:solidFill>
                  <a:srgbClr val="B5A2FF"/>
                </a:solidFill>
                <a:latin typeface="DejaVu Sans"/>
                <a:ea typeface="DejaVu Sans"/>
                <a:cs typeface="DejaVu Sans"/>
              </a:defRPr>
            </a:lvl1pPr>
            <a:lvl2pPr>
              <a:defRPr sz="2250" b="0">
                <a:solidFill>
                  <a:srgbClr val="B5A2FF"/>
                </a:solidFill>
                <a:latin typeface="DejaVu Sans"/>
                <a:ea typeface="DejaVu Sans"/>
                <a:cs typeface="DejaVu Sans"/>
              </a:defRPr>
            </a:lvl2pPr>
            <a:lvl3pPr>
              <a:defRPr sz="2250" b="0">
                <a:solidFill>
                  <a:srgbClr val="B5A2FF"/>
                </a:solidFill>
                <a:latin typeface="DejaVu Sans"/>
                <a:ea typeface="DejaVu Sans"/>
                <a:cs typeface="DejaVu Sans"/>
              </a:defRPr>
            </a:lvl3pPr>
            <a:lvl4pPr>
              <a:defRPr sz="2250" b="0">
                <a:solidFill>
                  <a:srgbClr val="B5A2FF"/>
                </a:solidFill>
                <a:latin typeface="DejaVu Sans"/>
                <a:ea typeface="DejaVu Sans"/>
                <a:cs typeface="DejaVu Sans"/>
              </a:defRPr>
            </a:lvl4pPr>
            <a:lvl5pPr>
              <a:defRPr sz="2250" b="0">
                <a:solidFill>
                  <a:srgbClr val="B5A2FF"/>
                </a:solidFill>
                <a:latin typeface="DejaVu Sans"/>
                <a:ea typeface="DejaVu Sans"/>
                <a:cs typeface="DejaVu Sans"/>
              </a:defRPr>
            </a:lvl5pPr>
            <a:lvl6pPr>
              <a:defRPr sz="2250" b="0">
                <a:solidFill>
                  <a:srgbClr val="B5A2FF"/>
                </a:solidFill>
                <a:latin typeface="DejaVu Sans"/>
                <a:ea typeface="DejaVu Sans"/>
                <a:cs typeface="DejaVu Sans"/>
              </a:defRPr>
            </a:lvl6pPr>
            <a:lvl7pPr>
              <a:defRPr sz="2250" b="0">
                <a:solidFill>
                  <a:srgbClr val="B5A2FF"/>
                </a:solidFill>
                <a:latin typeface="DejaVu Sans"/>
                <a:ea typeface="DejaVu Sans"/>
                <a:cs typeface="DejaVu Sans"/>
              </a:defRPr>
            </a:lvl7pPr>
            <a:lvl8pPr>
              <a:defRPr sz="2250" b="0">
                <a:solidFill>
                  <a:srgbClr val="B5A2FF"/>
                </a:solidFill>
                <a:latin typeface="DejaVu Sans"/>
                <a:ea typeface="DejaVu Sans"/>
                <a:cs typeface="DejaVu Sans"/>
              </a:defRPr>
            </a:lvl8pPr>
            <a:lvl9pPr>
              <a:defRPr sz="2250" b="0">
                <a:solidFill>
                  <a:srgbClr val="B5A2FF"/>
                </a:solidFill>
                <a:latin typeface="DejaVu Sans"/>
                <a:ea typeface="DejaVu Sans"/>
                <a:cs typeface="DejaVu Sans"/>
              </a:defRPr>
            </a:lvl9pPr>
          </a:lstStyle>
          <a:p>
            <a:pPr>
              <a:defRPr sz="2250" b="0">
                <a:solidFill>
                  <a:srgbClr val="B5A2FF"/>
                </a:solidFill>
                <a:latin typeface="DejaVu Sans"/>
                <a:ea typeface="DejaVu Sans"/>
                <a:cs typeface="DejaVu Sans"/>
              </a:defRPr>
            </a:pPr>
            <a:r>
              <a:rPr sz="2250" b="0">
                <a:solidFill>
                  <a:srgbClr val="B5A2FF"/>
                </a:solidFill>
                <a:latin typeface="DejaVu Sans"/>
                <a:ea typeface="DejaVu Sans"/>
                <a:cs typeface="DejaVu Sans"/>
              </a:rPr>
              <a:t>Off-diagonal terms couple angular-velocity components.</a:t>
            </a:r>
          </a:p>
        </p:txBody>
      </p:sp>
    </p:spTree>
    <p:extLst>
      <p:ext uri="{BB962C8B-B14F-4D97-AF65-F5344CB8AC3E}">
        <p14:creationId xmlns:p14="http://schemas.microsoft.com/office/powerpoint/2010/main" val="978832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34C5BF0-3FB2-4B1B-87A1-A9DE3D89C1FF}"/>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81F9DEAB-98B2-4CF9-A108-0423614ED50E}"/>
              </a:ext>
            </a:extLst>
          </p:cNvPr>
          <p:cNvSpPr>
            <a:spLocks noGrp="1"/>
          </p:cNvSpPr>
          <p:nvPr/>
        </p:nvSpPr>
        <p:spPr>
          <a:xfrm>
            <a:off x="0" y="0"/>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8BE0E650-A383-4754-9DDF-CB17C89FF083}"/>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6E3AA057-B2A3-46B3-B2A0-30462303689A}"/>
              </a:ext>
            </a:extLst>
          </p:cNvPr>
          <p:cNvSpPr>
            <a:spLocks noGrp="1"/>
          </p:cNvSpPr>
          <p:nvPr/>
        </p:nvSpPr>
        <p:spPr>
          <a:xfrm>
            <a:off x="609600" y="933450"/>
            <a:ext cx="10858500" cy="1000125"/>
          </a:xfrm>
          <a:prstGeom prst="rect">
            <a:avLst/>
          </a:prstGeom>
          <a:noFill/>
          <a:ln w="0">
            <a:noFill/>
            <a:prstDash val="solid"/>
          </a:ln>
        </p:spPr>
        <p:txBody>
          <a:bodyPr/>
          <a:lstStyle>
            <a:defPPr>
              <a:defRPr sz="3225" b="1">
                <a:solidFill>
                  <a:srgbClr val="F6F7FF"/>
                </a:solidFill>
                <a:latin typeface="DejaVu Sans"/>
                <a:ea typeface="DejaVu Sans"/>
                <a:cs typeface="DejaVu Sans"/>
              </a:defRPr>
            </a:defPPr>
            <a:lvl1pPr>
              <a:defRPr sz="3225" b="1">
                <a:solidFill>
                  <a:srgbClr val="F6F7FF"/>
                </a:solidFill>
                <a:latin typeface="DejaVu Sans"/>
                <a:ea typeface="DejaVu Sans"/>
                <a:cs typeface="DejaVu Sans"/>
              </a:defRPr>
            </a:lvl1pPr>
            <a:lvl2pPr>
              <a:defRPr sz="3225" b="1">
                <a:solidFill>
                  <a:srgbClr val="F6F7FF"/>
                </a:solidFill>
                <a:latin typeface="DejaVu Sans"/>
                <a:ea typeface="DejaVu Sans"/>
                <a:cs typeface="DejaVu Sans"/>
              </a:defRPr>
            </a:lvl2pPr>
            <a:lvl3pPr>
              <a:defRPr sz="3225" b="1">
                <a:solidFill>
                  <a:srgbClr val="F6F7FF"/>
                </a:solidFill>
                <a:latin typeface="DejaVu Sans"/>
                <a:ea typeface="DejaVu Sans"/>
                <a:cs typeface="DejaVu Sans"/>
              </a:defRPr>
            </a:lvl3pPr>
            <a:lvl4pPr>
              <a:defRPr sz="3225" b="1">
                <a:solidFill>
                  <a:srgbClr val="F6F7FF"/>
                </a:solidFill>
                <a:latin typeface="DejaVu Sans"/>
                <a:ea typeface="DejaVu Sans"/>
                <a:cs typeface="DejaVu Sans"/>
              </a:defRPr>
            </a:lvl4pPr>
            <a:lvl5pPr>
              <a:defRPr sz="3225" b="1">
                <a:solidFill>
                  <a:srgbClr val="F6F7FF"/>
                </a:solidFill>
                <a:latin typeface="DejaVu Sans"/>
                <a:ea typeface="DejaVu Sans"/>
                <a:cs typeface="DejaVu Sans"/>
              </a:defRPr>
            </a:lvl5pPr>
            <a:lvl6pPr>
              <a:defRPr sz="3225" b="1">
                <a:solidFill>
                  <a:srgbClr val="F6F7FF"/>
                </a:solidFill>
                <a:latin typeface="DejaVu Sans"/>
                <a:ea typeface="DejaVu Sans"/>
                <a:cs typeface="DejaVu Sans"/>
              </a:defRPr>
            </a:lvl6pPr>
            <a:lvl7pPr>
              <a:defRPr sz="3225" b="1">
                <a:solidFill>
                  <a:srgbClr val="F6F7FF"/>
                </a:solidFill>
                <a:latin typeface="DejaVu Sans"/>
                <a:ea typeface="DejaVu Sans"/>
                <a:cs typeface="DejaVu Sans"/>
              </a:defRPr>
            </a:lvl7pPr>
            <a:lvl8pPr>
              <a:defRPr sz="3225" b="1">
                <a:solidFill>
                  <a:srgbClr val="F6F7FF"/>
                </a:solidFill>
                <a:latin typeface="DejaVu Sans"/>
                <a:ea typeface="DejaVu Sans"/>
                <a:cs typeface="DejaVu Sans"/>
              </a:defRPr>
            </a:lvl8pPr>
            <a:lvl9pPr>
              <a:defRPr sz="3225" b="1">
                <a:solidFill>
                  <a:srgbClr val="F6F7FF"/>
                </a:solidFill>
                <a:latin typeface="DejaVu Sans"/>
                <a:ea typeface="DejaVu Sans"/>
                <a:cs typeface="DejaVu Sans"/>
              </a:defRPr>
            </a:lvl9pPr>
          </a:lstStyle>
          <a:p>
            <a:pPr>
              <a:defRPr sz="3225" b="1">
                <a:solidFill>
                  <a:srgbClr val="F6F7FF"/>
                </a:solidFill>
                <a:latin typeface="DejaVu Sans"/>
                <a:ea typeface="DejaVu Sans"/>
                <a:cs typeface="DejaVu Sans"/>
              </a:defRPr>
            </a:pPr>
            <a:r>
              <a:rPr sz="3225" b="1">
                <a:solidFill>
                  <a:srgbClr val="F6F7FF"/>
                </a:solidFill>
                <a:latin typeface="DejaVu Sans"/>
                <a:ea typeface="DejaVu Sans"/>
                <a:cs typeface="DejaVu Sans"/>
              </a:rPr>
              <a:t>Principal axes remove the cross terms</a:t>
            </a:r>
          </a:p>
        </p:txBody>
      </p:sp>
      <p:sp>
        <p:nvSpPr>
          <p:cNvPr id="5" name="Rectangle 4">
            <a:extLst>
              <a:ext uri="{FF2B5EF4-FFF2-40B4-BE49-F238E27FC236}">
                <a16:creationId xmlns:a16="http://schemas.microsoft.com/office/drawing/2014/main" id="{5542B1B8-69FB-4498-8DCB-28F0FF3E9943}"/>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B1.2  /  ROTATIONAL ENERGY</a:t>
            </a:r>
          </a:p>
        </p:txBody>
      </p:sp>
      <p:sp>
        <p:nvSpPr>
          <p:cNvPr id="6" name="Rectangle 5">
            <a:extLst>
              <a:ext uri="{FF2B5EF4-FFF2-40B4-BE49-F238E27FC236}">
                <a16:creationId xmlns:a16="http://schemas.microsoft.com/office/drawing/2014/main" id="{56A36850-A65F-47DE-BECD-4FD8911E88DE}"/>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06</a:t>
            </a:r>
          </a:p>
        </p:txBody>
      </p:sp>
      <p:pic>
        <p:nvPicPr>
          <p:cNvPr id="7" name="Picture 6">
            <a:extLst>
              <a:ext uri="{FF2B5EF4-FFF2-40B4-BE49-F238E27FC236}">
                <a16:creationId xmlns:a16="http://schemas.microsoft.com/office/drawing/2014/main" id="{3BA22150-88EA-4472-878B-A63B688A0ECE}"/>
              </a:ext>
            </a:extLst>
          </p:cNvPr>
          <p:cNvPicPr>
            <a:picLocks noChangeAspect="1"/>
          </p:cNvPicPr>
          <p:nvPr/>
        </p:nvPicPr>
        <p:blipFill>
          <a:blip r:embed="rId4"/>
          <a:stretch/>
        </p:blipFill>
        <p:spPr>
          <a:xfrm>
            <a:off x="2007201" y="1952625"/>
            <a:ext cx="5148649" cy="1190625"/>
          </a:xfrm>
          <a:prstGeom prst="rect">
            <a:avLst/>
          </a:prstGeom>
        </p:spPr>
      </p:pic>
      <p:pic>
        <p:nvPicPr>
          <p:cNvPr id="8" name="Picture 7">
            <a:extLst>
              <a:ext uri="{FF2B5EF4-FFF2-40B4-BE49-F238E27FC236}">
                <a16:creationId xmlns:a16="http://schemas.microsoft.com/office/drawing/2014/main" id="{835265E0-AB1C-4A52-95F2-B486E856CDD6}"/>
              </a:ext>
            </a:extLst>
          </p:cNvPr>
          <p:cNvPicPr>
            <a:picLocks noChangeAspect="1"/>
          </p:cNvPicPr>
          <p:nvPr/>
        </p:nvPicPr>
        <p:blipFill>
          <a:blip r:embed="rId5"/>
          <a:stretch/>
        </p:blipFill>
        <p:spPr>
          <a:xfrm>
            <a:off x="8382000" y="2948539"/>
            <a:ext cx="3095625" cy="2437296"/>
          </a:xfrm>
          <a:prstGeom prst="rect">
            <a:avLst/>
          </a:prstGeom>
        </p:spPr>
      </p:pic>
      <p:sp>
        <p:nvSpPr>
          <p:cNvPr id="9" name="Rectangle 8">
            <a:extLst>
              <a:ext uri="{FF2B5EF4-FFF2-40B4-BE49-F238E27FC236}">
                <a16:creationId xmlns:a16="http://schemas.microsoft.com/office/drawing/2014/main" id="{5EBDFDAD-01DE-4BF8-911B-D5D407414377}"/>
              </a:ext>
            </a:extLst>
          </p:cNvPr>
          <p:cNvSpPr>
            <a:spLocks noGrp="1"/>
          </p:cNvSpPr>
          <p:nvPr/>
        </p:nvSpPr>
        <p:spPr>
          <a:xfrm>
            <a:off x="638175" y="3790950"/>
            <a:ext cx="7239000" cy="952500"/>
          </a:xfrm>
          <a:prstGeom prst="rect">
            <a:avLst/>
          </a:prstGeom>
          <a:noFill/>
          <a:ln w="0">
            <a:noFill/>
            <a:prstDash val="solid"/>
          </a:ln>
        </p:spPr>
        <p:txBody>
          <a:bodyPr/>
          <a:lstStyle>
            <a:defPPr>
              <a:defRPr sz="2175" b="0">
                <a:solidFill>
                  <a:srgbClr val="F6F7FF"/>
                </a:solidFill>
                <a:latin typeface="DejaVu Sans"/>
                <a:ea typeface="DejaVu Sans"/>
                <a:cs typeface="DejaVu Sans"/>
              </a:defRPr>
            </a:defPPr>
            <a:lvl1pPr>
              <a:defRPr sz="2175" b="0">
                <a:solidFill>
                  <a:srgbClr val="F6F7FF"/>
                </a:solidFill>
                <a:latin typeface="DejaVu Sans"/>
                <a:ea typeface="DejaVu Sans"/>
                <a:cs typeface="DejaVu Sans"/>
              </a:defRPr>
            </a:lvl1pPr>
            <a:lvl2pPr>
              <a:defRPr sz="2175" b="0">
                <a:solidFill>
                  <a:srgbClr val="F6F7FF"/>
                </a:solidFill>
                <a:latin typeface="DejaVu Sans"/>
                <a:ea typeface="DejaVu Sans"/>
                <a:cs typeface="DejaVu Sans"/>
              </a:defRPr>
            </a:lvl2pPr>
            <a:lvl3pPr>
              <a:defRPr sz="2175" b="0">
                <a:solidFill>
                  <a:srgbClr val="F6F7FF"/>
                </a:solidFill>
                <a:latin typeface="DejaVu Sans"/>
                <a:ea typeface="DejaVu Sans"/>
                <a:cs typeface="DejaVu Sans"/>
              </a:defRPr>
            </a:lvl3pPr>
            <a:lvl4pPr>
              <a:defRPr sz="2175" b="0">
                <a:solidFill>
                  <a:srgbClr val="F6F7FF"/>
                </a:solidFill>
                <a:latin typeface="DejaVu Sans"/>
                <a:ea typeface="DejaVu Sans"/>
                <a:cs typeface="DejaVu Sans"/>
              </a:defRPr>
            </a:lvl4pPr>
            <a:lvl5pPr>
              <a:defRPr sz="2175" b="0">
                <a:solidFill>
                  <a:srgbClr val="F6F7FF"/>
                </a:solidFill>
                <a:latin typeface="DejaVu Sans"/>
                <a:ea typeface="DejaVu Sans"/>
                <a:cs typeface="DejaVu Sans"/>
              </a:defRPr>
            </a:lvl5pPr>
            <a:lvl6pPr>
              <a:defRPr sz="2175" b="0">
                <a:solidFill>
                  <a:srgbClr val="F6F7FF"/>
                </a:solidFill>
                <a:latin typeface="DejaVu Sans"/>
                <a:ea typeface="DejaVu Sans"/>
                <a:cs typeface="DejaVu Sans"/>
              </a:defRPr>
            </a:lvl6pPr>
            <a:lvl7pPr>
              <a:defRPr sz="2175" b="0">
                <a:solidFill>
                  <a:srgbClr val="F6F7FF"/>
                </a:solidFill>
                <a:latin typeface="DejaVu Sans"/>
                <a:ea typeface="DejaVu Sans"/>
                <a:cs typeface="DejaVu Sans"/>
              </a:defRPr>
            </a:lvl7pPr>
            <a:lvl8pPr>
              <a:defRPr sz="2175" b="0">
                <a:solidFill>
                  <a:srgbClr val="F6F7FF"/>
                </a:solidFill>
                <a:latin typeface="DejaVu Sans"/>
                <a:ea typeface="DejaVu Sans"/>
                <a:cs typeface="DejaVu Sans"/>
              </a:defRPr>
            </a:lvl8pPr>
            <a:lvl9pPr>
              <a:defRPr sz="2175" b="0">
                <a:solidFill>
                  <a:srgbClr val="F6F7FF"/>
                </a:solidFill>
                <a:latin typeface="DejaVu Sans"/>
                <a:ea typeface="DejaVu Sans"/>
                <a:cs typeface="DejaVu Sans"/>
              </a:defRPr>
            </a:lvl9pPr>
          </a:lstStyle>
          <a:p>
            <a:pPr>
              <a:defRPr sz="2175" b="0">
                <a:solidFill>
                  <a:srgbClr val="F6F7FF"/>
                </a:solidFill>
                <a:latin typeface="DejaVu Sans"/>
                <a:ea typeface="DejaVu Sans"/>
                <a:cs typeface="DejaVu Sans"/>
              </a:defRPr>
            </a:pPr>
            <a:r>
              <a:rPr sz="2175" b="0">
                <a:solidFill>
                  <a:srgbClr val="F6F7FF"/>
                </a:solidFill>
                <a:latin typeface="DejaVu Sans"/>
                <a:ea typeface="DejaVu Sans"/>
                <a:cs typeface="DejaVu Sans"/>
              </a:rPr>
              <a:t>In a principal-axis basis, each component</a:t>
            </a:r>
          </a:p>
          <a:p>
            <a:pPr>
              <a:defRPr sz="2175" b="0">
                <a:solidFill>
                  <a:srgbClr val="F6F7FF"/>
                </a:solidFill>
                <a:latin typeface="DejaVu Sans"/>
                <a:ea typeface="DejaVu Sans"/>
                <a:cs typeface="DejaVu Sans"/>
              </a:defRPr>
            </a:pPr>
            <a:r>
              <a:rPr sz="2175" b="0">
                <a:solidFill>
                  <a:srgbClr val="F6F7FF"/>
                </a:solidFill>
                <a:latin typeface="DejaVu Sans"/>
                <a:ea typeface="DejaVu Sans"/>
                <a:cs typeface="DejaVu Sans"/>
              </a:rPr>
              <a:t>contributes ½Iₖωₖ².</a:t>
            </a:r>
          </a:p>
        </p:txBody>
      </p:sp>
      <p:sp>
        <p:nvSpPr>
          <p:cNvPr id="10" name="Rectangle 9">
            <a:extLst>
              <a:ext uri="{FF2B5EF4-FFF2-40B4-BE49-F238E27FC236}">
                <a16:creationId xmlns:a16="http://schemas.microsoft.com/office/drawing/2014/main" id="{3478B04F-F7CA-4857-8468-FF59C239A072}"/>
              </a:ext>
            </a:extLst>
          </p:cNvPr>
          <p:cNvSpPr>
            <a:spLocks noGrp="1"/>
          </p:cNvSpPr>
          <p:nvPr/>
        </p:nvSpPr>
        <p:spPr>
          <a:xfrm>
            <a:off x="638175" y="5248275"/>
            <a:ext cx="7429500" cy="666750"/>
          </a:xfrm>
          <a:prstGeom prst="rect">
            <a:avLst/>
          </a:prstGeom>
          <a:noFill/>
          <a:ln w="0">
            <a:noFill/>
            <a:prstDash val="solid"/>
          </a:ln>
        </p:spPr>
        <p:txBody>
          <a:bodyPr/>
          <a:lstStyle>
            <a:defPPr>
              <a:defRPr sz="1875" b="0">
                <a:solidFill>
                  <a:srgbClr val="55F3D2"/>
                </a:solidFill>
                <a:latin typeface="DejaVu Sans"/>
                <a:ea typeface="DejaVu Sans"/>
                <a:cs typeface="DejaVu Sans"/>
              </a:defRPr>
            </a:defPPr>
            <a:lvl1pPr>
              <a:defRPr sz="1875" b="0">
                <a:solidFill>
                  <a:srgbClr val="55F3D2"/>
                </a:solidFill>
                <a:latin typeface="DejaVu Sans"/>
                <a:ea typeface="DejaVu Sans"/>
                <a:cs typeface="DejaVu Sans"/>
              </a:defRPr>
            </a:lvl1pPr>
            <a:lvl2pPr>
              <a:defRPr sz="1875" b="0">
                <a:solidFill>
                  <a:srgbClr val="55F3D2"/>
                </a:solidFill>
                <a:latin typeface="DejaVu Sans"/>
                <a:ea typeface="DejaVu Sans"/>
                <a:cs typeface="DejaVu Sans"/>
              </a:defRPr>
            </a:lvl2pPr>
            <a:lvl3pPr>
              <a:defRPr sz="1875" b="0">
                <a:solidFill>
                  <a:srgbClr val="55F3D2"/>
                </a:solidFill>
                <a:latin typeface="DejaVu Sans"/>
                <a:ea typeface="DejaVu Sans"/>
                <a:cs typeface="DejaVu Sans"/>
              </a:defRPr>
            </a:lvl3pPr>
            <a:lvl4pPr>
              <a:defRPr sz="1875" b="0">
                <a:solidFill>
                  <a:srgbClr val="55F3D2"/>
                </a:solidFill>
                <a:latin typeface="DejaVu Sans"/>
                <a:ea typeface="DejaVu Sans"/>
                <a:cs typeface="DejaVu Sans"/>
              </a:defRPr>
            </a:lvl4pPr>
            <a:lvl5pPr>
              <a:defRPr sz="1875" b="0">
                <a:solidFill>
                  <a:srgbClr val="55F3D2"/>
                </a:solidFill>
                <a:latin typeface="DejaVu Sans"/>
                <a:ea typeface="DejaVu Sans"/>
                <a:cs typeface="DejaVu Sans"/>
              </a:defRPr>
            </a:lvl5pPr>
            <a:lvl6pPr>
              <a:defRPr sz="1875" b="0">
                <a:solidFill>
                  <a:srgbClr val="55F3D2"/>
                </a:solidFill>
                <a:latin typeface="DejaVu Sans"/>
                <a:ea typeface="DejaVu Sans"/>
                <a:cs typeface="DejaVu Sans"/>
              </a:defRPr>
            </a:lvl6pPr>
            <a:lvl7pPr>
              <a:defRPr sz="1875" b="0">
                <a:solidFill>
                  <a:srgbClr val="55F3D2"/>
                </a:solidFill>
                <a:latin typeface="DejaVu Sans"/>
                <a:ea typeface="DejaVu Sans"/>
                <a:cs typeface="DejaVu Sans"/>
              </a:defRPr>
            </a:lvl7pPr>
            <a:lvl8pPr>
              <a:defRPr sz="1875" b="0">
                <a:solidFill>
                  <a:srgbClr val="55F3D2"/>
                </a:solidFill>
                <a:latin typeface="DejaVu Sans"/>
                <a:ea typeface="DejaVu Sans"/>
                <a:cs typeface="DejaVu Sans"/>
              </a:defRPr>
            </a:lvl8pPr>
            <a:lvl9pPr>
              <a:defRPr sz="1875" b="0">
                <a:solidFill>
                  <a:srgbClr val="55F3D2"/>
                </a:solidFill>
                <a:latin typeface="DejaVu Sans"/>
                <a:ea typeface="DejaVu Sans"/>
                <a:cs typeface="DejaVu Sans"/>
              </a:defRPr>
            </a:lvl9pPr>
          </a:lstStyle>
          <a:p>
            <a:pPr>
              <a:defRPr sz="1875" b="0">
                <a:solidFill>
                  <a:srgbClr val="55F3D2"/>
                </a:solidFill>
                <a:latin typeface="DejaVu Sans"/>
                <a:ea typeface="DejaVu Sans"/>
                <a:cs typeface="DejaVu Sans"/>
              </a:defRPr>
            </a:pPr>
            <a:r>
              <a:rPr sz="1875" b="0">
                <a:solidFill>
                  <a:srgbClr val="55F3D2"/>
                </a:solidFill>
                <a:latin typeface="DejaVu Sans"/>
                <a:ea typeface="DejaVu Sans"/>
                <a:cs typeface="DejaVu Sans"/>
              </a:rPr>
              <a:t>Rotation about one principal axis leaves one term.</a:t>
            </a:r>
          </a:p>
        </p:txBody>
      </p:sp>
    </p:spTree>
    <p:extLst>
      <p:ext uri="{BB962C8B-B14F-4D97-AF65-F5344CB8AC3E}">
        <p14:creationId xmlns:p14="http://schemas.microsoft.com/office/powerpoint/2010/main" val="488977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56DEA19-7520-44CA-8252-97E0DB4536FB}"/>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ED40B533-4BAE-41E8-AA95-FEA15911E520}"/>
              </a:ext>
            </a:extLst>
          </p:cNvPr>
          <p:cNvSpPr>
            <a:spLocks noGrp="1"/>
          </p:cNvSpPr>
          <p:nvPr/>
        </p:nvSpPr>
        <p:spPr>
          <a:xfrm>
            <a:off x="0" y="0"/>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2B79058D-D5DC-4B44-A153-A5AF2EEABE4B}"/>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1EB4105C-0C57-47BC-AAF0-927E984A1EF7}"/>
              </a:ext>
            </a:extLst>
          </p:cNvPr>
          <p:cNvSpPr>
            <a:spLocks noGrp="1"/>
          </p:cNvSpPr>
          <p:nvPr/>
        </p:nvSpPr>
        <p:spPr>
          <a:xfrm>
            <a:off x="609600" y="933450"/>
            <a:ext cx="10858500" cy="1000125"/>
          </a:xfrm>
          <a:prstGeom prst="rect">
            <a:avLst/>
          </a:prstGeom>
          <a:noFill/>
          <a:ln w="0">
            <a:noFill/>
            <a:prstDash val="solid"/>
          </a:ln>
        </p:spPr>
        <p:txBody>
          <a:bodyPr/>
          <a:lstStyle>
            <a:defPPr>
              <a:defRPr sz="3225" b="1">
                <a:solidFill>
                  <a:srgbClr val="F6F7FF"/>
                </a:solidFill>
                <a:latin typeface="DejaVu Sans"/>
                <a:ea typeface="DejaVu Sans"/>
                <a:cs typeface="DejaVu Sans"/>
              </a:defRPr>
            </a:defPPr>
            <a:lvl1pPr>
              <a:defRPr sz="3225" b="1">
                <a:solidFill>
                  <a:srgbClr val="F6F7FF"/>
                </a:solidFill>
                <a:latin typeface="DejaVu Sans"/>
                <a:ea typeface="DejaVu Sans"/>
                <a:cs typeface="DejaVu Sans"/>
              </a:defRPr>
            </a:lvl1pPr>
            <a:lvl2pPr>
              <a:defRPr sz="3225" b="1">
                <a:solidFill>
                  <a:srgbClr val="F6F7FF"/>
                </a:solidFill>
                <a:latin typeface="DejaVu Sans"/>
                <a:ea typeface="DejaVu Sans"/>
                <a:cs typeface="DejaVu Sans"/>
              </a:defRPr>
            </a:lvl2pPr>
            <a:lvl3pPr>
              <a:defRPr sz="3225" b="1">
                <a:solidFill>
                  <a:srgbClr val="F6F7FF"/>
                </a:solidFill>
                <a:latin typeface="DejaVu Sans"/>
                <a:ea typeface="DejaVu Sans"/>
                <a:cs typeface="DejaVu Sans"/>
              </a:defRPr>
            </a:lvl3pPr>
            <a:lvl4pPr>
              <a:defRPr sz="3225" b="1">
                <a:solidFill>
                  <a:srgbClr val="F6F7FF"/>
                </a:solidFill>
                <a:latin typeface="DejaVu Sans"/>
                <a:ea typeface="DejaVu Sans"/>
                <a:cs typeface="DejaVu Sans"/>
              </a:defRPr>
            </a:lvl4pPr>
            <a:lvl5pPr>
              <a:defRPr sz="3225" b="1">
                <a:solidFill>
                  <a:srgbClr val="F6F7FF"/>
                </a:solidFill>
                <a:latin typeface="DejaVu Sans"/>
                <a:ea typeface="DejaVu Sans"/>
                <a:cs typeface="DejaVu Sans"/>
              </a:defRPr>
            </a:lvl5pPr>
            <a:lvl6pPr>
              <a:defRPr sz="3225" b="1">
                <a:solidFill>
                  <a:srgbClr val="F6F7FF"/>
                </a:solidFill>
                <a:latin typeface="DejaVu Sans"/>
                <a:ea typeface="DejaVu Sans"/>
                <a:cs typeface="DejaVu Sans"/>
              </a:defRPr>
            </a:lvl6pPr>
            <a:lvl7pPr>
              <a:defRPr sz="3225" b="1">
                <a:solidFill>
                  <a:srgbClr val="F6F7FF"/>
                </a:solidFill>
                <a:latin typeface="DejaVu Sans"/>
                <a:ea typeface="DejaVu Sans"/>
                <a:cs typeface="DejaVu Sans"/>
              </a:defRPr>
            </a:lvl7pPr>
            <a:lvl8pPr>
              <a:defRPr sz="3225" b="1">
                <a:solidFill>
                  <a:srgbClr val="F6F7FF"/>
                </a:solidFill>
                <a:latin typeface="DejaVu Sans"/>
                <a:ea typeface="DejaVu Sans"/>
                <a:cs typeface="DejaVu Sans"/>
              </a:defRPr>
            </a:lvl8pPr>
            <a:lvl9pPr>
              <a:defRPr sz="3225" b="1">
                <a:solidFill>
                  <a:srgbClr val="F6F7FF"/>
                </a:solidFill>
                <a:latin typeface="DejaVu Sans"/>
                <a:ea typeface="DejaVu Sans"/>
                <a:cs typeface="DejaVu Sans"/>
              </a:defRPr>
            </a:lvl9pPr>
          </a:lstStyle>
          <a:p>
            <a:pPr>
              <a:defRPr sz="3225" b="1">
                <a:solidFill>
                  <a:srgbClr val="F6F7FF"/>
                </a:solidFill>
                <a:latin typeface="DejaVu Sans"/>
                <a:ea typeface="DejaVu Sans"/>
                <a:cs typeface="DejaVu Sans"/>
              </a:defRPr>
            </a:pPr>
            <a:r>
              <a:rPr sz="3225" b="1">
                <a:solidFill>
                  <a:srgbClr val="F6F7FF"/>
                </a:solidFill>
                <a:latin typeface="DejaVu Sans"/>
                <a:ea typeface="DejaVu Sans"/>
                <a:cs typeface="DejaVu Sans"/>
              </a:rPr>
              <a:t>A scalar inertia belongs to a chosen axis</a:t>
            </a:r>
          </a:p>
        </p:txBody>
      </p:sp>
      <p:sp>
        <p:nvSpPr>
          <p:cNvPr id="5" name="Rectangle 4">
            <a:extLst>
              <a:ext uri="{FF2B5EF4-FFF2-40B4-BE49-F238E27FC236}">
                <a16:creationId xmlns:a16="http://schemas.microsoft.com/office/drawing/2014/main" id="{62F160F2-5297-4F7D-940C-9BFAD6B1C447}"/>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B1.2  /  ROTATIONAL ENERGY</a:t>
            </a:r>
          </a:p>
        </p:txBody>
      </p:sp>
      <p:sp>
        <p:nvSpPr>
          <p:cNvPr id="6" name="Rectangle 5">
            <a:extLst>
              <a:ext uri="{FF2B5EF4-FFF2-40B4-BE49-F238E27FC236}">
                <a16:creationId xmlns:a16="http://schemas.microsoft.com/office/drawing/2014/main" id="{C8CAF4DD-A3A3-4EEC-90DE-4B874C1B3EF6}"/>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07</a:t>
            </a:r>
          </a:p>
        </p:txBody>
      </p:sp>
      <p:pic>
        <p:nvPicPr>
          <p:cNvPr id="7" name="Picture 6">
            <a:extLst>
              <a:ext uri="{FF2B5EF4-FFF2-40B4-BE49-F238E27FC236}">
                <a16:creationId xmlns:a16="http://schemas.microsoft.com/office/drawing/2014/main" id="{ACE5BFDF-DC76-4192-B480-50CF3C3FBBD1}"/>
              </a:ext>
            </a:extLst>
          </p:cNvPr>
          <p:cNvPicPr>
            <a:picLocks noChangeAspect="1"/>
          </p:cNvPicPr>
          <p:nvPr/>
        </p:nvPicPr>
        <p:blipFill>
          <a:blip r:embed="rId4"/>
          <a:stretch/>
        </p:blipFill>
        <p:spPr>
          <a:xfrm>
            <a:off x="2906927" y="1885950"/>
            <a:ext cx="5920946" cy="1095375"/>
          </a:xfrm>
          <a:prstGeom prst="rect">
            <a:avLst/>
          </a:prstGeom>
        </p:spPr>
      </p:pic>
      <p:pic>
        <p:nvPicPr>
          <p:cNvPr id="8" name="Picture 7">
            <a:extLst>
              <a:ext uri="{FF2B5EF4-FFF2-40B4-BE49-F238E27FC236}">
                <a16:creationId xmlns:a16="http://schemas.microsoft.com/office/drawing/2014/main" id="{AC536252-6474-4790-9B7E-DF816A4CCD0F}"/>
              </a:ext>
            </a:extLst>
          </p:cNvPr>
          <p:cNvPicPr>
            <a:picLocks noChangeAspect="1"/>
          </p:cNvPicPr>
          <p:nvPr/>
        </p:nvPicPr>
        <p:blipFill>
          <a:blip r:embed="rId5"/>
          <a:stretch/>
        </p:blipFill>
        <p:spPr>
          <a:xfrm>
            <a:off x="2474365" y="3314700"/>
            <a:ext cx="2423621" cy="1238250"/>
          </a:xfrm>
          <a:prstGeom prst="rect">
            <a:avLst/>
          </a:prstGeom>
        </p:spPr>
      </p:pic>
      <p:sp>
        <p:nvSpPr>
          <p:cNvPr id="9" name="Rectangle 8">
            <a:extLst>
              <a:ext uri="{FF2B5EF4-FFF2-40B4-BE49-F238E27FC236}">
                <a16:creationId xmlns:a16="http://schemas.microsoft.com/office/drawing/2014/main" id="{1C64F504-B635-4874-8FB1-36453913D94D}"/>
              </a:ext>
            </a:extLst>
          </p:cNvPr>
          <p:cNvSpPr>
            <a:spLocks noGrp="1"/>
          </p:cNvSpPr>
          <p:nvPr/>
        </p:nvSpPr>
        <p:spPr>
          <a:xfrm>
            <a:off x="638175" y="5067300"/>
            <a:ext cx="10477500" cy="571500"/>
          </a:xfrm>
          <a:prstGeom prst="rect">
            <a:avLst/>
          </a:prstGeom>
          <a:noFill/>
          <a:ln w="0">
            <a:noFill/>
            <a:prstDash val="solid"/>
          </a:ln>
        </p:spPr>
        <p:txBody>
          <a:bodyPr/>
          <a:lstStyle>
            <a:defPPr>
              <a:defRPr sz="2175" b="0">
                <a:solidFill>
                  <a:srgbClr val="55F3D2"/>
                </a:solidFill>
                <a:latin typeface="DejaVu Sans"/>
                <a:ea typeface="DejaVu Sans"/>
                <a:cs typeface="DejaVu Sans"/>
              </a:defRPr>
            </a:defPPr>
            <a:lvl1pPr>
              <a:defRPr sz="2175" b="0">
                <a:solidFill>
                  <a:srgbClr val="55F3D2"/>
                </a:solidFill>
                <a:latin typeface="DejaVu Sans"/>
                <a:ea typeface="DejaVu Sans"/>
                <a:cs typeface="DejaVu Sans"/>
              </a:defRPr>
            </a:lvl1pPr>
            <a:lvl2pPr>
              <a:defRPr sz="2175" b="0">
                <a:solidFill>
                  <a:srgbClr val="55F3D2"/>
                </a:solidFill>
                <a:latin typeface="DejaVu Sans"/>
                <a:ea typeface="DejaVu Sans"/>
                <a:cs typeface="DejaVu Sans"/>
              </a:defRPr>
            </a:lvl2pPr>
            <a:lvl3pPr>
              <a:defRPr sz="2175" b="0">
                <a:solidFill>
                  <a:srgbClr val="55F3D2"/>
                </a:solidFill>
                <a:latin typeface="DejaVu Sans"/>
                <a:ea typeface="DejaVu Sans"/>
                <a:cs typeface="DejaVu Sans"/>
              </a:defRPr>
            </a:lvl3pPr>
            <a:lvl4pPr>
              <a:defRPr sz="2175" b="0">
                <a:solidFill>
                  <a:srgbClr val="55F3D2"/>
                </a:solidFill>
                <a:latin typeface="DejaVu Sans"/>
                <a:ea typeface="DejaVu Sans"/>
                <a:cs typeface="DejaVu Sans"/>
              </a:defRPr>
            </a:lvl4pPr>
            <a:lvl5pPr>
              <a:defRPr sz="2175" b="0">
                <a:solidFill>
                  <a:srgbClr val="55F3D2"/>
                </a:solidFill>
                <a:latin typeface="DejaVu Sans"/>
                <a:ea typeface="DejaVu Sans"/>
                <a:cs typeface="DejaVu Sans"/>
              </a:defRPr>
            </a:lvl5pPr>
            <a:lvl6pPr>
              <a:defRPr sz="2175" b="0">
                <a:solidFill>
                  <a:srgbClr val="55F3D2"/>
                </a:solidFill>
                <a:latin typeface="DejaVu Sans"/>
                <a:ea typeface="DejaVu Sans"/>
                <a:cs typeface="DejaVu Sans"/>
              </a:defRPr>
            </a:lvl6pPr>
            <a:lvl7pPr>
              <a:defRPr sz="2175" b="0">
                <a:solidFill>
                  <a:srgbClr val="55F3D2"/>
                </a:solidFill>
                <a:latin typeface="DejaVu Sans"/>
                <a:ea typeface="DejaVu Sans"/>
                <a:cs typeface="DejaVu Sans"/>
              </a:defRPr>
            </a:lvl7pPr>
            <a:lvl8pPr>
              <a:defRPr sz="2175" b="0">
                <a:solidFill>
                  <a:srgbClr val="55F3D2"/>
                </a:solidFill>
                <a:latin typeface="DejaVu Sans"/>
                <a:ea typeface="DejaVu Sans"/>
                <a:cs typeface="DejaVu Sans"/>
              </a:defRPr>
            </a:lvl8pPr>
            <a:lvl9pPr>
              <a:defRPr sz="2175" b="0">
                <a:solidFill>
                  <a:srgbClr val="55F3D2"/>
                </a:solidFill>
                <a:latin typeface="DejaVu Sans"/>
                <a:ea typeface="DejaVu Sans"/>
                <a:cs typeface="DejaVu Sans"/>
              </a:defRPr>
            </a:lvl9pPr>
          </a:lstStyle>
          <a:p>
            <a:pPr>
              <a:defRPr sz="2175" b="0">
                <a:solidFill>
                  <a:srgbClr val="55F3D2"/>
                </a:solidFill>
                <a:latin typeface="DejaVu Sans"/>
                <a:ea typeface="DejaVu Sans"/>
                <a:cs typeface="DejaVu Sans"/>
              </a:defRPr>
            </a:pPr>
            <a:r>
              <a:rPr sz="2175" b="0">
                <a:solidFill>
                  <a:srgbClr val="55F3D2"/>
                </a:solidFill>
                <a:latin typeface="DejaVu Sans"/>
                <a:ea typeface="DejaVu Sans"/>
                <a:cs typeface="DejaVu Sans"/>
              </a:rPr>
              <a:t>Iₙ measures mass spread perpendicular to the axis.</a:t>
            </a:r>
          </a:p>
        </p:txBody>
      </p:sp>
      <p:sp>
        <p:nvSpPr>
          <p:cNvPr id="10" name="Rectangle 9">
            <a:extLst>
              <a:ext uri="{FF2B5EF4-FFF2-40B4-BE49-F238E27FC236}">
                <a16:creationId xmlns:a16="http://schemas.microsoft.com/office/drawing/2014/main" id="{98E868A7-5E1C-4D45-8752-E32A2448AF91}"/>
              </a:ext>
            </a:extLst>
          </p:cNvPr>
          <p:cNvSpPr>
            <a:spLocks noGrp="1"/>
          </p:cNvSpPr>
          <p:nvPr/>
        </p:nvSpPr>
        <p:spPr>
          <a:xfrm>
            <a:off x="638175" y="5715000"/>
            <a:ext cx="9525000" cy="361950"/>
          </a:xfrm>
          <a:prstGeom prst="rect">
            <a:avLst/>
          </a:prstGeom>
          <a:noFill/>
          <a:ln w="0">
            <a:noFill/>
            <a:prstDash val="solid"/>
          </a:ln>
        </p:spPr>
        <p:txBody>
          <a:bodyPr/>
          <a:lstStyle>
            <a:defPPr>
              <a:defRPr sz="1800" b="0">
                <a:solidFill>
                  <a:srgbClr val="B6C3D8"/>
                </a:solidFill>
                <a:latin typeface="DejaVu Sans"/>
                <a:ea typeface="DejaVu Sans"/>
                <a:cs typeface="DejaVu Sans"/>
              </a:defRPr>
            </a:defPPr>
            <a:lvl1pPr>
              <a:defRPr sz="1800" b="0">
                <a:solidFill>
                  <a:srgbClr val="B6C3D8"/>
                </a:solidFill>
                <a:latin typeface="DejaVu Sans"/>
                <a:ea typeface="DejaVu Sans"/>
                <a:cs typeface="DejaVu Sans"/>
              </a:defRPr>
            </a:lvl1pPr>
            <a:lvl2pPr>
              <a:defRPr sz="1800" b="0">
                <a:solidFill>
                  <a:srgbClr val="B6C3D8"/>
                </a:solidFill>
                <a:latin typeface="DejaVu Sans"/>
                <a:ea typeface="DejaVu Sans"/>
                <a:cs typeface="DejaVu Sans"/>
              </a:defRPr>
            </a:lvl2pPr>
            <a:lvl3pPr>
              <a:defRPr sz="1800" b="0">
                <a:solidFill>
                  <a:srgbClr val="B6C3D8"/>
                </a:solidFill>
                <a:latin typeface="DejaVu Sans"/>
                <a:ea typeface="DejaVu Sans"/>
                <a:cs typeface="DejaVu Sans"/>
              </a:defRPr>
            </a:lvl3pPr>
            <a:lvl4pPr>
              <a:defRPr sz="1800" b="0">
                <a:solidFill>
                  <a:srgbClr val="B6C3D8"/>
                </a:solidFill>
                <a:latin typeface="DejaVu Sans"/>
                <a:ea typeface="DejaVu Sans"/>
                <a:cs typeface="DejaVu Sans"/>
              </a:defRPr>
            </a:lvl4pPr>
            <a:lvl5pPr>
              <a:defRPr sz="1800" b="0">
                <a:solidFill>
                  <a:srgbClr val="B6C3D8"/>
                </a:solidFill>
                <a:latin typeface="DejaVu Sans"/>
                <a:ea typeface="DejaVu Sans"/>
                <a:cs typeface="DejaVu Sans"/>
              </a:defRPr>
            </a:lvl5pPr>
            <a:lvl6pPr>
              <a:defRPr sz="1800" b="0">
                <a:solidFill>
                  <a:srgbClr val="B6C3D8"/>
                </a:solidFill>
                <a:latin typeface="DejaVu Sans"/>
                <a:ea typeface="DejaVu Sans"/>
                <a:cs typeface="DejaVu Sans"/>
              </a:defRPr>
            </a:lvl6pPr>
            <a:lvl7pPr>
              <a:defRPr sz="1800" b="0">
                <a:solidFill>
                  <a:srgbClr val="B6C3D8"/>
                </a:solidFill>
                <a:latin typeface="DejaVu Sans"/>
                <a:ea typeface="DejaVu Sans"/>
                <a:cs typeface="DejaVu Sans"/>
              </a:defRPr>
            </a:lvl7pPr>
            <a:lvl8pPr>
              <a:defRPr sz="1800" b="0">
                <a:solidFill>
                  <a:srgbClr val="B6C3D8"/>
                </a:solidFill>
                <a:latin typeface="DejaVu Sans"/>
                <a:ea typeface="DejaVu Sans"/>
                <a:cs typeface="DejaVu Sans"/>
              </a:defRPr>
            </a:lvl8pPr>
            <a:lvl9pPr>
              <a:defRPr sz="1800" b="0">
                <a:solidFill>
                  <a:srgbClr val="B6C3D8"/>
                </a:solidFill>
                <a:latin typeface="DejaVu Sans"/>
                <a:ea typeface="DejaVu Sans"/>
                <a:cs typeface="DejaVu Sans"/>
              </a:defRPr>
            </a:lvl9pPr>
          </a:lstStyle>
          <a:p>
            <a:pPr>
              <a:defRPr sz="1800" b="0">
                <a:solidFill>
                  <a:srgbClr val="B6C3D8"/>
                </a:solidFill>
                <a:latin typeface="DejaVu Sans"/>
                <a:ea typeface="DejaVu Sans"/>
                <a:cs typeface="DejaVu Sans"/>
              </a:defRPr>
            </a:pPr>
            <a:r>
              <a:rPr sz="1800" b="0">
                <a:solidFill>
                  <a:srgbClr val="B6C3D8"/>
                </a:solidFill>
                <a:latin typeface="DejaVu Sans"/>
                <a:ea typeface="DejaVu Sans"/>
                <a:cs typeface="DejaVu Sans"/>
              </a:rPr>
              <a:t>The axis need not be a principal axis.</a:t>
            </a:r>
          </a:p>
        </p:txBody>
      </p:sp>
    </p:spTree>
    <p:extLst>
      <p:ext uri="{BB962C8B-B14F-4D97-AF65-F5344CB8AC3E}">
        <p14:creationId xmlns:p14="http://schemas.microsoft.com/office/powerpoint/2010/main" val="15935810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2ACEB43-DF52-491B-BA5E-E7DF8161002A}"/>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56E3A5EF-0B9D-4466-9208-F4DC107BB806}"/>
              </a:ext>
            </a:extLst>
          </p:cNvPr>
          <p:cNvSpPr>
            <a:spLocks noGrp="1"/>
          </p:cNvSpPr>
          <p:nvPr/>
        </p:nvSpPr>
        <p:spPr>
          <a:xfrm>
            <a:off x="0" y="0"/>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8C75A5F8-B12E-4C44-941C-234FAD40E6C7}"/>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B2669757-2C07-452A-B369-1195D5C4D8AA}"/>
              </a:ext>
            </a:extLst>
          </p:cNvPr>
          <p:cNvSpPr>
            <a:spLocks noGrp="1"/>
          </p:cNvSpPr>
          <p:nvPr/>
        </p:nvSpPr>
        <p:spPr>
          <a:xfrm>
            <a:off x="609600" y="933450"/>
            <a:ext cx="10858500" cy="1000125"/>
          </a:xfrm>
          <a:prstGeom prst="rect">
            <a:avLst/>
          </a:prstGeom>
          <a:noFill/>
          <a:ln w="0">
            <a:noFill/>
            <a:prstDash val="solid"/>
          </a:ln>
        </p:spPr>
        <p:txBody>
          <a:bodyPr/>
          <a:lstStyle>
            <a:defPPr>
              <a:defRPr sz="3225" b="1">
                <a:solidFill>
                  <a:srgbClr val="F6F7FF"/>
                </a:solidFill>
                <a:latin typeface="DejaVu Sans"/>
                <a:ea typeface="DejaVu Sans"/>
                <a:cs typeface="DejaVu Sans"/>
              </a:defRPr>
            </a:defPPr>
            <a:lvl1pPr>
              <a:defRPr sz="3225" b="1">
                <a:solidFill>
                  <a:srgbClr val="F6F7FF"/>
                </a:solidFill>
                <a:latin typeface="DejaVu Sans"/>
                <a:ea typeface="DejaVu Sans"/>
                <a:cs typeface="DejaVu Sans"/>
              </a:defRPr>
            </a:lvl1pPr>
            <a:lvl2pPr>
              <a:defRPr sz="3225" b="1">
                <a:solidFill>
                  <a:srgbClr val="F6F7FF"/>
                </a:solidFill>
                <a:latin typeface="DejaVu Sans"/>
                <a:ea typeface="DejaVu Sans"/>
                <a:cs typeface="DejaVu Sans"/>
              </a:defRPr>
            </a:lvl2pPr>
            <a:lvl3pPr>
              <a:defRPr sz="3225" b="1">
                <a:solidFill>
                  <a:srgbClr val="F6F7FF"/>
                </a:solidFill>
                <a:latin typeface="DejaVu Sans"/>
                <a:ea typeface="DejaVu Sans"/>
                <a:cs typeface="DejaVu Sans"/>
              </a:defRPr>
            </a:lvl3pPr>
            <a:lvl4pPr>
              <a:defRPr sz="3225" b="1">
                <a:solidFill>
                  <a:srgbClr val="F6F7FF"/>
                </a:solidFill>
                <a:latin typeface="DejaVu Sans"/>
                <a:ea typeface="DejaVu Sans"/>
                <a:cs typeface="DejaVu Sans"/>
              </a:defRPr>
            </a:lvl4pPr>
            <a:lvl5pPr>
              <a:defRPr sz="3225" b="1">
                <a:solidFill>
                  <a:srgbClr val="F6F7FF"/>
                </a:solidFill>
                <a:latin typeface="DejaVu Sans"/>
                <a:ea typeface="DejaVu Sans"/>
                <a:cs typeface="DejaVu Sans"/>
              </a:defRPr>
            </a:lvl5pPr>
            <a:lvl6pPr>
              <a:defRPr sz="3225" b="1">
                <a:solidFill>
                  <a:srgbClr val="F6F7FF"/>
                </a:solidFill>
                <a:latin typeface="DejaVu Sans"/>
                <a:ea typeface="DejaVu Sans"/>
                <a:cs typeface="DejaVu Sans"/>
              </a:defRPr>
            </a:lvl6pPr>
            <a:lvl7pPr>
              <a:defRPr sz="3225" b="1">
                <a:solidFill>
                  <a:srgbClr val="F6F7FF"/>
                </a:solidFill>
                <a:latin typeface="DejaVu Sans"/>
                <a:ea typeface="DejaVu Sans"/>
                <a:cs typeface="DejaVu Sans"/>
              </a:defRPr>
            </a:lvl7pPr>
            <a:lvl8pPr>
              <a:defRPr sz="3225" b="1">
                <a:solidFill>
                  <a:srgbClr val="F6F7FF"/>
                </a:solidFill>
                <a:latin typeface="DejaVu Sans"/>
                <a:ea typeface="DejaVu Sans"/>
                <a:cs typeface="DejaVu Sans"/>
              </a:defRPr>
            </a:lvl8pPr>
            <a:lvl9pPr>
              <a:defRPr sz="3225" b="1">
                <a:solidFill>
                  <a:srgbClr val="F6F7FF"/>
                </a:solidFill>
                <a:latin typeface="DejaVu Sans"/>
                <a:ea typeface="DejaVu Sans"/>
                <a:cs typeface="DejaVu Sans"/>
              </a:defRPr>
            </a:lvl9pPr>
          </a:lstStyle>
          <a:p>
            <a:pPr>
              <a:defRPr sz="3225" b="1">
                <a:solidFill>
                  <a:srgbClr val="F6F7FF"/>
                </a:solidFill>
                <a:latin typeface="DejaVu Sans"/>
                <a:ea typeface="DejaVu Sans"/>
                <a:cs typeface="DejaVu Sans"/>
              </a:defRPr>
            </a:pPr>
            <a:r>
              <a:rPr sz="3225" b="1">
                <a:solidFill>
                  <a:srgbClr val="F6F7FF"/>
                </a:solidFill>
                <a:latin typeface="DejaVu Sans"/>
                <a:ea typeface="DejaVu Sans"/>
                <a:cs typeface="DejaVu Sans"/>
              </a:rPr>
              <a:t>Angular momentum gives another route</a:t>
            </a:r>
          </a:p>
        </p:txBody>
      </p:sp>
      <p:sp>
        <p:nvSpPr>
          <p:cNvPr id="5" name="Rectangle 4">
            <a:extLst>
              <a:ext uri="{FF2B5EF4-FFF2-40B4-BE49-F238E27FC236}">
                <a16:creationId xmlns:a16="http://schemas.microsoft.com/office/drawing/2014/main" id="{A7D2B2F9-8808-4F2B-A646-5F846BE4F95D}"/>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B1.2  /  ROTATIONAL ENERGY</a:t>
            </a:r>
          </a:p>
        </p:txBody>
      </p:sp>
      <p:sp>
        <p:nvSpPr>
          <p:cNvPr id="6" name="Rectangle 5">
            <a:extLst>
              <a:ext uri="{FF2B5EF4-FFF2-40B4-BE49-F238E27FC236}">
                <a16:creationId xmlns:a16="http://schemas.microsoft.com/office/drawing/2014/main" id="{6F8037AB-E3BC-4CCE-8B7D-221B9CF82CAD}"/>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08</a:t>
            </a:r>
          </a:p>
        </p:txBody>
      </p:sp>
      <p:pic>
        <p:nvPicPr>
          <p:cNvPr id="7" name="Picture 6">
            <a:extLst>
              <a:ext uri="{FF2B5EF4-FFF2-40B4-BE49-F238E27FC236}">
                <a16:creationId xmlns:a16="http://schemas.microsoft.com/office/drawing/2014/main" id="{81FB12EA-52BD-4E70-BBFB-F189EF2099C9}"/>
              </a:ext>
            </a:extLst>
          </p:cNvPr>
          <p:cNvPicPr>
            <a:picLocks noChangeAspect="1"/>
          </p:cNvPicPr>
          <p:nvPr/>
        </p:nvPicPr>
        <p:blipFill>
          <a:blip r:embed="rId4"/>
          <a:stretch/>
        </p:blipFill>
        <p:spPr>
          <a:xfrm>
            <a:off x="2083568" y="1830358"/>
            <a:ext cx="4423375" cy="1190625"/>
          </a:xfrm>
          <a:prstGeom prst="rect">
            <a:avLst/>
          </a:prstGeom>
        </p:spPr>
      </p:pic>
      <p:pic>
        <p:nvPicPr>
          <p:cNvPr id="8" name="Picture 7">
            <a:extLst>
              <a:ext uri="{FF2B5EF4-FFF2-40B4-BE49-F238E27FC236}">
                <a16:creationId xmlns:a16="http://schemas.microsoft.com/office/drawing/2014/main" id="{601DC67D-6A0F-4297-8743-6E75A1F18C07}"/>
              </a:ext>
            </a:extLst>
          </p:cNvPr>
          <p:cNvPicPr>
            <a:picLocks noChangeAspect="1"/>
          </p:cNvPicPr>
          <p:nvPr/>
        </p:nvPicPr>
        <p:blipFill>
          <a:blip r:embed="rId5"/>
          <a:stretch/>
        </p:blipFill>
        <p:spPr>
          <a:xfrm>
            <a:off x="2203708" y="3492557"/>
            <a:ext cx="2545142" cy="1047750"/>
          </a:xfrm>
          <a:prstGeom prst="rect">
            <a:avLst/>
          </a:prstGeom>
        </p:spPr>
      </p:pic>
      <p:sp>
        <p:nvSpPr>
          <p:cNvPr id="9" name="Rectangle 8">
            <a:extLst>
              <a:ext uri="{FF2B5EF4-FFF2-40B4-BE49-F238E27FC236}">
                <a16:creationId xmlns:a16="http://schemas.microsoft.com/office/drawing/2014/main" id="{0F002415-EC36-4C72-820E-4AFBE8D99E0B}"/>
              </a:ext>
            </a:extLst>
          </p:cNvPr>
          <p:cNvSpPr>
            <a:spLocks noGrp="1"/>
          </p:cNvSpPr>
          <p:nvPr/>
        </p:nvSpPr>
        <p:spPr>
          <a:xfrm>
            <a:off x="638175" y="5133975"/>
            <a:ext cx="10382250" cy="762000"/>
          </a:xfrm>
          <a:prstGeom prst="rect">
            <a:avLst/>
          </a:prstGeom>
          <a:noFill/>
          <a:ln w="0">
            <a:noFill/>
            <a:prstDash val="solid"/>
          </a:ln>
        </p:spPr>
        <p:txBody>
          <a:bodyPr/>
          <a:lstStyle>
            <a:defPPr>
              <a:defRPr sz="2250" b="0">
                <a:solidFill>
                  <a:srgbClr val="B6C3D8"/>
                </a:solidFill>
                <a:latin typeface="DejaVu Sans"/>
                <a:ea typeface="DejaVu Sans"/>
                <a:cs typeface="DejaVu Sans"/>
              </a:defRPr>
            </a:defPPr>
            <a:lvl1pPr>
              <a:defRPr sz="2250" b="0">
                <a:solidFill>
                  <a:srgbClr val="B6C3D8"/>
                </a:solidFill>
                <a:latin typeface="DejaVu Sans"/>
                <a:ea typeface="DejaVu Sans"/>
                <a:cs typeface="DejaVu Sans"/>
              </a:defRPr>
            </a:lvl1pPr>
            <a:lvl2pPr>
              <a:defRPr sz="2250" b="0">
                <a:solidFill>
                  <a:srgbClr val="B6C3D8"/>
                </a:solidFill>
                <a:latin typeface="DejaVu Sans"/>
                <a:ea typeface="DejaVu Sans"/>
                <a:cs typeface="DejaVu Sans"/>
              </a:defRPr>
            </a:lvl2pPr>
            <a:lvl3pPr>
              <a:defRPr sz="2250" b="0">
                <a:solidFill>
                  <a:srgbClr val="B6C3D8"/>
                </a:solidFill>
                <a:latin typeface="DejaVu Sans"/>
                <a:ea typeface="DejaVu Sans"/>
                <a:cs typeface="DejaVu Sans"/>
              </a:defRPr>
            </a:lvl3pPr>
            <a:lvl4pPr>
              <a:defRPr sz="2250" b="0">
                <a:solidFill>
                  <a:srgbClr val="B6C3D8"/>
                </a:solidFill>
                <a:latin typeface="DejaVu Sans"/>
                <a:ea typeface="DejaVu Sans"/>
                <a:cs typeface="DejaVu Sans"/>
              </a:defRPr>
            </a:lvl4pPr>
            <a:lvl5pPr>
              <a:defRPr sz="2250" b="0">
                <a:solidFill>
                  <a:srgbClr val="B6C3D8"/>
                </a:solidFill>
                <a:latin typeface="DejaVu Sans"/>
                <a:ea typeface="DejaVu Sans"/>
                <a:cs typeface="DejaVu Sans"/>
              </a:defRPr>
            </a:lvl5pPr>
            <a:lvl6pPr>
              <a:defRPr sz="2250" b="0">
                <a:solidFill>
                  <a:srgbClr val="B6C3D8"/>
                </a:solidFill>
                <a:latin typeface="DejaVu Sans"/>
                <a:ea typeface="DejaVu Sans"/>
                <a:cs typeface="DejaVu Sans"/>
              </a:defRPr>
            </a:lvl6pPr>
            <a:lvl7pPr>
              <a:defRPr sz="2250" b="0">
                <a:solidFill>
                  <a:srgbClr val="B6C3D8"/>
                </a:solidFill>
                <a:latin typeface="DejaVu Sans"/>
                <a:ea typeface="DejaVu Sans"/>
                <a:cs typeface="DejaVu Sans"/>
              </a:defRPr>
            </a:lvl7pPr>
            <a:lvl8pPr>
              <a:defRPr sz="2250" b="0">
                <a:solidFill>
                  <a:srgbClr val="B6C3D8"/>
                </a:solidFill>
                <a:latin typeface="DejaVu Sans"/>
                <a:ea typeface="DejaVu Sans"/>
                <a:cs typeface="DejaVu Sans"/>
              </a:defRPr>
            </a:lvl8pPr>
            <a:lvl9pPr>
              <a:defRPr sz="2250" b="0">
                <a:solidFill>
                  <a:srgbClr val="B6C3D8"/>
                </a:solidFill>
                <a:latin typeface="DejaVu Sans"/>
                <a:ea typeface="DejaVu Sans"/>
                <a:cs typeface="DejaVu Sans"/>
              </a:defRPr>
            </a:lvl9pPr>
          </a:lstStyle>
          <a:p>
            <a:pPr>
              <a:defRPr sz="2250" b="0">
                <a:solidFill>
                  <a:srgbClr val="B6C3D8"/>
                </a:solidFill>
                <a:latin typeface="DejaVu Sans"/>
                <a:ea typeface="DejaVu Sans"/>
                <a:cs typeface="DejaVu Sans"/>
              </a:defRPr>
            </a:pPr>
            <a:r>
              <a:rPr sz="2250" b="0">
                <a:solidFill>
                  <a:srgbClr val="B6C3D8"/>
                </a:solidFill>
                <a:latin typeface="DejaVu Sans"/>
                <a:ea typeface="DejaVu Sans"/>
                <a:cs typeface="DejaVu Sans"/>
              </a:rPr>
              <a:t>Only the component of L along ω enters the energy.</a:t>
            </a:r>
          </a:p>
        </p:txBody>
      </p:sp>
    </p:spTree>
    <p:extLst>
      <p:ext uri="{BB962C8B-B14F-4D97-AF65-F5344CB8AC3E}">
        <p14:creationId xmlns:p14="http://schemas.microsoft.com/office/powerpoint/2010/main" val="1488226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2B3F110-69D2-44C2-9E75-4A7E4A882DC6}"/>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19004076-D000-4855-AC4A-3B0DFE7A34B2}"/>
              </a:ext>
            </a:extLst>
          </p:cNvPr>
          <p:cNvSpPr>
            <a:spLocks noGrp="1"/>
          </p:cNvSpPr>
          <p:nvPr/>
        </p:nvSpPr>
        <p:spPr>
          <a:xfrm>
            <a:off x="0" y="0"/>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403FF87F-0DB8-4459-AFBD-FFA08660B1E0}"/>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18506533-61EC-40FB-83AF-DF9BE1EACB76}"/>
              </a:ext>
            </a:extLst>
          </p:cNvPr>
          <p:cNvSpPr>
            <a:spLocks noGrp="1"/>
          </p:cNvSpPr>
          <p:nvPr/>
        </p:nvSpPr>
        <p:spPr>
          <a:xfrm>
            <a:off x="609600" y="933450"/>
            <a:ext cx="10858500" cy="1000125"/>
          </a:xfrm>
          <a:prstGeom prst="rect">
            <a:avLst/>
          </a:prstGeom>
          <a:noFill/>
          <a:ln w="0">
            <a:noFill/>
            <a:prstDash val="solid"/>
          </a:ln>
        </p:spPr>
        <p:txBody>
          <a:bodyPr/>
          <a:lstStyle>
            <a:defPPr>
              <a:defRPr sz="3225" b="1">
                <a:solidFill>
                  <a:srgbClr val="F6F7FF"/>
                </a:solidFill>
                <a:latin typeface="DejaVu Sans"/>
                <a:ea typeface="DejaVu Sans"/>
                <a:cs typeface="DejaVu Sans"/>
              </a:defRPr>
            </a:defPPr>
            <a:lvl1pPr>
              <a:defRPr sz="3225" b="1">
                <a:solidFill>
                  <a:srgbClr val="F6F7FF"/>
                </a:solidFill>
                <a:latin typeface="DejaVu Sans"/>
                <a:ea typeface="DejaVu Sans"/>
                <a:cs typeface="DejaVu Sans"/>
              </a:defRPr>
            </a:lvl1pPr>
            <a:lvl2pPr>
              <a:defRPr sz="3225" b="1">
                <a:solidFill>
                  <a:srgbClr val="F6F7FF"/>
                </a:solidFill>
                <a:latin typeface="DejaVu Sans"/>
                <a:ea typeface="DejaVu Sans"/>
                <a:cs typeface="DejaVu Sans"/>
              </a:defRPr>
            </a:lvl2pPr>
            <a:lvl3pPr>
              <a:defRPr sz="3225" b="1">
                <a:solidFill>
                  <a:srgbClr val="F6F7FF"/>
                </a:solidFill>
                <a:latin typeface="DejaVu Sans"/>
                <a:ea typeface="DejaVu Sans"/>
                <a:cs typeface="DejaVu Sans"/>
              </a:defRPr>
            </a:lvl3pPr>
            <a:lvl4pPr>
              <a:defRPr sz="3225" b="1">
                <a:solidFill>
                  <a:srgbClr val="F6F7FF"/>
                </a:solidFill>
                <a:latin typeface="DejaVu Sans"/>
                <a:ea typeface="DejaVu Sans"/>
                <a:cs typeface="DejaVu Sans"/>
              </a:defRPr>
            </a:lvl4pPr>
            <a:lvl5pPr>
              <a:defRPr sz="3225" b="1">
                <a:solidFill>
                  <a:srgbClr val="F6F7FF"/>
                </a:solidFill>
                <a:latin typeface="DejaVu Sans"/>
                <a:ea typeface="DejaVu Sans"/>
                <a:cs typeface="DejaVu Sans"/>
              </a:defRPr>
            </a:lvl5pPr>
            <a:lvl6pPr>
              <a:defRPr sz="3225" b="1">
                <a:solidFill>
                  <a:srgbClr val="F6F7FF"/>
                </a:solidFill>
                <a:latin typeface="DejaVu Sans"/>
                <a:ea typeface="DejaVu Sans"/>
                <a:cs typeface="DejaVu Sans"/>
              </a:defRPr>
            </a:lvl6pPr>
            <a:lvl7pPr>
              <a:defRPr sz="3225" b="1">
                <a:solidFill>
                  <a:srgbClr val="F6F7FF"/>
                </a:solidFill>
                <a:latin typeface="DejaVu Sans"/>
                <a:ea typeface="DejaVu Sans"/>
                <a:cs typeface="DejaVu Sans"/>
              </a:defRPr>
            </a:lvl7pPr>
            <a:lvl8pPr>
              <a:defRPr sz="3225" b="1">
                <a:solidFill>
                  <a:srgbClr val="F6F7FF"/>
                </a:solidFill>
                <a:latin typeface="DejaVu Sans"/>
                <a:ea typeface="DejaVu Sans"/>
                <a:cs typeface="DejaVu Sans"/>
              </a:defRPr>
            </a:lvl8pPr>
            <a:lvl9pPr>
              <a:defRPr sz="3225" b="1">
                <a:solidFill>
                  <a:srgbClr val="F6F7FF"/>
                </a:solidFill>
                <a:latin typeface="DejaVu Sans"/>
                <a:ea typeface="DejaVu Sans"/>
                <a:cs typeface="DejaVu Sans"/>
              </a:defRPr>
            </a:lvl9pPr>
          </a:lstStyle>
          <a:p>
            <a:pPr>
              <a:defRPr sz="3225" b="1">
                <a:solidFill>
                  <a:srgbClr val="F6F7FF"/>
                </a:solidFill>
                <a:latin typeface="DejaVu Sans"/>
                <a:ea typeface="DejaVu Sans"/>
                <a:cs typeface="DejaVu Sans"/>
              </a:defRPr>
            </a:pPr>
            <a:r>
              <a:rPr sz="3225" b="1">
                <a:solidFill>
                  <a:srgbClr val="F6F7FF"/>
                </a:solidFill>
                <a:latin typeface="DejaVu Sans"/>
                <a:ea typeface="DejaVu Sans"/>
                <a:cs typeface="DejaVu Sans"/>
              </a:rPr>
              <a:t>Translation and rotation separate at the CM</a:t>
            </a:r>
          </a:p>
        </p:txBody>
      </p:sp>
      <p:sp>
        <p:nvSpPr>
          <p:cNvPr id="5" name="Rectangle 4">
            <a:extLst>
              <a:ext uri="{FF2B5EF4-FFF2-40B4-BE49-F238E27FC236}">
                <a16:creationId xmlns:a16="http://schemas.microsoft.com/office/drawing/2014/main" id="{3C31F74E-1D02-4FAB-AB0F-EEE3165979D6}"/>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B1.2  /  ROTATIONAL ENERGY</a:t>
            </a:r>
          </a:p>
        </p:txBody>
      </p:sp>
      <p:sp>
        <p:nvSpPr>
          <p:cNvPr id="6" name="Rectangle 5">
            <a:extLst>
              <a:ext uri="{FF2B5EF4-FFF2-40B4-BE49-F238E27FC236}">
                <a16:creationId xmlns:a16="http://schemas.microsoft.com/office/drawing/2014/main" id="{E2BDAAA1-F387-49EB-9396-7923F43D1A89}"/>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09</a:t>
            </a:r>
          </a:p>
        </p:txBody>
      </p:sp>
      <p:pic>
        <p:nvPicPr>
          <p:cNvPr id="7" name="Picture 6">
            <a:extLst>
              <a:ext uri="{FF2B5EF4-FFF2-40B4-BE49-F238E27FC236}">
                <a16:creationId xmlns:a16="http://schemas.microsoft.com/office/drawing/2014/main" id="{B869B4FA-AA8B-499A-82D0-F785EFC54D6B}"/>
              </a:ext>
            </a:extLst>
          </p:cNvPr>
          <p:cNvPicPr>
            <a:picLocks noChangeAspect="1"/>
          </p:cNvPicPr>
          <p:nvPr/>
        </p:nvPicPr>
        <p:blipFill>
          <a:blip r:embed="rId4"/>
          <a:stretch/>
        </p:blipFill>
        <p:spPr>
          <a:xfrm>
            <a:off x="3013816" y="2038350"/>
            <a:ext cx="5973868" cy="1428750"/>
          </a:xfrm>
          <a:prstGeom prst="rect">
            <a:avLst/>
          </a:prstGeom>
        </p:spPr>
      </p:pic>
      <p:sp>
        <p:nvSpPr>
          <p:cNvPr id="8" name="Rectangle 7">
            <a:extLst>
              <a:ext uri="{FF2B5EF4-FFF2-40B4-BE49-F238E27FC236}">
                <a16:creationId xmlns:a16="http://schemas.microsoft.com/office/drawing/2014/main" id="{7FF22947-B435-4179-8E57-79ACB2653A6D}"/>
              </a:ext>
            </a:extLst>
          </p:cNvPr>
          <p:cNvSpPr>
            <a:spLocks noGrp="1"/>
          </p:cNvSpPr>
          <p:nvPr/>
        </p:nvSpPr>
        <p:spPr>
          <a:xfrm>
            <a:off x="638175" y="4124325"/>
            <a:ext cx="10477500" cy="619125"/>
          </a:xfrm>
          <a:prstGeom prst="rect">
            <a:avLst/>
          </a:prstGeom>
          <a:noFill/>
          <a:ln w="0">
            <a:noFill/>
            <a:prstDash val="solid"/>
          </a:ln>
        </p:spPr>
        <p:txBody>
          <a:bodyPr/>
          <a:lstStyle>
            <a:defPPr>
              <a:defRPr sz="2250" b="0">
                <a:solidFill>
                  <a:srgbClr val="F6F7FF"/>
                </a:solidFill>
                <a:latin typeface="DejaVu Sans"/>
                <a:ea typeface="DejaVu Sans"/>
                <a:cs typeface="DejaVu Sans"/>
              </a:defRPr>
            </a:defPPr>
            <a:lvl1pPr>
              <a:defRPr sz="2250" b="0">
                <a:solidFill>
                  <a:srgbClr val="F6F7FF"/>
                </a:solidFill>
                <a:latin typeface="DejaVu Sans"/>
                <a:ea typeface="DejaVu Sans"/>
                <a:cs typeface="DejaVu Sans"/>
              </a:defRPr>
            </a:lvl1pPr>
            <a:lvl2pPr>
              <a:defRPr sz="2250" b="0">
                <a:solidFill>
                  <a:srgbClr val="F6F7FF"/>
                </a:solidFill>
                <a:latin typeface="DejaVu Sans"/>
                <a:ea typeface="DejaVu Sans"/>
                <a:cs typeface="DejaVu Sans"/>
              </a:defRPr>
            </a:lvl2pPr>
            <a:lvl3pPr>
              <a:defRPr sz="2250" b="0">
                <a:solidFill>
                  <a:srgbClr val="F6F7FF"/>
                </a:solidFill>
                <a:latin typeface="DejaVu Sans"/>
                <a:ea typeface="DejaVu Sans"/>
                <a:cs typeface="DejaVu Sans"/>
              </a:defRPr>
            </a:lvl3pPr>
            <a:lvl4pPr>
              <a:defRPr sz="2250" b="0">
                <a:solidFill>
                  <a:srgbClr val="F6F7FF"/>
                </a:solidFill>
                <a:latin typeface="DejaVu Sans"/>
                <a:ea typeface="DejaVu Sans"/>
                <a:cs typeface="DejaVu Sans"/>
              </a:defRPr>
            </a:lvl4pPr>
            <a:lvl5pPr>
              <a:defRPr sz="2250" b="0">
                <a:solidFill>
                  <a:srgbClr val="F6F7FF"/>
                </a:solidFill>
                <a:latin typeface="DejaVu Sans"/>
                <a:ea typeface="DejaVu Sans"/>
                <a:cs typeface="DejaVu Sans"/>
              </a:defRPr>
            </a:lvl5pPr>
            <a:lvl6pPr>
              <a:defRPr sz="2250" b="0">
                <a:solidFill>
                  <a:srgbClr val="F6F7FF"/>
                </a:solidFill>
                <a:latin typeface="DejaVu Sans"/>
                <a:ea typeface="DejaVu Sans"/>
                <a:cs typeface="DejaVu Sans"/>
              </a:defRPr>
            </a:lvl6pPr>
            <a:lvl7pPr>
              <a:defRPr sz="2250" b="0">
                <a:solidFill>
                  <a:srgbClr val="F6F7FF"/>
                </a:solidFill>
                <a:latin typeface="DejaVu Sans"/>
                <a:ea typeface="DejaVu Sans"/>
                <a:cs typeface="DejaVu Sans"/>
              </a:defRPr>
            </a:lvl7pPr>
            <a:lvl8pPr>
              <a:defRPr sz="2250" b="0">
                <a:solidFill>
                  <a:srgbClr val="F6F7FF"/>
                </a:solidFill>
                <a:latin typeface="DejaVu Sans"/>
                <a:ea typeface="DejaVu Sans"/>
                <a:cs typeface="DejaVu Sans"/>
              </a:defRPr>
            </a:lvl8pPr>
            <a:lvl9pPr>
              <a:defRPr sz="2250" b="0">
                <a:solidFill>
                  <a:srgbClr val="F6F7FF"/>
                </a:solidFill>
                <a:latin typeface="DejaVu Sans"/>
                <a:ea typeface="DejaVu Sans"/>
                <a:cs typeface="DejaVu Sans"/>
              </a:defRPr>
            </a:lvl9pPr>
          </a:lstStyle>
          <a:p>
            <a:pPr>
              <a:defRPr sz="2250" b="0">
                <a:solidFill>
                  <a:srgbClr val="F6F7FF"/>
                </a:solidFill>
                <a:latin typeface="DejaVu Sans"/>
                <a:ea typeface="DejaVu Sans"/>
                <a:cs typeface="DejaVu Sans"/>
              </a:defRPr>
            </a:pPr>
            <a:r>
              <a:rPr sz="2250" b="0">
                <a:solidFill>
                  <a:srgbClr val="F6F7FF"/>
                </a:solidFill>
                <a:latin typeface="DejaVu Sans"/>
                <a:ea typeface="DejaVu Sans"/>
                <a:cs typeface="DejaVu Sans"/>
              </a:rPr>
              <a:t>The center of mass carries translational energy.</a:t>
            </a:r>
          </a:p>
        </p:txBody>
      </p:sp>
      <p:sp>
        <p:nvSpPr>
          <p:cNvPr id="9" name="Rectangle 8">
            <a:extLst>
              <a:ext uri="{FF2B5EF4-FFF2-40B4-BE49-F238E27FC236}">
                <a16:creationId xmlns:a16="http://schemas.microsoft.com/office/drawing/2014/main" id="{78DD31E2-BBE5-448A-A538-362925AAAF9B}"/>
              </a:ext>
            </a:extLst>
          </p:cNvPr>
          <p:cNvSpPr>
            <a:spLocks noGrp="1"/>
          </p:cNvSpPr>
          <p:nvPr/>
        </p:nvSpPr>
        <p:spPr>
          <a:xfrm>
            <a:off x="638175" y="5038725"/>
            <a:ext cx="10477500" cy="762000"/>
          </a:xfrm>
          <a:prstGeom prst="rect">
            <a:avLst/>
          </a:prstGeom>
          <a:noFill/>
          <a:ln w="0">
            <a:noFill/>
            <a:prstDash val="solid"/>
          </a:ln>
        </p:spPr>
        <p:txBody>
          <a:bodyPr/>
          <a:lstStyle>
            <a:defPPr>
              <a:defRPr sz="2250" b="0">
                <a:solidFill>
                  <a:srgbClr val="55F3D2"/>
                </a:solidFill>
                <a:latin typeface="DejaVu Sans"/>
                <a:ea typeface="DejaVu Sans"/>
                <a:cs typeface="DejaVu Sans"/>
              </a:defRPr>
            </a:defPPr>
            <a:lvl1pPr>
              <a:defRPr sz="2250" b="0">
                <a:solidFill>
                  <a:srgbClr val="55F3D2"/>
                </a:solidFill>
                <a:latin typeface="DejaVu Sans"/>
                <a:ea typeface="DejaVu Sans"/>
                <a:cs typeface="DejaVu Sans"/>
              </a:defRPr>
            </a:lvl1pPr>
            <a:lvl2pPr>
              <a:defRPr sz="2250" b="0">
                <a:solidFill>
                  <a:srgbClr val="55F3D2"/>
                </a:solidFill>
                <a:latin typeface="DejaVu Sans"/>
                <a:ea typeface="DejaVu Sans"/>
                <a:cs typeface="DejaVu Sans"/>
              </a:defRPr>
            </a:lvl2pPr>
            <a:lvl3pPr>
              <a:defRPr sz="2250" b="0">
                <a:solidFill>
                  <a:srgbClr val="55F3D2"/>
                </a:solidFill>
                <a:latin typeface="DejaVu Sans"/>
                <a:ea typeface="DejaVu Sans"/>
                <a:cs typeface="DejaVu Sans"/>
              </a:defRPr>
            </a:lvl3pPr>
            <a:lvl4pPr>
              <a:defRPr sz="2250" b="0">
                <a:solidFill>
                  <a:srgbClr val="55F3D2"/>
                </a:solidFill>
                <a:latin typeface="DejaVu Sans"/>
                <a:ea typeface="DejaVu Sans"/>
                <a:cs typeface="DejaVu Sans"/>
              </a:defRPr>
            </a:lvl4pPr>
            <a:lvl5pPr>
              <a:defRPr sz="2250" b="0">
                <a:solidFill>
                  <a:srgbClr val="55F3D2"/>
                </a:solidFill>
                <a:latin typeface="DejaVu Sans"/>
                <a:ea typeface="DejaVu Sans"/>
                <a:cs typeface="DejaVu Sans"/>
              </a:defRPr>
            </a:lvl5pPr>
            <a:lvl6pPr>
              <a:defRPr sz="2250" b="0">
                <a:solidFill>
                  <a:srgbClr val="55F3D2"/>
                </a:solidFill>
                <a:latin typeface="DejaVu Sans"/>
                <a:ea typeface="DejaVu Sans"/>
                <a:cs typeface="DejaVu Sans"/>
              </a:defRPr>
            </a:lvl6pPr>
            <a:lvl7pPr>
              <a:defRPr sz="2250" b="0">
                <a:solidFill>
                  <a:srgbClr val="55F3D2"/>
                </a:solidFill>
                <a:latin typeface="DejaVu Sans"/>
                <a:ea typeface="DejaVu Sans"/>
                <a:cs typeface="DejaVu Sans"/>
              </a:defRPr>
            </a:lvl7pPr>
            <a:lvl8pPr>
              <a:defRPr sz="2250" b="0">
                <a:solidFill>
                  <a:srgbClr val="55F3D2"/>
                </a:solidFill>
                <a:latin typeface="DejaVu Sans"/>
                <a:ea typeface="DejaVu Sans"/>
                <a:cs typeface="DejaVu Sans"/>
              </a:defRPr>
            </a:lvl8pPr>
            <a:lvl9pPr>
              <a:defRPr sz="2250" b="0">
                <a:solidFill>
                  <a:srgbClr val="55F3D2"/>
                </a:solidFill>
                <a:latin typeface="DejaVu Sans"/>
                <a:ea typeface="DejaVu Sans"/>
                <a:cs typeface="DejaVu Sans"/>
              </a:defRPr>
            </a:lvl9pPr>
          </a:lstStyle>
          <a:p>
            <a:pPr>
              <a:defRPr sz="2250" b="0">
                <a:solidFill>
                  <a:srgbClr val="55F3D2"/>
                </a:solidFill>
                <a:latin typeface="DejaVu Sans"/>
                <a:ea typeface="DejaVu Sans"/>
                <a:cs typeface="DejaVu Sans"/>
              </a:defRPr>
            </a:pPr>
            <a:r>
              <a:rPr sz="2250" b="0">
                <a:solidFill>
                  <a:srgbClr val="55F3D2"/>
                </a:solidFill>
                <a:latin typeface="DejaVu Sans"/>
                <a:ea typeface="DejaVu Sans"/>
                <a:cs typeface="DejaVu Sans"/>
              </a:rPr>
              <a:t>Motion about the center of mass carries rotational energy.</a:t>
            </a:r>
          </a:p>
        </p:txBody>
      </p:sp>
    </p:spTree>
    <p:extLst>
      <p:ext uri="{BB962C8B-B14F-4D97-AF65-F5344CB8AC3E}">
        <p14:creationId xmlns:p14="http://schemas.microsoft.com/office/powerpoint/2010/main" val="734276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1033560-618B-4320-9A1D-6E2AEC6FF26A}"/>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9602E607-F198-4268-AA3E-7C3FB4B2DE08}"/>
              </a:ext>
            </a:extLst>
          </p:cNvPr>
          <p:cNvSpPr>
            <a:spLocks noGrp="1"/>
          </p:cNvSpPr>
          <p:nvPr/>
        </p:nvSpPr>
        <p:spPr>
          <a:xfrm>
            <a:off x="0" y="0"/>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3F248DE8-30E3-4FD1-88DA-B7F0094F4011}"/>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F87EE5FB-A5CD-4C90-B2DA-3F8810DA3D6F}"/>
              </a:ext>
            </a:extLst>
          </p:cNvPr>
          <p:cNvSpPr>
            <a:spLocks noGrp="1"/>
          </p:cNvSpPr>
          <p:nvPr/>
        </p:nvSpPr>
        <p:spPr>
          <a:xfrm>
            <a:off x="609600" y="933450"/>
            <a:ext cx="10858500" cy="1000125"/>
          </a:xfrm>
          <a:prstGeom prst="rect">
            <a:avLst/>
          </a:prstGeom>
          <a:noFill/>
          <a:ln w="0">
            <a:noFill/>
            <a:prstDash val="solid"/>
          </a:ln>
        </p:spPr>
        <p:txBody>
          <a:bodyPr/>
          <a:lstStyle>
            <a:defPPr>
              <a:defRPr sz="3225" b="1">
                <a:solidFill>
                  <a:srgbClr val="F6F7FF"/>
                </a:solidFill>
                <a:latin typeface="DejaVu Sans"/>
                <a:ea typeface="DejaVu Sans"/>
                <a:cs typeface="DejaVu Sans"/>
              </a:defRPr>
            </a:defPPr>
            <a:lvl1pPr>
              <a:defRPr sz="3225" b="1">
                <a:solidFill>
                  <a:srgbClr val="F6F7FF"/>
                </a:solidFill>
                <a:latin typeface="DejaVu Sans"/>
                <a:ea typeface="DejaVu Sans"/>
                <a:cs typeface="DejaVu Sans"/>
              </a:defRPr>
            </a:lvl1pPr>
            <a:lvl2pPr>
              <a:defRPr sz="3225" b="1">
                <a:solidFill>
                  <a:srgbClr val="F6F7FF"/>
                </a:solidFill>
                <a:latin typeface="DejaVu Sans"/>
                <a:ea typeface="DejaVu Sans"/>
                <a:cs typeface="DejaVu Sans"/>
              </a:defRPr>
            </a:lvl2pPr>
            <a:lvl3pPr>
              <a:defRPr sz="3225" b="1">
                <a:solidFill>
                  <a:srgbClr val="F6F7FF"/>
                </a:solidFill>
                <a:latin typeface="DejaVu Sans"/>
                <a:ea typeface="DejaVu Sans"/>
                <a:cs typeface="DejaVu Sans"/>
              </a:defRPr>
            </a:lvl3pPr>
            <a:lvl4pPr>
              <a:defRPr sz="3225" b="1">
                <a:solidFill>
                  <a:srgbClr val="F6F7FF"/>
                </a:solidFill>
                <a:latin typeface="DejaVu Sans"/>
                <a:ea typeface="DejaVu Sans"/>
                <a:cs typeface="DejaVu Sans"/>
              </a:defRPr>
            </a:lvl4pPr>
            <a:lvl5pPr>
              <a:defRPr sz="3225" b="1">
                <a:solidFill>
                  <a:srgbClr val="F6F7FF"/>
                </a:solidFill>
                <a:latin typeface="DejaVu Sans"/>
                <a:ea typeface="DejaVu Sans"/>
                <a:cs typeface="DejaVu Sans"/>
              </a:defRPr>
            </a:lvl5pPr>
            <a:lvl6pPr>
              <a:defRPr sz="3225" b="1">
                <a:solidFill>
                  <a:srgbClr val="F6F7FF"/>
                </a:solidFill>
                <a:latin typeface="DejaVu Sans"/>
                <a:ea typeface="DejaVu Sans"/>
                <a:cs typeface="DejaVu Sans"/>
              </a:defRPr>
            </a:lvl6pPr>
            <a:lvl7pPr>
              <a:defRPr sz="3225" b="1">
                <a:solidFill>
                  <a:srgbClr val="F6F7FF"/>
                </a:solidFill>
                <a:latin typeface="DejaVu Sans"/>
                <a:ea typeface="DejaVu Sans"/>
                <a:cs typeface="DejaVu Sans"/>
              </a:defRPr>
            </a:lvl7pPr>
            <a:lvl8pPr>
              <a:defRPr sz="3225" b="1">
                <a:solidFill>
                  <a:srgbClr val="F6F7FF"/>
                </a:solidFill>
                <a:latin typeface="DejaVu Sans"/>
                <a:ea typeface="DejaVu Sans"/>
                <a:cs typeface="DejaVu Sans"/>
              </a:defRPr>
            </a:lvl8pPr>
            <a:lvl9pPr>
              <a:defRPr sz="3225" b="1">
                <a:solidFill>
                  <a:srgbClr val="F6F7FF"/>
                </a:solidFill>
                <a:latin typeface="DejaVu Sans"/>
                <a:ea typeface="DejaVu Sans"/>
                <a:cs typeface="DejaVu Sans"/>
              </a:defRPr>
            </a:lvl9pPr>
          </a:lstStyle>
          <a:p>
            <a:pPr>
              <a:defRPr sz="3225" b="1">
                <a:solidFill>
                  <a:srgbClr val="F6F7FF"/>
                </a:solidFill>
                <a:latin typeface="DejaVu Sans"/>
                <a:ea typeface="DejaVu Sans"/>
                <a:cs typeface="DejaVu Sans"/>
              </a:defRPr>
            </a:pPr>
            <a:r>
              <a:rPr sz="3225" b="1">
                <a:solidFill>
                  <a:srgbClr val="F6F7FF"/>
                </a:solidFill>
                <a:latin typeface="DejaVu Sans"/>
                <a:ea typeface="DejaVu Sans"/>
                <a:cs typeface="DejaVu Sans"/>
              </a:rPr>
              <a:t>A rod rotating about one end</a:t>
            </a:r>
          </a:p>
        </p:txBody>
      </p:sp>
      <p:sp>
        <p:nvSpPr>
          <p:cNvPr id="5" name="Rectangle 4">
            <a:extLst>
              <a:ext uri="{FF2B5EF4-FFF2-40B4-BE49-F238E27FC236}">
                <a16:creationId xmlns:a16="http://schemas.microsoft.com/office/drawing/2014/main" id="{E93369DD-2FC8-4036-A26D-EB7C0ED70BC3}"/>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B1.2  /  ROTATIONAL ENERGY</a:t>
            </a:r>
          </a:p>
        </p:txBody>
      </p:sp>
      <p:sp>
        <p:nvSpPr>
          <p:cNvPr id="6" name="Rectangle 5">
            <a:extLst>
              <a:ext uri="{FF2B5EF4-FFF2-40B4-BE49-F238E27FC236}">
                <a16:creationId xmlns:a16="http://schemas.microsoft.com/office/drawing/2014/main" id="{0D138437-65D5-4A79-B116-218906702F8B}"/>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10</a:t>
            </a:r>
          </a:p>
        </p:txBody>
      </p:sp>
      <p:pic>
        <p:nvPicPr>
          <p:cNvPr id="7" name="Picture 6">
            <a:extLst>
              <a:ext uri="{FF2B5EF4-FFF2-40B4-BE49-F238E27FC236}">
                <a16:creationId xmlns:a16="http://schemas.microsoft.com/office/drawing/2014/main" id="{850A16C7-642A-4DB9-9874-EF346CFDD12F}"/>
              </a:ext>
            </a:extLst>
          </p:cNvPr>
          <p:cNvPicPr>
            <a:picLocks noChangeAspect="1"/>
          </p:cNvPicPr>
          <p:nvPr/>
        </p:nvPicPr>
        <p:blipFill>
          <a:blip r:embed="rId4"/>
          <a:stretch/>
        </p:blipFill>
        <p:spPr>
          <a:xfrm>
            <a:off x="1262063" y="2000250"/>
            <a:ext cx="3381375" cy="3381375"/>
          </a:xfrm>
          <a:prstGeom prst="rect">
            <a:avLst/>
          </a:prstGeom>
        </p:spPr>
      </p:pic>
      <p:sp>
        <p:nvSpPr>
          <p:cNvPr id="8" name="Rectangle 7">
            <a:extLst>
              <a:ext uri="{FF2B5EF4-FFF2-40B4-BE49-F238E27FC236}">
                <a16:creationId xmlns:a16="http://schemas.microsoft.com/office/drawing/2014/main" id="{8B2B3EF9-54C3-43A7-A27A-C5BC76566507}"/>
              </a:ext>
            </a:extLst>
          </p:cNvPr>
          <p:cNvSpPr>
            <a:spLocks noGrp="1"/>
          </p:cNvSpPr>
          <p:nvPr/>
        </p:nvSpPr>
        <p:spPr>
          <a:xfrm>
            <a:off x="6191250" y="2038350"/>
            <a:ext cx="5238750" cy="428625"/>
          </a:xfrm>
          <a:prstGeom prst="rect">
            <a:avLst/>
          </a:prstGeom>
          <a:noFill/>
          <a:ln w="0">
            <a:noFill/>
            <a:prstDash val="solid"/>
          </a:ln>
        </p:spPr>
        <p:txBody>
          <a:bodyPr/>
          <a:lstStyle>
            <a:defPPr>
              <a:defRPr sz="2100" b="0">
                <a:solidFill>
                  <a:srgbClr val="55F3D2"/>
                </a:solidFill>
                <a:latin typeface="DejaVu Sans"/>
                <a:ea typeface="DejaVu Sans"/>
                <a:cs typeface="DejaVu Sans"/>
              </a:defRPr>
            </a:defPPr>
            <a:lvl1pPr>
              <a:defRPr sz="2100" b="0">
                <a:solidFill>
                  <a:srgbClr val="55F3D2"/>
                </a:solidFill>
                <a:latin typeface="DejaVu Sans"/>
                <a:ea typeface="DejaVu Sans"/>
                <a:cs typeface="DejaVu Sans"/>
              </a:defRPr>
            </a:lvl1pPr>
            <a:lvl2pPr>
              <a:defRPr sz="2100" b="0">
                <a:solidFill>
                  <a:srgbClr val="55F3D2"/>
                </a:solidFill>
                <a:latin typeface="DejaVu Sans"/>
                <a:ea typeface="DejaVu Sans"/>
                <a:cs typeface="DejaVu Sans"/>
              </a:defRPr>
            </a:lvl2pPr>
            <a:lvl3pPr>
              <a:defRPr sz="2100" b="0">
                <a:solidFill>
                  <a:srgbClr val="55F3D2"/>
                </a:solidFill>
                <a:latin typeface="DejaVu Sans"/>
                <a:ea typeface="DejaVu Sans"/>
                <a:cs typeface="DejaVu Sans"/>
              </a:defRPr>
            </a:lvl3pPr>
            <a:lvl4pPr>
              <a:defRPr sz="2100" b="0">
                <a:solidFill>
                  <a:srgbClr val="55F3D2"/>
                </a:solidFill>
                <a:latin typeface="DejaVu Sans"/>
                <a:ea typeface="DejaVu Sans"/>
                <a:cs typeface="DejaVu Sans"/>
              </a:defRPr>
            </a:lvl4pPr>
            <a:lvl5pPr>
              <a:defRPr sz="2100" b="0">
                <a:solidFill>
                  <a:srgbClr val="55F3D2"/>
                </a:solidFill>
                <a:latin typeface="DejaVu Sans"/>
                <a:ea typeface="DejaVu Sans"/>
                <a:cs typeface="DejaVu Sans"/>
              </a:defRPr>
            </a:lvl5pPr>
            <a:lvl6pPr>
              <a:defRPr sz="2100" b="0">
                <a:solidFill>
                  <a:srgbClr val="55F3D2"/>
                </a:solidFill>
                <a:latin typeface="DejaVu Sans"/>
                <a:ea typeface="DejaVu Sans"/>
                <a:cs typeface="DejaVu Sans"/>
              </a:defRPr>
            </a:lvl6pPr>
            <a:lvl7pPr>
              <a:defRPr sz="2100" b="0">
                <a:solidFill>
                  <a:srgbClr val="55F3D2"/>
                </a:solidFill>
                <a:latin typeface="DejaVu Sans"/>
                <a:ea typeface="DejaVu Sans"/>
                <a:cs typeface="DejaVu Sans"/>
              </a:defRPr>
            </a:lvl7pPr>
            <a:lvl8pPr>
              <a:defRPr sz="2100" b="0">
                <a:solidFill>
                  <a:srgbClr val="55F3D2"/>
                </a:solidFill>
                <a:latin typeface="DejaVu Sans"/>
                <a:ea typeface="DejaVu Sans"/>
                <a:cs typeface="DejaVu Sans"/>
              </a:defRPr>
            </a:lvl8pPr>
            <a:lvl9pPr>
              <a:defRPr sz="2100" b="0">
                <a:solidFill>
                  <a:srgbClr val="55F3D2"/>
                </a:solidFill>
                <a:latin typeface="DejaVu Sans"/>
                <a:ea typeface="DejaVu Sans"/>
                <a:cs typeface="DejaVu Sans"/>
              </a:defRPr>
            </a:lvl9pPr>
          </a:lstStyle>
          <a:p>
            <a:pPr>
              <a:defRPr sz="2100" b="0">
                <a:solidFill>
                  <a:srgbClr val="55F3D2"/>
                </a:solidFill>
                <a:latin typeface="DejaVu Sans"/>
                <a:ea typeface="DejaVu Sans"/>
                <a:cs typeface="DejaVu Sans"/>
              </a:defRPr>
            </a:pPr>
            <a:r>
              <a:rPr sz="2100" b="0">
                <a:solidFill>
                  <a:srgbClr val="55F3D2"/>
                </a:solidFill>
                <a:latin typeface="DejaVu Sans"/>
                <a:ea typeface="DejaVu Sans"/>
                <a:cs typeface="DejaVu Sans"/>
              </a:rPr>
              <a:t>Uniform thin rod</a:t>
            </a:r>
          </a:p>
        </p:txBody>
      </p:sp>
      <p:pic>
        <p:nvPicPr>
          <p:cNvPr id="9" name="Picture 8">
            <a:extLst>
              <a:ext uri="{FF2B5EF4-FFF2-40B4-BE49-F238E27FC236}">
                <a16:creationId xmlns:a16="http://schemas.microsoft.com/office/drawing/2014/main" id="{9AC746DB-3D04-4472-AC5E-00F4349CEB4E}"/>
              </a:ext>
            </a:extLst>
          </p:cNvPr>
          <p:cNvPicPr>
            <a:picLocks noChangeAspect="1"/>
          </p:cNvPicPr>
          <p:nvPr/>
        </p:nvPicPr>
        <p:blipFill>
          <a:blip r:embed="rId5"/>
          <a:stretch/>
        </p:blipFill>
        <p:spPr>
          <a:xfrm>
            <a:off x="5905500" y="3126135"/>
            <a:ext cx="5476875" cy="1129605"/>
          </a:xfrm>
          <a:prstGeom prst="rect">
            <a:avLst/>
          </a:prstGeom>
        </p:spPr>
      </p:pic>
      <p:sp>
        <p:nvSpPr>
          <p:cNvPr id="10" name="Rectangle 9">
            <a:extLst>
              <a:ext uri="{FF2B5EF4-FFF2-40B4-BE49-F238E27FC236}">
                <a16:creationId xmlns:a16="http://schemas.microsoft.com/office/drawing/2014/main" id="{D6CD4544-7C6F-45B9-8DBB-256E0EACE6B0}"/>
              </a:ext>
            </a:extLst>
          </p:cNvPr>
          <p:cNvSpPr>
            <a:spLocks noGrp="1"/>
          </p:cNvSpPr>
          <p:nvPr/>
        </p:nvSpPr>
        <p:spPr>
          <a:xfrm>
            <a:off x="6191250" y="4867275"/>
            <a:ext cx="5048250" cy="952500"/>
          </a:xfrm>
          <a:prstGeom prst="rect">
            <a:avLst/>
          </a:prstGeom>
          <a:noFill/>
          <a:ln w="0">
            <a:noFill/>
            <a:prstDash val="solid"/>
          </a:ln>
        </p:spPr>
        <p:txBody>
          <a:bodyPr/>
          <a:lstStyle>
            <a:defPPr>
              <a:defRPr sz="2025" b="0">
                <a:solidFill>
                  <a:srgbClr val="F6F7FF"/>
                </a:solidFill>
                <a:latin typeface="DejaVu Sans"/>
                <a:ea typeface="DejaVu Sans"/>
                <a:cs typeface="DejaVu Sans"/>
              </a:defRPr>
            </a:defPPr>
            <a:lvl1pPr>
              <a:defRPr sz="2025" b="0">
                <a:solidFill>
                  <a:srgbClr val="F6F7FF"/>
                </a:solidFill>
                <a:latin typeface="DejaVu Sans"/>
                <a:ea typeface="DejaVu Sans"/>
                <a:cs typeface="DejaVu Sans"/>
              </a:defRPr>
            </a:lvl1pPr>
            <a:lvl2pPr>
              <a:defRPr sz="2025" b="0">
                <a:solidFill>
                  <a:srgbClr val="F6F7FF"/>
                </a:solidFill>
                <a:latin typeface="DejaVu Sans"/>
                <a:ea typeface="DejaVu Sans"/>
                <a:cs typeface="DejaVu Sans"/>
              </a:defRPr>
            </a:lvl2pPr>
            <a:lvl3pPr>
              <a:defRPr sz="2025" b="0">
                <a:solidFill>
                  <a:srgbClr val="F6F7FF"/>
                </a:solidFill>
                <a:latin typeface="DejaVu Sans"/>
                <a:ea typeface="DejaVu Sans"/>
                <a:cs typeface="DejaVu Sans"/>
              </a:defRPr>
            </a:lvl3pPr>
            <a:lvl4pPr>
              <a:defRPr sz="2025" b="0">
                <a:solidFill>
                  <a:srgbClr val="F6F7FF"/>
                </a:solidFill>
                <a:latin typeface="DejaVu Sans"/>
                <a:ea typeface="DejaVu Sans"/>
                <a:cs typeface="DejaVu Sans"/>
              </a:defRPr>
            </a:lvl4pPr>
            <a:lvl5pPr>
              <a:defRPr sz="2025" b="0">
                <a:solidFill>
                  <a:srgbClr val="F6F7FF"/>
                </a:solidFill>
                <a:latin typeface="DejaVu Sans"/>
                <a:ea typeface="DejaVu Sans"/>
                <a:cs typeface="DejaVu Sans"/>
              </a:defRPr>
            </a:lvl5pPr>
            <a:lvl6pPr>
              <a:defRPr sz="2025" b="0">
                <a:solidFill>
                  <a:srgbClr val="F6F7FF"/>
                </a:solidFill>
                <a:latin typeface="DejaVu Sans"/>
                <a:ea typeface="DejaVu Sans"/>
                <a:cs typeface="DejaVu Sans"/>
              </a:defRPr>
            </a:lvl6pPr>
            <a:lvl7pPr>
              <a:defRPr sz="2025" b="0">
                <a:solidFill>
                  <a:srgbClr val="F6F7FF"/>
                </a:solidFill>
                <a:latin typeface="DejaVu Sans"/>
                <a:ea typeface="DejaVu Sans"/>
                <a:cs typeface="DejaVu Sans"/>
              </a:defRPr>
            </a:lvl7pPr>
            <a:lvl8pPr>
              <a:defRPr sz="2025" b="0">
                <a:solidFill>
                  <a:srgbClr val="F6F7FF"/>
                </a:solidFill>
                <a:latin typeface="DejaVu Sans"/>
                <a:ea typeface="DejaVu Sans"/>
                <a:cs typeface="DejaVu Sans"/>
              </a:defRPr>
            </a:lvl8pPr>
            <a:lvl9pPr>
              <a:defRPr sz="2025" b="0">
                <a:solidFill>
                  <a:srgbClr val="F6F7FF"/>
                </a:solidFill>
                <a:latin typeface="DejaVu Sans"/>
                <a:ea typeface="DejaVu Sans"/>
                <a:cs typeface="DejaVu Sans"/>
              </a:defRPr>
            </a:lvl9pPr>
          </a:lstStyle>
          <a:p>
            <a:pPr>
              <a:defRPr sz="2025" b="0">
                <a:solidFill>
                  <a:srgbClr val="F6F7FF"/>
                </a:solidFill>
                <a:latin typeface="DejaVu Sans"/>
                <a:ea typeface="DejaVu Sans"/>
                <a:cs typeface="DejaVu Sans"/>
              </a:defRPr>
            </a:pPr>
            <a:r>
              <a:rPr sz="2025" b="0">
                <a:solidFill>
                  <a:srgbClr val="F6F7FF"/>
                </a:solidFill>
                <a:latin typeface="DejaVu Sans"/>
                <a:ea typeface="DejaVu Sans"/>
                <a:cs typeface="DejaVu Sans"/>
              </a:rPr>
              <a:t>Doubling the length at fixed M and ω</a:t>
            </a:r>
          </a:p>
          <a:p>
            <a:pPr>
              <a:defRPr sz="2025" b="0">
                <a:solidFill>
                  <a:srgbClr val="F6F7FF"/>
                </a:solidFill>
                <a:latin typeface="DejaVu Sans"/>
                <a:ea typeface="DejaVu Sans"/>
                <a:cs typeface="DejaVu Sans"/>
              </a:defRPr>
            </a:pPr>
            <a:r>
              <a:rPr sz="2025" b="0">
                <a:solidFill>
                  <a:srgbClr val="F6F7FF"/>
                </a:solidFill>
                <a:latin typeface="DejaVu Sans"/>
                <a:ea typeface="DejaVu Sans"/>
                <a:cs typeface="DejaVu Sans"/>
              </a:rPr>
              <a:t>quadruples the energy.</a:t>
            </a:r>
          </a:p>
        </p:txBody>
      </p:sp>
    </p:spTree>
    <p:extLst>
      <p:ext uri="{BB962C8B-B14F-4D97-AF65-F5344CB8AC3E}">
        <p14:creationId xmlns:p14="http://schemas.microsoft.com/office/powerpoint/2010/main" val="1266195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64777F5-30E4-489C-ADF3-D7FE51C07ED2}"/>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40C6E29D-B6A6-44C6-A5F0-FB3D39DCEC84}"/>
              </a:ext>
            </a:extLst>
          </p:cNvPr>
          <p:cNvSpPr>
            <a:spLocks noGrp="1"/>
          </p:cNvSpPr>
          <p:nvPr/>
        </p:nvSpPr>
        <p:spPr>
          <a:xfrm>
            <a:off x="0" y="0"/>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B168162F-AD61-43FC-B6E4-00AEC5DE849D}"/>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537A773C-E89A-47FA-84D7-02C2CD251E48}"/>
              </a:ext>
            </a:extLst>
          </p:cNvPr>
          <p:cNvSpPr>
            <a:spLocks noGrp="1"/>
          </p:cNvSpPr>
          <p:nvPr/>
        </p:nvSpPr>
        <p:spPr>
          <a:xfrm>
            <a:off x="609600" y="933450"/>
            <a:ext cx="10858500" cy="1000125"/>
          </a:xfrm>
          <a:prstGeom prst="rect">
            <a:avLst/>
          </a:prstGeom>
          <a:noFill/>
          <a:ln w="0">
            <a:noFill/>
            <a:prstDash val="solid"/>
          </a:ln>
        </p:spPr>
        <p:txBody>
          <a:bodyPr/>
          <a:lstStyle>
            <a:defPPr>
              <a:defRPr sz="3225" b="1">
                <a:solidFill>
                  <a:srgbClr val="F6F7FF"/>
                </a:solidFill>
                <a:latin typeface="DejaVu Sans"/>
                <a:ea typeface="DejaVu Sans"/>
                <a:cs typeface="DejaVu Sans"/>
              </a:defRPr>
            </a:defPPr>
            <a:lvl1pPr>
              <a:defRPr sz="3225" b="1">
                <a:solidFill>
                  <a:srgbClr val="F6F7FF"/>
                </a:solidFill>
                <a:latin typeface="DejaVu Sans"/>
                <a:ea typeface="DejaVu Sans"/>
                <a:cs typeface="DejaVu Sans"/>
              </a:defRPr>
            </a:lvl1pPr>
            <a:lvl2pPr>
              <a:defRPr sz="3225" b="1">
                <a:solidFill>
                  <a:srgbClr val="F6F7FF"/>
                </a:solidFill>
                <a:latin typeface="DejaVu Sans"/>
                <a:ea typeface="DejaVu Sans"/>
                <a:cs typeface="DejaVu Sans"/>
              </a:defRPr>
            </a:lvl2pPr>
            <a:lvl3pPr>
              <a:defRPr sz="3225" b="1">
                <a:solidFill>
                  <a:srgbClr val="F6F7FF"/>
                </a:solidFill>
                <a:latin typeface="DejaVu Sans"/>
                <a:ea typeface="DejaVu Sans"/>
                <a:cs typeface="DejaVu Sans"/>
              </a:defRPr>
            </a:lvl3pPr>
            <a:lvl4pPr>
              <a:defRPr sz="3225" b="1">
                <a:solidFill>
                  <a:srgbClr val="F6F7FF"/>
                </a:solidFill>
                <a:latin typeface="DejaVu Sans"/>
                <a:ea typeface="DejaVu Sans"/>
                <a:cs typeface="DejaVu Sans"/>
              </a:defRPr>
            </a:lvl4pPr>
            <a:lvl5pPr>
              <a:defRPr sz="3225" b="1">
                <a:solidFill>
                  <a:srgbClr val="F6F7FF"/>
                </a:solidFill>
                <a:latin typeface="DejaVu Sans"/>
                <a:ea typeface="DejaVu Sans"/>
                <a:cs typeface="DejaVu Sans"/>
              </a:defRPr>
            </a:lvl5pPr>
            <a:lvl6pPr>
              <a:defRPr sz="3225" b="1">
                <a:solidFill>
                  <a:srgbClr val="F6F7FF"/>
                </a:solidFill>
                <a:latin typeface="DejaVu Sans"/>
                <a:ea typeface="DejaVu Sans"/>
                <a:cs typeface="DejaVu Sans"/>
              </a:defRPr>
            </a:lvl6pPr>
            <a:lvl7pPr>
              <a:defRPr sz="3225" b="1">
                <a:solidFill>
                  <a:srgbClr val="F6F7FF"/>
                </a:solidFill>
                <a:latin typeface="DejaVu Sans"/>
                <a:ea typeface="DejaVu Sans"/>
                <a:cs typeface="DejaVu Sans"/>
              </a:defRPr>
            </a:lvl7pPr>
            <a:lvl8pPr>
              <a:defRPr sz="3225" b="1">
                <a:solidFill>
                  <a:srgbClr val="F6F7FF"/>
                </a:solidFill>
                <a:latin typeface="DejaVu Sans"/>
                <a:ea typeface="DejaVu Sans"/>
                <a:cs typeface="DejaVu Sans"/>
              </a:defRPr>
            </a:lvl8pPr>
            <a:lvl9pPr>
              <a:defRPr sz="3225" b="1">
                <a:solidFill>
                  <a:srgbClr val="F6F7FF"/>
                </a:solidFill>
                <a:latin typeface="DejaVu Sans"/>
                <a:ea typeface="DejaVu Sans"/>
                <a:cs typeface="DejaVu Sans"/>
              </a:defRPr>
            </a:lvl9pPr>
          </a:lstStyle>
          <a:p>
            <a:pPr>
              <a:defRPr sz="3225" b="1">
                <a:solidFill>
                  <a:srgbClr val="F6F7FF"/>
                </a:solidFill>
                <a:latin typeface="DejaVu Sans"/>
                <a:ea typeface="DejaVu Sans"/>
                <a:cs typeface="DejaVu Sans"/>
              </a:defRPr>
            </a:pPr>
            <a:r>
              <a:rPr lang="en-US" sz="3225" b="1" dirty="0">
                <a:solidFill>
                  <a:srgbClr val="F6F7FF"/>
                </a:solidFill>
                <a:latin typeface="DejaVu Sans"/>
                <a:ea typeface="DejaVu Sans"/>
                <a:cs typeface="DejaVu Sans"/>
              </a:rPr>
              <a:t>Box 2</a:t>
            </a:r>
            <a:r>
              <a:rPr sz="3225" b="1" dirty="0">
                <a:solidFill>
                  <a:srgbClr val="F6F7FF"/>
                </a:solidFill>
                <a:latin typeface="DejaVu Sans"/>
                <a:ea typeface="DejaVu Sans"/>
                <a:cs typeface="DejaVu Sans"/>
              </a:rPr>
              <a:t>: energy from a tensor</a:t>
            </a:r>
          </a:p>
        </p:txBody>
      </p:sp>
      <p:sp>
        <p:nvSpPr>
          <p:cNvPr id="5" name="Rectangle 4">
            <a:extLst>
              <a:ext uri="{FF2B5EF4-FFF2-40B4-BE49-F238E27FC236}">
                <a16:creationId xmlns:a16="http://schemas.microsoft.com/office/drawing/2014/main" id="{6419CC36-34A9-48D3-8711-F8A23DEA9DBF}"/>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B1.2  /  ROTATIONAL ENERGY</a:t>
            </a:r>
          </a:p>
        </p:txBody>
      </p:sp>
      <p:sp>
        <p:nvSpPr>
          <p:cNvPr id="6" name="Rectangle 5">
            <a:extLst>
              <a:ext uri="{FF2B5EF4-FFF2-40B4-BE49-F238E27FC236}">
                <a16:creationId xmlns:a16="http://schemas.microsoft.com/office/drawing/2014/main" id="{6FA49CA7-49F1-420E-B53D-9F0E3EEC0EBD}"/>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11</a:t>
            </a:r>
          </a:p>
        </p:txBody>
      </p:sp>
      <p:pic>
        <p:nvPicPr>
          <p:cNvPr id="7" name="Picture 6">
            <a:extLst>
              <a:ext uri="{FF2B5EF4-FFF2-40B4-BE49-F238E27FC236}">
                <a16:creationId xmlns:a16="http://schemas.microsoft.com/office/drawing/2014/main" id="{FD48F1A5-1CEB-4108-B49C-AA98771F7B20}"/>
              </a:ext>
            </a:extLst>
          </p:cNvPr>
          <p:cNvPicPr>
            <a:picLocks noChangeAspect="1"/>
          </p:cNvPicPr>
          <p:nvPr/>
        </p:nvPicPr>
        <p:blipFill>
          <a:blip r:embed="rId4"/>
          <a:stretch/>
        </p:blipFill>
        <p:spPr>
          <a:xfrm>
            <a:off x="628650" y="1953895"/>
            <a:ext cx="10668000" cy="1102360"/>
          </a:xfrm>
          <a:prstGeom prst="rect">
            <a:avLst/>
          </a:prstGeom>
        </p:spPr>
      </p:pic>
      <p:sp>
        <p:nvSpPr>
          <p:cNvPr id="8" name="Rectangle 7">
            <a:extLst>
              <a:ext uri="{FF2B5EF4-FFF2-40B4-BE49-F238E27FC236}">
                <a16:creationId xmlns:a16="http://schemas.microsoft.com/office/drawing/2014/main" id="{4ED11003-59D2-4C2C-94CA-CF09CDFB31A6}"/>
              </a:ext>
            </a:extLst>
          </p:cNvPr>
          <p:cNvSpPr>
            <a:spLocks noGrp="1"/>
          </p:cNvSpPr>
          <p:nvPr/>
        </p:nvSpPr>
        <p:spPr>
          <a:xfrm>
            <a:off x="638175" y="3581400"/>
            <a:ext cx="10382250" cy="571500"/>
          </a:xfrm>
          <a:prstGeom prst="rect">
            <a:avLst/>
          </a:prstGeom>
          <a:noFill/>
          <a:ln w="0">
            <a:noFill/>
            <a:prstDash val="solid"/>
          </a:ln>
        </p:spPr>
        <p:txBody>
          <a:bodyPr/>
          <a:lstStyle>
            <a:defPPr>
              <a:defRPr sz="2400" b="0">
                <a:solidFill>
                  <a:srgbClr val="F6F7FF"/>
                </a:solidFill>
                <a:latin typeface="DejaVu Sans"/>
                <a:ea typeface="DejaVu Sans"/>
                <a:cs typeface="DejaVu Sans"/>
              </a:defRPr>
            </a:defPPr>
            <a:lvl1pPr>
              <a:defRPr sz="2400" b="0">
                <a:solidFill>
                  <a:srgbClr val="F6F7FF"/>
                </a:solidFill>
                <a:latin typeface="DejaVu Sans"/>
                <a:ea typeface="DejaVu Sans"/>
                <a:cs typeface="DejaVu Sans"/>
              </a:defRPr>
            </a:lvl1pPr>
            <a:lvl2pPr>
              <a:defRPr sz="2400" b="0">
                <a:solidFill>
                  <a:srgbClr val="F6F7FF"/>
                </a:solidFill>
                <a:latin typeface="DejaVu Sans"/>
                <a:ea typeface="DejaVu Sans"/>
                <a:cs typeface="DejaVu Sans"/>
              </a:defRPr>
            </a:lvl2pPr>
            <a:lvl3pPr>
              <a:defRPr sz="2400" b="0">
                <a:solidFill>
                  <a:srgbClr val="F6F7FF"/>
                </a:solidFill>
                <a:latin typeface="DejaVu Sans"/>
                <a:ea typeface="DejaVu Sans"/>
                <a:cs typeface="DejaVu Sans"/>
              </a:defRPr>
            </a:lvl3pPr>
            <a:lvl4pPr>
              <a:defRPr sz="2400" b="0">
                <a:solidFill>
                  <a:srgbClr val="F6F7FF"/>
                </a:solidFill>
                <a:latin typeface="DejaVu Sans"/>
                <a:ea typeface="DejaVu Sans"/>
                <a:cs typeface="DejaVu Sans"/>
              </a:defRPr>
            </a:lvl4pPr>
            <a:lvl5pPr>
              <a:defRPr sz="2400" b="0">
                <a:solidFill>
                  <a:srgbClr val="F6F7FF"/>
                </a:solidFill>
                <a:latin typeface="DejaVu Sans"/>
                <a:ea typeface="DejaVu Sans"/>
                <a:cs typeface="DejaVu Sans"/>
              </a:defRPr>
            </a:lvl5pPr>
            <a:lvl6pPr>
              <a:defRPr sz="2400" b="0">
                <a:solidFill>
                  <a:srgbClr val="F6F7FF"/>
                </a:solidFill>
                <a:latin typeface="DejaVu Sans"/>
                <a:ea typeface="DejaVu Sans"/>
                <a:cs typeface="DejaVu Sans"/>
              </a:defRPr>
            </a:lvl6pPr>
            <a:lvl7pPr>
              <a:defRPr sz="2400" b="0">
                <a:solidFill>
                  <a:srgbClr val="F6F7FF"/>
                </a:solidFill>
                <a:latin typeface="DejaVu Sans"/>
                <a:ea typeface="DejaVu Sans"/>
                <a:cs typeface="DejaVu Sans"/>
              </a:defRPr>
            </a:lvl7pPr>
            <a:lvl8pPr>
              <a:defRPr sz="2400" b="0">
                <a:solidFill>
                  <a:srgbClr val="F6F7FF"/>
                </a:solidFill>
                <a:latin typeface="DejaVu Sans"/>
                <a:ea typeface="DejaVu Sans"/>
                <a:cs typeface="DejaVu Sans"/>
              </a:defRPr>
            </a:lvl8pPr>
            <a:lvl9pPr>
              <a:defRPr sz="2400" b="0">
                <a:solidFill>
                  <a:srgbClr val="F6F7FF"/>
                </a:solidFill>
                <a:latin typeface="DejaVu Sans"/>
                <a:ea typeface="DejaVu Sans"/>
                <a:cs typeface="DejaVu Sans"/>
              </a:defRPr>
            </a:lvl9pPr>
          </a:lstStyle>
          <a:p>
            <a:pPr>
              <a:defRPr sz="2400" b="0">
                <a:solidFill>
                  <a:srgbClr val="F6F7FF"/>
                </a:solidFill>
                <a:latin typeface="DejaVu Sans"/>
                <a:ea typeface="DejaVu Sans"/>
                <a:cs typeface="DejaVu Sans"/>
              </a:defRPr>
            </a:pPr>
            <a:r>
              <a:rPr sz="2400" b="0">
                <a:solidFill>
                  <a:srgbClr val="F6F7FF"/>
                </a:solidFill>
                <a:latin typeface="DejaVu Sans"/>
                <a:ea typeface="DejaVu Sans"/>
                <a:cs typeface="DejaVu Sans"/>
              </a:rPr>
              <a:t>1    Find L = Iω.</a:t>
            </a:r>
          </a:p>
        </p:txBody>
      </p:sp>
      <p:sp>
        <p:nvSpPr>
          <p:cNvPr id="9" name="Rectangle 8">
            <a:extLst>
              <a:ext uri="{FF2B5EF4-FFF2-40B4-BE49-F238E27FC236}">
                <a16:creationId xmlns:a16="http://schemas.microsoft.com/office/drawing/2014/main" id="{27A5B68E-C0E8-4CC8-91E9-59B9A0AFDC84}"/>
              </a:ext>
            </a:extLst>
          </p:cNvPr>
          <p:cNvSpPr>
            <a:spLocks noGrp="1"/>
          </p:cNvSpPr>
          <p:nvPr/>
        </p:nvSpPr>
        <p:spPr>
          <a:xfrm>
            <a:off x="638175" y="4429125"/>
            <a:ext cx="10382250" cy="571500"/>
          </a:xfrm>
          <a:prstGeom prst="rect">
            <a:avLst/>
          </a:prstGeom>
          <a:noFill/>
          <a:ln w="0">
            <a:noFill/>
            <a:prstDash val="solid"/>
          </a:ln>
        </p:spPr>
        <p:txBody>
          <a:bodyPr/>
          <a:lstStyle>
            <a:defPPr>
              <a:defRPr sz="2400" b="0">
                <a:solidFill>
                  <a:srgbClr val="F6F7FF"/>
                </a:solidFill>
                <a:latin typeface="DejaVu Sans"/>
                <a:ea typeface="DejaVu Sans"/>
                <a:cs typeface="DejaVu Sans"/>
              </a:defRPr>
            </a:defPPr>
            <a:lvl1pPr>
              <a:defRPr sz="2400" b="0">
                <a:solidFill>
                  <a:srgbClr val="F6F7FF"/>
                </a:solidFill>
                <a:latin typeface="DejaVu Sans"/>
                <a:ea typeface="DejaVu Sans"/>
                <a:cs typeface="DejaVu Sans"/>
              </a:defRPr>
            </a:lvl1pPr>
            <a:lvl2pPr>
              <a:defRPr sz="2400" b="0">
                <a:solidFill>
                  <a:srgbClr val="F6F7FF"/>
                </a:solidFill>
                <a:latin typeface="DejaVu Sans"/>
                <a:ea typeface="DejaVu Sans"/>
                <a:cs typeface="DejaVu Sans"/>
              </a:defRPr>
            </a:lvl2pPr>
            <a:lvl3pPr>
              <a:defRPr sz="2400" b="0">
                <a:solidFill>
                  <a:srgbClr val="F6F7FF"/>
                </a:solidFill>
                <a:latin typeface="DejaVu Sans"/>
                <a:ea typeface="DejaVu Sans"/>
                <a:cs typeface="DejaVu Sans"/>
              </a:defRPr>
            </a:lvl3pPr>
            <a:lvl4pPr>
              <a:defRPr sz="2400" b="0">
                <a:solidFill>
                  <a:srgbClr val="F6F7FF"/>
                </a:solidFill>
                <a:latin typeface="DejaVu Sans"/>
                <a:ea typeface="DejaVu Sans"/>
                <a:cs typeface="DejaVu Sans"/>
              </a:defRPr>
            </a:lvl4pPr>
            <a:lvl5pPr>
              <a:defRPr sz="2400" b="0">
                <a:solidFill>
                  <a:srgbClr val="F6F7FF"/>
                </a:solidFill>
                <a:latin typeface="DejaVu Sans"/>
                <a:ea typeface="DejaVu Sans"/>
                <a:cs typeface="DejaVu Sans"/>
              </a:defRPr>
            </a:lvl5pPr>
            <a:lvl6pPr>
              <a:defRPr sz="2400" b="0">
                <a:solidFill>
                  <a:srgbClr val="F6F7FF"/>
                </a:solidFill>
                <a:latin typeface="DejaVu Sans"/>
                <a:ea typeface="DejaVu Sans"/>
                <a:cs typeface="DejaVu Sans"/>
              </a:defRPr>
            </a:lvl6pPr>
            <a:lvl7pPr>
              <a:defRPr sz="2400" b="0">
                <a:solidFill>
                  <a:srgbClr val="F6F7FF"/>
                </a:solidFill>
                <a:latin typeface="DejaVu Sans"/>
                <a:ea typeface="DejaVu Sans"/>
                <a:cs typeface="DejaVu Sans"/>
              </a:defRPr>
            </a:lvl7pPr>
            <a:lvl8pPr>
              <a:defRPr sz="2400" b="0">
                <a:solidFill>
                  <a:srgbClr val="F6F7FF"/>
                </a:solidFill>
                <a:latin typeface="DejaVu Sans"/>
                <a:ea typeface="DejaVu Sans"/>
                <a:cs typeface="DejaVu Sans"/>
              </a:defRPr>
            </a:lvl8pPr>
            <a:lvl9pPr>
              <a:defRPr sz="2400" b="0">
                <a:solidFill>
                  <a:srgbClr val="F6F7FF"/>
                </a:solidFill>
                <a:latin typeface="DejaVu Sans"/>
                <a:ea typeface="DejaVu Sans"/>
                <a:cs typeface="DejaVu Sans"/>
              </a:defRPr>
            </a:lvl9pPr>
          </a:lstStyle>
          <a:p>
            <a:pPr>
              <a:defRPr sz="2400" b="0">
                <a:solidFill>
                  <a:srgbClr val="F6F7FF"/>
                </a:solidFill>
                <a:latin typeface="DejaVu Sans"/>
                <a:ea typeface="DejaVu Sans"/>
                <a:cs typeface="DejaVu Sans"/>
              </a:defRPr>
            </a:pPr>
            <a:r>
              <a:rPr sz="2400" b="0">
                <a:solidFill>
                  <a:srgbClr val="F6F7FF"/>
                </a:solidFill>
                <a:latin typeface="DejaVu Sans"/>
                <a:ea typeface="DejaVu Sans"/>
                <a:cs typeface="DejaVu Sans"/>
              </a:rPr>
              <a:t>2    Calculate the kinetic energy.</a:t>
            </a:r>
          </a:p>
        </p:txBody>
      </p:sp>
      <p:sp>
        <p:nvSpPr>
          <p:cNvPr id="10" name="Rectangle 9">
            <a:extLst>
              <a:ext uri="{FF2B5EF4-FFF2-40B4-BE49-F238E27FC236}">
                <a16:creationId xmlns:a16="http://schemas.microsoft.com/office/drawing/2014/main" id="{5C388780-FA3B-43D1-B17A-B1ED136B06F8}"/>
              </a:ext>
            </a:extLst>
          </p:cNvPr>
          <p:cNvSpPr>
            <a:spLocks noGrp="1"/>
          </p:cNvSpPr>
          <p:nvPr/>
        </p:nvSpPr>
        <p:spPr>
          <a:xfrm>
            <a:off x="638175" y="5276850"/>
            <a:ext cx="10382250" cy="571500"/>
          </a:xfrm>
          <a:prstGeom prst="rect">
            <a:avLst/>
          </a:prstGeom>
          <a:noFill/>
          <a:ln w="0">
            <a:noFill/>
            <a:prstDash val="solid"/>
          </a:ln>
        </p:spPr>
        <p:txBody>
          <a:bodyPr/>
          <a:lstStyle>
            <a:defPPr>
              <a:defRPr sz="2400" b="0">
                <a:solidFill>
                  <a:srgbClr val="B5A2FF"/>
                </a:solidFill>
                <a:latin typeface="DejaVu Sans"/>
                <a:ea typeface="DejaVu Sans"/>
                <a:cs typeface="DejaVu Sans"/>
              </a:defRPr>
            </a:defPPr>
            <a:lvl1pPr>
              <a:defRPr sz="2400" b="0">
                <a:solidFill>
                  <a:srgbClr val="B5A2FF"/>
                </a:solidFill>
                <a:latin typeface="DejaVu Sans"/>
                <a:ea typeface="DejaVu Sans"/>
                <a:cs typeface="DejaVu Sans"/>
              </a:defRPr>
            </a:lvl1pPr>
            <a:lvl2pPr>
              <a:defRPr sz="2400" b="0">
                <a:solidFill>
                  <a:srgbClr val="B5A2FF"/>
                </a:solidFill>
                <a:latin typeface="DejaVu Sans"/>
                <a:ea typeface="DejaVu Sans"/>
                <a:cs typeface="DejaVu Sans"/>
              </a:defRPr>
            </a:lvl2pPr>
            <a:lvl3pPr>
              <a:defRPr sz="2400" b="0">
                <a:solidFill>
                  <a:srgbClr val="B5A2FF"/>
                </a:solidFill>
                <a:latin typeface="DejaVu Sans"/>
                <a:ea typeface="DejaVu Sans"/>
                <a:cs typeface="DejaVu Sans"/>
              </a:defRPr>
            </a:lvl3pPr>
            <a:lvl4pPr>
              <a:defRPr sz="2400" b="0">
                <a:solidFill>
                  <a:srgbClr val="B5A2FF"/>
                </a:solidFill>
                <a:latin typeface="DejaVu Sans"/>
                <a:ea typeface="DejaVu Sans"/>
                <a:cs typeface="DejaVu Sans"/>
              </a:defRPr>
            </a:lvl4pPr>
            <a:lvl5pPr>
              <a:defRPr sz="2400" b="0">
                <a:solidFill>
                  <a:srgbClr val="B5A2FF"/>
                </a:solidFill>
                <a:latin typeface="DejaVu Sans"/>
                <a:ea typeface="DejaVu Sans"/>
                <a:cs typeface="DejaVu Sans"/>
              </a:defRPr>
            </a:lvl5pPr>
            <a:lvl6pPr>
              <a:defRPr sz="2400" b="0">
                <a:solidFill>
                  <a:srgbClr val="B5A2FF"/>
                </a:solidFill>
                <a:latin typeface="DejaVu Sans"/>
                <a:ea typeface="DejaVu Sans"/>
                <a:cs typeface="DejaVu Sans"/>
              </a:defRPr>
            </a:lvl6pPr>
            <a:lvl7pPr>
              <a:defRPr sz="2400" b="0">
                <a:solidFill>
                  <a:srgbClr val="B5A2FF"/>
                </a:solidFill>
                <a:latin typeface="DejaVu Sans"/>
                <a:ea typeface="DejaVu Sans"/>
                <a:cs typeface="DejaVu Sans"/>
              </a:defRPr>
            </a:lvl7pPr>
            <a:lvl8pPr>
              <a:defRPr sz="2400" b="0">
                <a:solidFill>
                  <a:srgbClr val="B5A2FF"/>
                </a:solidFill>
                <a:latin typeface="DejaVu Sans"/>
                <a:ea typeface="DejaVu Sans"/>
                <a:cs typeface="DejaVu Sans"/>
              </a:defRPr>
            </a:lvl8pPr>
            <a:lvl9pPr>
              <a:defRPr sz="2400" b="0">
                <a:solidFill>
                  <a:srgbClr val="B5A2FF"/>
                </a:solidFill>
                <a:latin typeface="DejaVu Sans"/>
                <a:ea typeface="DejaVu Sans"/>
                <a:cs typeface="DejaVu Sans"/>
              </a:defRPr>
            </a:lvl9pPr>
          </a:lstStyle>
          <a:p>
            <a:pPr>
              <a:defRPr sz="2400" b="0">
                <a:solidFill>
                  <a:srgbClr val="B5A2FF"/>
                </a:solidFill>
                <a:latin typeface="DejaVu Sans"/>
                <a:ea typeface="DejaVu Sans"/>
                <a:cs typeface="DejaVu Sans"/>
              </a:defRPr>
            </a:pPr>
            <a:r>
              <a:rPr sz="2400" b="0">
                <a:solidFill>
                  <a:srgbClr val="B5A2FF"/>
                </a:solidFill>
                <a:latin typeface="DejaVu Sans"/>
                <a:ea typeface="DejaVu Sans"/>
                <a:cs typeface="DejaVu Sans"/>
              </a:rPr>
              <a:t>3    Are L and ω parallel?</a:t>
            </a:r>
          </a:p>
        </p:txBody>
      </p:sp>
    </p:spTree>
    <p:extLst>
      <p:ext uri="{BB962C8B-B14F-4D97-AF65-F5344CB8AC3E}">
        <p14:creationId xmlns:p14="http://schemas.microsoft.com/office/powerpoint/2010/main" val="2003849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74450940-BFB5-498D-AD35-E553F8564E46}"/>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629C3E16-FAE5-4E1F-BC6B-DE8C38510D93}"/>
              </a:ext>
            </a:extLst>
          </p:cNvPr>
          <p:cNvSpPr>
            <a:spLocks noGrp="1"/>
          </p:cNvSpPr>
          <p:nvPr/>
        </p:nvSpPr>
        <p:spPr>
          <a:xfrm>
            <a:off x="0" y="0"/>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B671C165-DA37-4A81-B7DF-0997C26876A6}"/>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131319A6-54A1-40B1-A552-6660C946AD8A}"/>
              </a:ext>
            </a:extLst>
          </p:cNvPr>
          <p:cNvSpPr>
            <a:spLocks noGrp="1"/>
          </p:cNvSpPr>
          <p:nvPr/>
        </p:nvSpPr>
        <p:spPr>
          <a:xfrm>
            <a:off x="609600" y="933450"/>
            <a:ext cx="10858500" cy="1000125"/>
          </a:xfrm>
          <a:prstGeom prst="rect">
            <a:avLst/>
          </a:prstGeom>
          <a:noFill/>
          <a:ln w="0">
            <a:noFill/>
            <a:prstDash val="solid"/>
          </a:ln>
        </p:spPr>
        <p:txBody>
          <a:bodyPr/>
          <a:lstStyle>
            <a:defPPr>
              <a:defRPr sz="3225" b="1">
                <a:solidFill>
                  <a:srgbClr val="F6F7FF"/>
                </a:solidFill>
                <a:latin typeface="DejaVu Sans"/>
                <a:ea typeface="DejaVu Sans"/>
                <a:cs typeface="DejaVu Sans"/>
              </a:defRPr>
            </a:defPPr>
            <a:lvl1pPr>
              <a:defRPr sz="3225" b="1">
                <a:solidFill>
                  <a:srgbClr val="F6F7FF"/>
                </a:solidFill>
                <a:latin typeface="DejaVu Sans"/>
                <a:ea typeface="DejaVu Sans"/>
                <a:cs typeface="DejaVu Sans"/>
              </a:defRPr>
            </a:lvl1pPr>
            <a:lvl2pPr>
              <a:defRPr sz="3225" b="1">
                <a:solidFill>
                  <a:srgbClr val="F6F7FF"/>
                </a:solidFill>
                <a:latin typeface="DejaVu Sans"/>
                <a:ea typeface="DejaVu Sans"/>
                <a:cs typeface="DejaVu Sans"/>
              </a:defRPr>
            </a:lvl2pPr>
            <a:lvl3pPr>
              <a:defRPr sz="3225" b="1">
                <a:solidFill>
                  <a:srgbClr val="F6F7FF"/>
                </a:solidFill>
                <a:latin typeface="DejaVu Sans"/>
                <a:ea typeface="DejaVu Sans"/>
                <a:cs typeface="DejaVu Sans"/>
              </a:defRPr>
            </a:lvl3pPr>
            <a:lvl4pPr>
              <a:defRPr sz="3225" b="1">
                <a:solidFill>
                  <a:srgbClr val="F6F7FF"/>
                </a:solidFill>
                <a:latin typeface="DejaVu Sans"/>
                <a:ea typeface="DejaVu Sans"/>
                <a:cs typeface="DejaVu Sans"/>
              </a:defRPr>
            </a:lvl4pPr>
            <a:lvl5pPr>
              <a:defRPr sz="3225" b="1">
                <a:solidFill>
                  <a:srgbClr val="F6F7FF"/>
                </a:solidFill>
                <a:latin typeface="DejaVu Sans"/>
                <a:ea typeface="DejaVu Sans"/>
                <a:cs typeface="DejaVu Sans"/>
              </a:defRPr>
            </a:lvl5pPr>
            <a:lvl6pPr>
              <a:defRPr sz="3225" b="1">
                <a:solidFill>
                  <a:srgbClr val="F6F7FF"/>
                </a:solidFill>
                <a:latin typeface="DejaVu Sans"/>
                <a:ea typeface="DejaVu Sans"/>
                <a:cs typeface="DejaVu Sans"/>
              </a:defRPr>
            </a:lvl6pPr>
            <a:lvl7pPr>
              <a:defRPr sz="3225" b="1">
                <a:solidFill>
                  <a:srgbClr val="F6F7FF"/>
                </a:solidFill>
                <a:latin typeface="DejaVu Sans"/>
                <a:ea typeface="DejaVu Sans"/>
                <a:cs typeface="DejaVu Sans"/>
              </a:defRPr>
            </a:lvl7pPr>
            <a:lvl8pPr>
              <a:defRPr sz="3225" b="1">
                <a:solidFill>
                  <a:srgbClr val="F6F7FF"/>
                </a:solidFill>
                <a:latin typeface="DejaVu Sans"/>
                <a:ea typeface="DejaVu Sans"/>
                <a:cs typeface="DejaVu Sans"/>
              </a:defRPr>
            </a:lvl8pPr>
            <a:lvl9pPr>
              <a:defRPr sz="3225" b="1">
                <a:solidFill>
                  <a:srgbClr val="F6F7FF"/>
                </a:solidFill>
                <a:latin typeface="DejaVu Sans"/>
                <a:ea typeface="DejaVu Sans"/>
                <a:cs typeface="DejaVu Sans"/>
              </a:defRPr>
            </a:lvl9pPr>
          </a:lstStyle>
          <a:p>
            <a:pPr>
              <a:defRPr sz="3225" b="1">
                <a:solidFill>
                  <a:srgbClr val="F6F7FF"/>
                </a:solidFill>
                <a:latin typeface="DejaVu Sans"/>
                <a:ea typeface="DejaVu Sans"/>
                <a:cs typeface="DejaVu Sans"/>
              </a:defRPr>
            </a:pPr>
            <a:r>
              <a:rPr sz="3225" b="1">
                <a:solidFill>
                  <a:srgbClr val="F6F7FF"/>
                </a:solidFill>
                <a:latin typeface="DejaVu Sans"/>
                <a:ea typeface="DejaVu Sans"/>
                <a:cs typeface="DejaVu Sans"/>
              </a:rPr>
              <a:t>What stays fixed changes the answer</a:t>
            </a:r>
          </a:p>
        </p:txBody>
      </p:sp>
      <p:sp>
        <p:nvSpPr>
          <p:cNvPr id="5" name="Rectangle 4">
            <a:extLst>
              <a:ext uri="{FF2B5EF4-FFF2-40B4-BE49-F238E27FC236}">
                <a16:creationId xmlns:a16="http://schemas.microsoft.com/office/drawing/2014/main" id="{26254B71-DF38-4835-990D-97F5F0BD690E}"/>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B1.2  /  ROTATIONAL ENERGY</a:t>
            </a:r>
          </a:p>
        </p:txBody>
      </p:sp>
      <p:sp>
        <p:nvSpPr>
          <p:cNvPr id="6" name="Rectangle 5">
            <a:extLst>
              <a:ext uri="{FF2B5EF4-FFF2-40B4-BE49-F238E27FC236}">
                <a16:creationId xmlns:a16="http://schemas.microsoft.com/office/drawing/2014/main" id="{9EF94D84-457F-4881-9B6F-3369458B4411}"/>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13</a:t>
            </a:r>
          </a:p>
        </p:txBody>
      </p:sp>
      <p:sp>
        <p:nvSpPr>
          <p:cNvPr id="7" name="Rectangle 6">
            <a:extLst>
              <a:ext uri="{FF2B5EF4-FFF2-40B4-BE49-F238E27FC236}">
                <a16:creationId xmlns:a16="http://schemas.microsoft.com/office/drawing/2014/main" id="{89AB2411-ACF4-43C5-9E2C-516DF250041B}"/>
              </a:ext>
            </a:extLst>
          </p:cNvPr>
          <p:cNvSpPr>
            <a:spLocks noGrp="1"/>
          </p:cNvSpPr>
          <p:nvPr/>
        </p:nvSpPr>
        <p:spPr>
          <a:xfrm>
            <a:off x="638175" y="2085975"/>
            <a:ext cx="5048250" cy="523875"/>
          </a:xfrm>
          <a:prstGeom prst="rect">
            <a:avLst/>
          </a:prstGeom>
          <a:noFill/>
          <a:ln w="0">
            <a:noFill/>
            <a:prstDash val="solid"/>
          </a:ln>
        </p:spPr>
        <p:txBody>
          <a:bodyPr/>
          <a:lstStyle>
            <a:defPPr>
              <a:defRPr sz="2325" b="1">
                <a:solidFill>
                  <a:srgbClr val="55F3D2"/>
                </a:solidFill>
                <a:latin typeface="DejaVu Sans"/>
                <a:ea typeface="DejaVu Sans"/>
                <a:cs typeface="DejaVu Sans"/>
              </a:defRPr>
            </a:defPPr>
            <a:lvl1pPr>
              <a:defRPr sz="2325" b="1">
                <a:solidFill>
                  <a:srgbClr val="55F3D2"/>
                </a:solidFill>
                <a:latin typeface="DejaVu Sans"/>
                <a:ea typeface="DejaVu Sans"/>
                <a:cs typeface="DejaVu Sans"/>
              </a:defRPr>
            </a:lvl1pPr>
            <a:lvl2pPr>
              <a:defRPr sz="2325" b="1">
                <a:solidFill>
                  <a:srgbClr val="55F3D2"/>
                </a:solidFill>
                <a:latin typeface="DejaVu Sans"/>
                <a:ea typeface="DejaVu Sans"/>
                <a:cs typeface="DejaVu Sans"/>
              </a:defRPr>
            </a:lvl2pPr>
            <a:lvl3pPr>
              <a:defRPr sz="2325" b="1">
                <a:solidFill>
                  <a:srgbClr val="55F3D2"/>
                </a:solidFill>
                <a:latin typeface="DejaVu Sans"/>
                <a:ea typeface="DejaVu Sans"/>
                <a:cs typeface="DejaVu Sans"/>
              </a:defRPr>
            </a:lvl3pPr>
            <a:lvl4pPr>
              <a:defRPr sz="2325" b="1">
                <a:solidFill>
                  <a:srgbClr val="55F3D2"/>
                </a:solidFill>
                <a:latin typeface="DejaVu Sans"/>
                <a:ea typeface="DejaVu Sans"/>
                <a:cs typeface="DejaVu Sans"/>
              </a:defRPr>
            </a:lvl4pPr>
            <a:lvl5pPr>
              <a:defRPr sz="2325" b="1">
                <a:solidFill>
                  <a:srgbClr val="55F3D2"/>
                </a:solidFill>
                <a:latin typeface="DejaVu Sans"/>
                <a:ea typeface="DejaVu Sans"/>
                <a:cs typeface="DejaVu Sans"/>
              </a:defRPr>
            </a:lvl5pPr>
            <a:lvl6pPr>
              <a:defRPr sz="2325" b="1">
                <a:solidFill>
                  <a:srgbClr val="55F3D2"/>
                </a:solidFill>
                <a:latin typeface="DejaVu Sans"/>
                <a:ea typeface="DejaVu Sans"/>
                <a:cs typeface="DejaVu Sans"/>
              </a:defRPr>
            </a:lvl6pPr>
            <a:lvl7pPr>
              <a:defRPr sz="2325" b="1">
                <a:solidFill>
                  <a:srgbClr val="55F3D2"/>
                </a:solidFill>
                <a:latin typeface="DejaVu Sans"/>
                <a:ea typeface="DejaVu Sans"/>
                <a:cs typeface="DejaVu Sans"/>
              </a:defRPr>
            </a:lvl7pPr>
            <a:lvl8pPr>
              <a:defRPr sz="2325" b="1">
                <a:solidFill>
                  <a:srgbClr val="55F3D2"/>
                </a:solidFill>
                <a:latin typeface="DejaVu Sans"/>
                <a:ea typeface="DejaVu Sans"/>
                <a:cs typeface="DejaVu Sans"/>
              </a:defRPr>
            </a:lvl8pPr>
            <a:lvl9pPr>
              <a:defRPr sz="2325" b="1">
                <a:solidFill>
                  <a:srgbClr val="55F3D2"/>
                </a:solidFill>
                <a:latin typeface="DejaVu Sans"/>
                <a:ea typeface="DejaVu Sans"/>
                <a:cs typeface="DejaVu Sans"/>
              </a:defRPr>
            </a:lvl9pPr>
          </a:lstStyle>
          <a:p>
            <a:pPr>
              <a:defRPr sz="2325" b="1">
                <a:solidFill>
                  <a:srgbClr val="55F3D2"/>
                </a:solidFill>
                <a:latin typeface="DejaVu Sans"/>
                <a:ea typeface="DejaVu Sans"/>
                <a:cs typeface="DejaVu Sans"/>
              </a:defRPr>
            </a:pPr>
            <a:r>
              <a:rPr sz="2325" b="1">
                <a:solidFill>
                  <a:srgbClr val="55F3D2"/>
                </a:solidFill>
                <a:latin typeface="DejaVu Sans"/>
                <a:ea typeface="DejaVu Sans"/>
                <a:cs typeface="DejaVu Sans"/>
              </a:rPr>
              <a:t>Fixed angular speed</a:t>
            </a:r>
          </a:p>
        </p:txBody>
      </p:sp>
      <p:pic>
        <p:nvPicPr>
          <p:cNvPr id="8" name="Picture 7">
            <a:extLst>
              <a:ext uri="{FF2B5EF4-FFF2-40B4-BE49-F238E27FC236}">
                <a16:creationId xmlns:a16="http://schemas.microsoft.com/office/drawing/2014/main" id="{8ACBCCE7-A678-4CA8-967F-091E59B44E64}"/>
              </a:ext>
            </a:extLst>
          </p:cNvPr>
          <p:cNvPicPr>
            <a:picLocks noChangeAspect="1"/>
          </p:cNvPicPr>
          <p:nvPr/>
        </p:nvPicPr>
        <p:blipFill>
          <a:blip r:embed="rId4"/>
          <a:stretch/>
        </p:blipFill>
        <p:spPr>
          <a:xfrm>
            <a:off x="2183530" y="2905125"/>
            <a:ext cx="1957540" cy="1000125"/>
          </a:xfrm>
          <a:prstGeom prst="rect">
            <a:avLst/>
          </a:prstGeom>
        </p:spPr>
      </p:pic>
      <p:sp>
        <p:nvSpPr>
          <p:cNvPr id="9" name="Rectangle 8">
            <a:extLst>
              <a:ext uri="{FF2B5EF4-FFF2-40B4-BE49-F238E27FC236}">
                <a16:creationId xmlns:a16="http://schemas.microsoft.com/office/drawing/2014/main" id="{8C133CD6-80F5-4293-B960-DBF3354C0C0A}"/>
              </a:ext>
            </a:extLst>
          </p:cNvPr>
          <p:cNvSpPr>
            <a:spLocks noGrp="1"/>
          </p:cNvSpPr>
          <p:nvPr/>
        </p:nvSpPr>
        <p:spPr>
          <a:xfrm>
            <a:off x="638175" y="4314825"/>
            <a:ext cx="4762500" cy="904875"/>
          </a:xfrm>
          <a:prstGeom prst="rect">
            <a:avLst/>
          </a:prstGeom>
          <a:noFill/>
          <a:ln w="0">
            <a:noFill/>
            <a:prstDash val="solid"/>
          </a:ln>
        </p:spPr>
        <p:txBody>
          <a:bodyPr/>
          <a:lstStyle>
            <a:defPPr>
              <a:defRPr sz="2100" b="0">
                <a:solidFill>
                  <a:srgbClr val="B6C3D8"/>
                </a:solidFill>
                <a:latin typeface="DejaVu Sans"/>
                <a:ea typeface="DejaVu Sans"/>
                <a:cs typeface="DejaVu Sans"/>
              </a:defRPr>
            </a:defPPr>
            <a:lvl1pPr>
              <a:defRPr sz="2100" b="0">
                <a:solidFill>
                  <a:srgbClr val="B6C3D8"/>
                </a:solidFill>
                <a:latin typeface="DejaVu Sans"/>
                <a:ea typeface="DejaVu Sans"/>
                <a:cs typeface="DejaVu Sans"/>
              </a:defRPr>
            </a:lvl1pPr>
            <a:lvl2pPr>
              <a:defRPr sz="2100" b="0">
                <a:solidFill>
                  <a:srgbClr val="B6C3D8"/>
                </a:solidFill>
                <a:latin typeface="DejaVu Sans"/>
                <a:ea typeface="DejaVu Sans"/>
                <a:cs typeface="DejaVu Sans"/>
              </a:defRPr>
            </a:lvl2pPr>
            <a:lvl3pPr>
              <a:defRPr sz="2100" b="0">
                <a:solidFill>
                  <a:srgbClr val="B6C3D8"/>
                </a:solidFill>
                <a:latin typeface="DejaVu Sans"/>
                <a:ea typeface="DejaVu Sans"/>
                <a:cs typeface="DejaVu Sans"/>
              </a:defRPr>
            </a:lvl3pPr>
            <a:lvl4pPr>
              <a:defRPr sz="2100" b="0">
                <a:solidFill>
                  <a:srgbClr val="B6C3D8"/>
                </a:solidFill>
                <a:latin typeface="DejaVu Sans"/>
                <a:ea typeface="DejaVu Sans"/>
                <a:cs typeface="DejaVu Sans"/>
              </a:defRPr>
            </a:lvl4pPr>
            <a:lvl5pPr>
              <a:defRPr sz="2100" b="0">
                <a:solidFill>
                  <a:srgbClr val="B6C3D8"/>
                </a:solidFill>
                <a:latin typeface="DejaVu Sans"/>
                <a:ea typeface="DejaVu Sans"/>
                <a:cs typeface="DejaVu Sans"/>
              </a:defRPr>
            </a:lvl5pPr>
            <a:lvl6pPr>
              <a:defRPr sz="2100" b="0">
                <a:solidFill>
                  <a:srgbClr val="B6C3D8"/>
                </a:solidFill>
                <a:latin typeface="DejaVu Sans"/>
                <a:ea typeface="DejaVu Sans"/>
                <a:cs typeface="DejaVu Sans"/>
              </a:defRPr>
            </a:lvl6pPr>
            <a:lvl7pPr>
              <a:defRPr sz="2100" b="0">
                <a:solidFill>
                  <a:srgbClr val="B6C3D8"/>
                </a:solidFill>
                <a:latin typeface="DejaVu Sans"/>
                <a:ea typeface="DejaVu Sans"/>
                <a:cs typeface="DejaVu Sans"/>
              </a:defRPr>
            </a:lvl7pPr>
            <a:lvl8pPr>
              <a:defRPr sz="2100" b="0">
                <a:solidFill>
                  <a:srgbClr val="B6C3D8"/>
                </a:solidFill>
                <a:latin typeface="DejaVu Sans"/>
                <a:ea typeface="DejaVu Sans"/>
                <a:cs typeface="DejaVu Sans"/>
              </a:defRPr>
            </a:lvl8pPr>
            <a:lvl9pPr>
              <a:defRPr sz="2100" b="0">
                <a:solidFill>
                  <a:srgbClr val="B6C3D8"/>
                </a:solidFill>
                <a:latin typeface="DejaVu Sans"/>
                <a:ea typeface="DejaVu Sans"/>
                <a:cs typeface="DejaVu Sans"/>
              </a:defRPr>
            </a:lvl9pPr>
          </a:lstStyle>
          <a:p>
            <a:pPr>
              <a:defRPr sz="2100" b="0">
                <a:solidFill>
                  <a:srgbClr val="B6C3D8"/>
                </a:solidFill>
                <a:latin typeface="DejaVu Sans"/>
                <a:ea typeface="DejaVu Sans"/>
                <a:cs typeface="DejaVu Sans"/>
              </a:defRPr>
            </a:pPr>
            <a:r>
              <a:rPr sz="2100" b="0">
                <a:solidFill>
                  <a:srgbClr val="B6C3D8"/>
                </a:solidFill>
                <a:latin typeface="DejaVu Sans"/>
                <a:ea typeface="DejaVu Sans"/>
                <a:cs typeface="DejaVu Sans"/>
              </a:rPr>
              <a:t>Larger inertia gives larger energy.</a:t>
            </a:r>
          </a:p>
        </p:txBody>
      </p:sp>
      <p:sp>
        <p:nvSpPr>
          <p:cNvPr id="10" name="Rectangle 9">
            <a:extLst>
              <a:ext uri="{FF2B5EF4-FFF2-40B4-BE49-F238E27FC236}">
                <a16:creationId xmlns:a16="http://schemas.microsoft.com/office/drawing/2014/main" id="{01967FBA-21E6-48B8-9FDB-6747A0EA2A15}"/>
              </a:ext>
            </a:extLst>
          </p:cNvPr>
          <p:cNvSpPr>
            <a:spLocks noGrp="1"/>
          </p:cNvSpPr>
          <p:nvPr/>
        </p:nvSpPr>
        <p:spPr>
          <a:xfrm>
            <a:off x="5972175" y="2095500"/>
            <a:ext cx="19050" cy="3371850"/>
          </a:xfrm>
          <a:prstGeom prst="rect">
            <a:avLst/>
          </a:prstGeom>
          <a:solidFill>
            <a:srgbClr val="2C405A"/>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0EBF6EA0-39D9-4AD6-B878-F721C74FD278}"/>
              </a:ext>
            </a:extLst>
          </p:cNvPr>
          <p:cNvSpPr>
            <a:spLocks noGrp="1"/>
          </p:cNvSpPr>
          <p:nvPr/>
        </p:nvSpPr>
        <p:spPr>
          <a:xfrm>
            <a:off x="6553200" y="2085975"/>
            <a:ext cx="4810125" cy="904875"/>
          </a:xfrm>
          <a:prstGeom prst="rect">
            <a:avLst/>
          </a:prstGeom>
          <a:noFill/>
          <a:ln w="0">
            <a:noFill/>
            <a:prstDash val="solid"/>
          </a:ln>
        </p:spPr>
        <p:txBody>
          <a:bodyPr/>
          <a:lstStyle>
            <a:defPPr>
              <a:defRPr sz="2250" b="1">
                <a:solidFill>
                  <a:srgbClr val="B5A2FF"/>
                </a:solidFill>
                <a:latin typeface="DejaVu Sans"/>
                <a:ea typeface="DejaVu Sans"/>
                <a:cs typeface="DejaVu Sans"/>
              </a:defRPr>
            </a:defPPr>
            <a:lvl1pPr>
              <a:defRPr sz="2250" b="1">
                <a:solidFill>
                  <a:srgbClr val="B5A2FF"/>
                </a:solidFill>
                <a:latin typeface="DejaVu Sans"/>
                <a:ea typeface="DejaVu Sans"/>
                <a:cs typeface="DejaVu Sans"/>
              </a:defRPr>
            </a:lvl1pPr>
            <a:lvl2pPr>
              <a:defRPr sz="2250" b="1">
                <a:solidFill>
                  <a:srgbClr val="B5A2FF"/>
                </a:solidFill>
                <a:latin typeface="DejaVu Sans"/>
                <a:ea typeface="DejaVu Sans"/>
                <a:cs typeface="DejaVu Sans"/>
              </a:defRPr>
            </a:lvl2pPr>
            <a:lvl3pPr>
              <a:defRPr sz="2250" b="1">
                <a:solidFill>
                  <a:srgbClr val="B5A2FF"/>
                </a:solidFill>
                <a:latin typeface="DejaVu Sans"/>
                <a:ea typeface="DejaVu Sans"/>
                <a:cs typeface="DejaVu Sans"/>
              </a:defRPr>
            </a:lvl3pPr>
            <a:lvl4pPr>
              <a:defRPr sz="2250" b="1">
                <a:solidFill>
                  <a:srgbClr val="B5A2FF"/>
                </a:solidFill>
                <a:latin typeface="DejaVu Sans"/>
                <a:ea typeface="DejaVu Sans"/>
                <a:cs typeface="DejaVu Sans"/>
              </a:defRPr>
            </a:lvl4pPr>
            <a:lvl5pPr>
              <a:defRPr sz="2250" b="1">
                <a:solidFill>
                  <a:srgbClr val="B5A2FF"/>
                </a:solidFill>
                <a:latin typeface="DejaVu Sans"/>
                <a:ea typeface="DejaVu Sans"/>
                <a:cs typeface="DejaVu Sans"/>
              </a:defRPr>
            </a:lvl5pPr>
            <a:lvl6pPr>
              <a:defRPr sz="2250" b="1">
                <a:solidFill>
                  <a:srgbClr val="B5A2FF"/>
                </a:solidFill>
                <a:latin typeface="DejaVu Sans"/>
                <a:ea typeface="DejaVu Sans"/>
                <a:cs typeface="DejaVu Sans"/>
              </a:defRPr>
            </a:lvl6pPr>
            <a:lvl7pPr>
              <a:defRPr sz="2250" b="1">
                <a:solidFill>
                  <a:srgbClr val="B5A2FF"/>
                </a:solidFill>
                <a:latin typeface="DejaVu Sans"/>
                <a:ea typeface="DejaVu Sans"/>
                <a:cs typeface="DejaVu Sans"/>
              </a:defRPr>
            </a:lvl7pPr>
            <a:lvl8pPr>
              <a:defRPr sz="2250" b="1">
                <a:solidFill>
                  <a:srgbClr val="B5A2FF"/>
                </a:solidFill>
                <a:latin typeface="DejaVu Sans"/>
                <a:ea typeface="DejaVu Sans"/>
                <a:cs typeface="DejaVu Sans"/>
              </a:defRPr>
            </a:lvl8pPr>
            <a:lvl9pPr>
              <a:defRPr sz="2250" b="1">
                <a:solidFill>
                  <a:srgbClr val="B5A2FF"/>
                </a:solidFill>
                <a:latin typeface="DejaVu Sans"/>
                <a:ea typeface="DejaVu Sans"/>
                <a:cs typeface="DejaVu Sans"/>
              </a:defRPr>
            </a:lvl9pPr>
          </a:lstStyle>
          <a:p>
            <a:pPr>
              <a:defRPr sz="2250" b="1">
                <a:solidFill>
                  <a:srgbClr val="B5A2FF"/>
                </a:solidFill>
                <a:latin typeface="DejaVu Sans"/>
                <a:ea typeface="DejaVu Sans"/>
                <a:cs typeface="DejaVu Sans"/>
              </a:defRPr>
            </a:pPr>
            <a:r>
              <a:rPr sz="2250" b="1">
                <a:solidFill>
                  <a:srgbClr val="B5A2FF"/>
                </a:solidFill>
                <a:latin typeface="DejaVu Sans"/>
                <a:ea typeface="DejaVu Sans"/>
                <a:cs typeface="DejaVu Sans"/>
              </a:rPr>
              <a:t>Fixed angular momentum magnitude</a:t>
            </a:r>
          </a:p>
        </p:txBody>
      </p:sp>
      <p:pic>
        <p:nvPicPr>
          <p:cNvPr id="12" name="Picture 11">
            <a:extLst>
              <a:ext uri="{FF2B5EF4-FFF2-40B4-BE49-F238E27FC236}">
                <a16:creationId xmlns:a16="http://schemas.microsoft.com/office/drawing/2014/main" id="{C9754581-4DF1-4832-8E81-19E06A3A72DC}"/>
              </a:ext>
            </a:extLst>
          </p:cNvPr>
          <p:cNvPicPr>
            <a:picLocks noChangeAspect="1"/>
          </p:cNvPicPr>
          <p:nvPr/>
        </p:nvPicPr>
        <p:blipFill>
          <a:blip r:embed="rId5"/>
          <a:stretch/>
        </p:blipFill>
        <p:spPr>
          <a:xfrm>
            <a:off x="8190045" y="3190875"/>
            <a:ext cx="1488810" cy="1047750"/>
          </a:xfrm>
          <a:prstGeom prst="rect">
            <a:avLst/>
          </a:prstGeom>
        </p:spPr>
      </p:pic>
      <p:sp>
        <p:nvSpPr>
          <p:cNvPr id="13" name="Rectangle 12">
            <a:extLst>
              <a:ext uri="{FF2B5EF4-FFF2-40B4-BE49-F238E27FC236}">
                <a16:creationId xmlns:a16="http://schemas.microsoft.com/office/drawing/2014/main" id="{0D5A2102-CFB1-4CA1-BDAE-5150AC1AC62F}"/>
              </a:ext>
            </a:extLst>
          </p:cNvPr>
          <p:cNvSpPr>
            <a:spLocks noGrp="1"/>
          </p:cNvSpPr>
          <p:nvPr/>
        </p:nvSpPr>
        <p:spPr>
          <a:xfrm>
            <a:off x="6553200" y="4457700"/>
            <a:ext cx="4810125" cy="952500"/>
          </a:xfrm>
          <a:prstGeom prst="rect">
            <a:avLst/>
          </a:prstGeom>
          <a:noFill/>
          <a:ln w="0">
            <a:noFill/>
            <a:prstDash val="solid"/>
          </a:ln>
        </p:spPr>
        <p:txBody>
          <a:bodyPr/>
          <a:lstStyle>
            <a:defPPr>
              <a:defRPr sz="2025" b="0">
                <a:solidFill>
                  <a:srgbClr val="B6C3D8"/>
                </a:solidFill>
                <a:latin typeface="DejaVu Sans"/>
                <a:ea typeface="DejaVu Sans"/>
                <a:cs typeface="DejaVu Sans"/>
              </a:defRPr>
            </a:defPPr>
            <a:lvl1pPr>
              <a:defRPr sz="2025" b="0">
                <a:solidFill>
                  <a:srgbClr val="B6C3D8"/>
                </a:solidFill>
                <a:latin typeface="DejaVu Sans"/>
                <a:ea typeface="DejaVu Sans"/>
                <a:cs typeface="DejaVu Sans"/>
              </a:defRPr>
            </a:lvl1pPr>
            <a:lvl2pPr>
              <a:defRPr sz="2025" b="0">
                <a:solidFill>
                  <a:srgbClr val="B6C3D8"/>
                </a:solidFill>
                <a:latin typeface="DejaVu Sans"/>
                <a:ea typeface="DejaVu Sans"/>
                <a:cs typeface="DejaVu Sans"/>
              </a:defRPr>
            </a:lvl2pPr>
            <a:lvl3pPr>
              <a:defRPr sz="2025" b="0">
                <a:solidFill>
                  <a:srgbClr val="B6C3D8"/>
                </a:solidFill>
                <a:latin typeface="DejaVu Sans"/>
                <a:ea typeface="DejaVu Sans"/>
                <a:cs typeface="DejaVu Sans"/>
              </a:defRPr>
            </a:lvl3pPr>
            <a:lvl4pPr>
              <a:defRPr sz="2025" b="0">
                <a:solidFill>
                  <a:srgbClr val="B6C3D8"/>
                </a:solidFill>
                <a:latin typeface="DejaVu Sans"/>
                <a:ea typeface="DejaVu Sans"/>
                <a:cs typeface="DejaVu Sans"/>
              </a:defRPr>
            </a:lvl4pPr>
            <a:lvl5pPr>
              <a:defRPr sz="2025" b="0">
                <a:solidFill>
                  <a:srgbClr val="B6C3D8"/>
                </a:solidFill>
                <a:latin typeface="DejaVu Sans"/>
                <a:ea typeface="DejaVu Sans"/>
                <a:cs typeface="DejaVu Sans"/>
              </a:defRPr>
            </a:lvl5pPr>
            <a:lvl6pPr>
              <a:defRPr sz="2025" b="0">
                <a:solidFill>
                  <a:srgbClr val="B6C3D8"/>
                </a:solidFill>
                <a:latin typeface="DejaVu Sans"/>
                <a:ea typeface="DejaVu Sans"/>
                <a:cs typeface="DejaVu Sans"/>
              </a:defRPr>
            </a:lvl6pPr>
            <a:lvl7pPr>
              <a:defRPr sz="2025" b="0">
                <a:solidFill>
                  <a:srgbClr val="B6C3D8"/>
                </a:solidFill>
                <a:latin typeface="DejaVu Sans"/>
                <a:ea typeface="DejaVu Sans"/>
                <a:cs typeface="DejaVu Sans"/>
              </a:defRPr>
            </a:lvl7pPr>
            <a:lvl8pPr>
              <a:defRPr sz="2025" b="0">
                <a:solidFill>
                  <a:srgbClr val="B6C3D8"/>
                </a:solidFill>
                <a:latin typeface="DejaVu Sans"/>
                <a:ea typeface="DejaVu Sans"/>
                <a:cs typeface="DejaVu Sans"/>
              </a:defRPr>
            </a:lvl8pPr>
            <a:lvl9pPr>
              <a:defRPr sz="2025" b="0">
                <a:solidFill>
                  <a:srgbClr val="B6C3D8"/>
                </a:solidFill>
                <a:latin typeface="DejaVu Sans"/>
                <a:ea typeface="DejaVu Sans"/>
                <a:cs typeface="DejaVu Sans"/>
              </a:defRPr>
            </a:lvl9pPr>
          </a:lstStyle>
          <a:p>
            <a:pPr>
              <a:defRPr sz="2025" b="0">
                <a:solidFill>
                  <a:srgbClr val="B6C3D8"/>
                </a:solidFill>
                <a:latin typeface="DejaVu Sans"/>
                <a:ea typeface="DejaVu Sans"/>
                <a:cs typeface="DejaVu Sans"/>
              </a:defRPr>
            </a:pPr>
            <a:r>
              <a:rPr sz="2025" b="0">
                <a:solidFill>
                  <a:srgbClr val="B6C3D8"/>
                </a:solidFill>
                <a:latin typeface="DejaVu Sans"/>
                <a:ea typeface="DejaVu Sans"/>
                <a:cs typeface="DejaVu Sans"/>
              </a:rPr>
              <a:t>Along a principal axis, larger inertia</a:t>
            </a:r>
          </a:p>
          <a:p>
            <a:pPr>
              <a:defRPr sz="2025" b="0">
                <a:solidFill>
                  <a:srgbClr val="B6C3D8"/>
                </a:solidFill>
                <a:latin typeface="DejaVu Sans"/>
                <a:ea typeface="DejaVu Sans"/>
                <a:cs typeface="DejaVu Sans"/>
              </a:defRPr>
            </a:pPr>
            <a:r>
              <a:rPr sz="2025" b="0">
                <a:solidFill>
                  <a:srgbClr val="B6C3D8"/>
                </a:solidFill>
                <a:latin typeface="DejaVu Sans"/>
                <a:ea typeface="DejaVu Sans"/>
                <a:cs typeface="DejaVu Sans"/>
              </a:rPr>
              <a:t>gives smaller energy.</a:t>
            </a:r>
          </a:p>
        </p:txBody>
      </p:sp>
    </p:spTree>
    <p:extLst>
      <p:ext uri="{BB962C8B-B14F-4D97-AF65-F5344CB8AC3E}">
        <p14:creationId xmlns:p14="http://schemas.microsoft.com/office/powerpoint/2010/main" val="2445672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05783DE5-08A8-418A-AD09-526C648AAE60}"/>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EE7446CE-AC8A-4333-8818-890F367A9FC7}"/>
              </a:ext>
            </a:extLst>
          </p:cNvPr>
          <p:cNvSpPr>
            <a:spLocks noGrp="1"/>
          </p:cNvSpPr>
          <p:nvPr/>
        </p:nvSpPr>
        <p:spPr>
          <a:xfrm>
            <a:off x="0" y="0"/>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5C37E4B8-FD1B-455F-A920-E3BC965DAFFE}"/>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4051B538-D199-42ED-A7EF-49C41089DA67}"/>
              </a:ext>
            </a:extLst>
          </p:cNvPr>
          <p:cNvSpPr>
            <a:spLocks noGrp="1"/>
          </p:cNvSpPr>
          <p:nvPr/>
        </p:nvSpPr>
        <p:spPr>
          <a:xfrm>
            <a:off x="609600" y="933450"/>
            <a:ext cx="10858500" cy="1000125"/>
          </a:xfrm>
          <a:prstGeom prst="rect">
            <a:avLst/>
          </a:prstGeom>
          <a:noFill/>
          <a:ln w="0">
            <a:noFill/>
            <a:prstDash val="solid"/>
          </a:ln>
        </p:spPr>
        <p:txBody>
          <a:bodyPr/>
          <a:lstStyle>
            <a:defPPr>
              <a:defRPr sz="3225" b="1">
                <a:solidFill>
                  <a:srgbClr val="F6F7FF"/>
                </a:solidFill>
                <a:latin typeface="DejaVu Sans"/>
                <a:ea typeface="DejaVu Sans"/>
                <a:cs typeface="DejaVu Sans"/>
              </a:defRPr>
            </a:defPPr>
            <a:lvl1pPr>
              <a:defRPr sz="3225" b="1">
                <a:solidFill>
                  <a:srgbClr val="F6F7FF"/>
                </a:solidFill>
                <a:latin typeface="DejaVu Sans"/>
                <a:ea typeface="DejaVu Sans"/>
                <a:cs typeface="DejaVu Sans"/>
              </a:defRPr>
            </a:lvl1pPr>
            <a:lvl2pPr>
              <a:defRPr sz="3225" b="1">
                <a:solidFill>
                  <a:srgbClr val="F6F7FF"/>
                </a:solidFill>
                <a:latin typeface="DejaVu Sans"/>
                <a:ea typeface="DejaVu Sans"/>
                <a:cs typeface="DejaVu Sans"/>
              </a:defRPr>
            </a:lvl2pPr>
            <a:lvl3pPr>
              <a:defRPr sz="3225" b="1">
                <a:solidFill>
                  <a:srgbClr val="F6F7FF"/>
                </a:solidFill>
                <a:latin typeface="DejaVu Sans"/>
                <a:ea typeface="DejaVu Sans"/>
                <a:cs typeface="DejaVu Sans"/>
              </a:defRPr>
            </a:lvl3pPr>
            <a:lvl4pPr>
              <a:defRPr sz="3225" b="1">
                <a:solidFill>
                  <a:srgbClr val="F6F7FF"/>
                </a:solidFill>
                <a:latin typeface="DejaVu Sans"/>
                <a:ea typeface="DejaVu Sans"/>
                <a:cs typeface="DejaVu Sans"/>
              </a:defRPr>
            </a:lvl4pPr>
            <a:lvl5pPr>
              <a:defRPr sz="3225" b="1">
                <a:solidFill>
                  <a:srgbClr val="F6F7FF"/>
                </a:solidFill>
                <a:latin typeface="DejaVu Sans"/>
                <a:ea typeface="DejaVu Sans"/>
                <a:cs typeface="DejaVu Sans"/>
              </a:defRPr>
            </a:lvl5pPr>
            <a:lvl6pPr>
              <a:defRPr sz="3225" b="1">
                <a:solidFill>
                  <a:srgbClr val="F6F7FF"/>
                </a:solidFill>
                <a:latin typeface="DejaVu Sans"/>
                <a:ea typeface="DejaVu Sans"/>
                <a:cs typeface="DejaVu Sans"/>
              </a:defRPr>
            </a:lvl6pPr>
            <a:lvl7pPr>
              <a:defRPr sz="3225" b="1">
                <a:solidFill>
                  <a:srgbClr val="F6F7FF"/>
                </a:solidFill>
                <a:latin typeface="DejaVu Sans"/>
                <a:ea typeface="DejaVu Sans"/>
                <a:cs typeface="DejaVu Sans"/>
              </a:defRPr>
            </a:lvl7pPr>
            <a:lvl8pPr>
              <a:defRPr sz="3225" b="1">
                <a:solidFill>
                  <a:srgbClr val="F6F7FF"/>
                </a:solidFill>
                <a:latin typeface="DejaVu Sans"/>
                <a:ea typeface="DejaVu Sans"/>
                <a:cs typeface="DejaVu Sans"/>
              </a:defRPr>
            </a:lvl8pPr>
            <a:lvl9pPr>
              <a:defRPr sz="3225" b="1">
                <a:solidFill>
                  <a:srgbClr val="F6F7FF"/>
                </a:solidFill>
                <a:latin typeface="DejaVu Sans"/>
                <a:ea typeface="DejaVu Sans"/>
                <a:cs typeface="DejaVu Sans"/>
              </a:defRPr>
            </a:lvl9pPr>
          </a:lstStyle>
          <a:p>
            <a:pPr>
              <a:defRPr sz="3225" b="1">
                <a:solidFill>
                  <a:srgbClr val="F6F7FF"/>
                </a:solidFill>
                <a:latin typeface="DejaVu Sans"/>
                <a:ea typeface="DejaVu Sans"/>
                <a:cs typeface="DejaVu Sans"/>
              </a:defRPr>
            </a:pPr>
            <a:r>
              <a:rPr sz="3225" b="1">
                <a:solidFill>
                  <a:srgbClr val="F6F7FF"/>
                </a:solidFill>
                <a:latin typeface="DejaVu Sans"/>
                <a:ea typeface="DejaVu Sans"/>
                <a:cs typeface="DejaVu Sans"/>
              </a:rPr>
              <a:t>Minimum energy selects the largest inertia</a:t>
            </a:r>
          </a:p>
        </p:txBody>
      </p:sp>
      <p:sp>
        <p:nvSpPr>
          <p:cNvPr id="5" name="Rectangle 4">
            <a:extLst>
              <a:ext uri="{FF2B5EF4-FFF2-40B4-BE49-F238E27FC236}">
                <a16:creationId xmlns:a16="http://schemas.microsoft.com/office/drawing/2014/main" id="{1327D101-DAD7-4132-B103-891F21E5F79C}"/>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B1.2  /  ROTATIONAL ENERGY</a:t>
            </a:r>
          </a:p>
        </p:txBody>
      </p:sp>
      <p:sp>
        <p:nvSpPr>
          <p:cNvPr id="6" name="Rectangle 5">
            <a:extLst>
              <a:ext uri="{FF2B5EF4-FFF2-40B4-BE49-F238E27FC236}">
                <a16:creationId xmlns:a16="http://schemas.microsoft.com/office/drawing/2014/main" id="{EC109D48-BDAC-4F18-A823-663DDCC57EA3}"/>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14</a:t>
            </a:r>
          </a:p>
        </p:txBody>
      </p:sp>
      <p:pic>
        <p:nvPicPr>
          <p:cNvPr id="7" name="Picture 6">
            <a:extLst>
              <a:ext uri="{FF2B5EF4-FFF2-40B4-BE49-F238E27FC236}">
                <a16:creationId xmlns:a16="http://schemas.microsoft.com/office/drawing/2014/main" id="{8CEC3E54-C3D6-4021-9D0B-3F0A54E3A057}"/>
              </a:ext>
            </a:extLst>
          </p:cNvPr>
          <p:cNvPicPr>
            <a:picLocks noChangeAspect="1"/>
          </p:cNvPicPr>
          <p:nvPr/>
        </p:nvPicPr>
        <p:blipFill>
          <a:blip r:embed="rId4"/>
          <a:stretch/>
        </p:blipFill>
        <p:spPr>
          <a:xfrm>
            <a:off x="4336296" y="1790700"/>
            <a:ext cx="3157459" cy="952500"/>
          </a:xfrm>
          <a:prstGeom prst="rect">
            <a:avLst/>
          </a:prstGeom>
        </p:spPr>
      </p:pic>
      <p:pic>
        <p:nvPicPr>
          <p:cNvPr id="8" name="Picture 7">
            <a:extLst>
              <a:ext uri="{FF2B5EF4-FFF2-40B4-BE49-F238E27FC236}">
                <a16:creationId xmlns:a16="http://schemas.microsoft.com/office/drawing/2014/main" id="{832C70D1-71A8-4A88-ADEB-C6EA42895146}"/>
              </a:ext>
            </a:extLst>
          </p:cNvPr>
          <p:cNvPicPr>
            <a:picLocks noChangeAspect="1"/>
          </p:cNvPicPr>
          <p:nvPr/>
        </p:nvPicPr>
        <p:blipFill>
          <a:blip r:embed="rId5"/>
          <a:stretch/>
        </p:blipFill>
        <p:spPr>
          <a:xfrm>
            <a:off x="2058228" y="3048000"/>
            <a:ext cx="3313043" cy="1143000"/>
          </a:xfrm>
          <a:prstGeom prst="rect">
            <a:avLst/>
          </a:prstGeom>
        </p:spPr>
      </p:pic>
      <p:sp>
        <p:nvSpPr>
          <p:cNvPr id="9" name="Rectangle 8">
            <a:extLst>
              <a:ext uri="{FF2B5EF4-FFF2-40B4-BE49-F238E27FC236}">
                <a16:creationId xmlns:a16="http://schemas.microsoft.com/office/drawing/2014/main" id="{7547C196-B5E1-4F3D-9019-A3A3487DB048}"/>
              </a:ext>
            </a:extLst>
          </p:cNvPr>
          <p:cNvSpPr>
            <a:spLocks noGrp="1"/>
          </p:cNvSpPr>
          <p:nvPr/>
        </p:nvSpPr>
        <p:spPr>
          <a:xfrm>
            <a:off x="638175" y="4562475"/>
            <a:ext cx="6096000" cy="952500"/>
          </a:xfrm>
          <a:prstGeom prst="rect">
            <a:avLst/>
          </a:prstGeom>
          <a:noFill/>
          <a:ln w="0">
            <a:noFill/>
            <a:prstDash val="solid"/>
          </a:ln>
        </p:spPr>
        <p:txBody>
          <a:bodyPr/>
          <a:lstStyle>
            <a:defPPr>
              <a:defRPr sz="2325" b="1">
                <a:solidFill>
                  <a:srgbClr val="55F3D2"/>
                </a:solidFill>
                <a:latin typeface="DejaVu Sans"/>
                <a:ea typeface="DejaVu Sans"/>
                <a:cs typeface="DejaVu Sans"/>
              </a:defRPr>
            </a:defPPr>
            <a:lvl1pPr>
              <a:defRPr sz="2325" b="1">
                <a:solidFill>
                  <a:srgbClr val="55F3D2"/>
                </a:solidFill>
                <a:latin typeface="DejaVu Sans"/>
                <a:ea typeface="DejaVu Sans"/>
                <a:cs typeface="DejaVu Sans"/>
              </a:defRPr>
            </a:lvl1pPr>
            <a:lvl2pPr>
              <a:defRPr sz="2325" b="1">
                <a:solidFill>
                  <a:srgbClr val="55F3D2"/>
                </a:solidFill>
                <a:latin typeface="DejaVu Sans"/>
                <a:ea typeface="DejaVu Sans"/>
                <a:cs typeface="DejaVu Sans"/>
              </a:defRPr>
            </a:lvl2pPr>
            <a:lvl3pPr>
              <a:defRPr sz="2325" b="1">
                <a:solidFill>
                  <a:srgbClr val="55F3D2"/>
                </a:solidFill>
                <a:latin typeface="DejaVu Sans"/>
                <a:ea typeface="DejaVu Sans"/>
                <a:cs typeface="DejaVu Sans"/>
              </a:defRPr>
            </a:lvl3pPr>
            <a:lvl4pPr>
              <a:defRPr sz="2325" b="1">
                <a:solidFill>
                  <a:srgbClr val="55F3D2"/>
                </a:solidFill>
                <a:latin typeface="DejaVu Sans"/>
                <a:ea typeface="DejaVu Sans"/>
                <a:cs typeface="DejaVu Sans"/>
              </a:defRPr>
            </a:lvl4pPr>
            <a:lvl5pPr>
              <a:defRPr sz="2325" b="1">
                <a:solidFill>
                  <a:srgbClr val="55F3D2"/>
                </a:solidFill>
                <a:latin typeface="DejaVu Sans"/>
                <a:ea typeface="DejaVu Sans"/>
                <a:cs typeface="DejaVu Sans"/>
              </a:defRPr>
            </a:lvl5pPr>
            <a:lvl6pPr>
              <a:defRPr sz="2325" b="1">
                <a:solidFill>
                  <a:srgbClr val="55F3D2"/>
                </a:solidFill>
                <a:latin typeface="DejaVu Sans"/>
                <a:ea typeface="DejaVu Sans"/>
                <a:cs typeface="DejaVu Sans"/>
              </a:defRPr>
            </a:lvl6pPr>
            <a:lvl7pPr>
              <a:defRPr sz="2325" b="1">
                <a:solidFill>
                  <a:srgbClr val="55F3D2"/>
                </a:solidFill>
                <a:latin typeface="DejaVu Sans"/>
                <a:ea typeface="DejaVu Sans"/>
                <a:cs typeface="DejaVu Sans"/>
              </a:defRPr>
            </a:lvl7pPr>
            <a:lvl8pPr>
              <a:defRPr sz="2325" b="1">
                <a:solidFill>
                  <a:srgbClr val="55F3D2"/>
                </a:solidFill>
                <a:latin typeface="DejaVu Sans"/>
                <a:ea typeface="DejaVu Sans"/>
                <a:cs typeface="DejaVu Sans"/>
              </a:defRPr>
            </a:lvl8pPr>
            <a:lvl9pPr>
              <a:defRPr sz="2325" b="1">
                <a:solidFill>
                  <a:srgbClr val="55F3D2"/>
                </a:solidFill>
                <a:latin typeface="DejaVu Sans"/>
                <a:ea typeface="DejaVu Sans"/>
                <a:cs typeface="DejaVu Sans"/>
              </a:defRPr>
            </a:lvl9pPr>
          </a:lstStyle>
          <a:p>
            <a:pPr>
              <a:defRPr sz="2325" b="1">
                <a:solidFill>
                  <a:srgbClr val="55F3D2"/>
                </a:solidFill>
                <a:latin typeface="DejaVu Sans"/>
                <a:ea typeface="DejaVu Sans"/>
                <a:cs typeface="DejaVu Sans"/>
              </a:defRPr>
            </a:pPr>
            <a:r>
              <a:rPr sz="2325" b="1">
                <a:solidFill>
                  <a:srgbClr val="55F3D2"/>
                </a:solidFill>
                <a:latin typeface="DejaVu Sans"/>
                <a:ea typeface="DejaVu Sans"/>
                <a:cs typeface="DejaVu Sans"/>
              </a:rPr>
              <a:t>Minimum: rotation about the</a:t>
            </a:r>
          </a:p>
          <a:p>
            <a:pPr>
              <a:defRPr sz="2325" b="1">
                <a:solidFill>
                  <a:srgbClr val="55F3D2"/>
                </a:solidFill>
                <a:latin typeface="DejaVu Sans"/>
                <a:ea typeface="DejaVu Sans"/>
                <a:cs typeface="DejaVu Sans"/>
              </a:defRPr>
            </a:pPr>
            <a:r>
              <a:rPr sz="2325" b="1">
                <a:solidFill>
                  <a:srgbClr val="55F3D2"/>
                </a:solidFill>
                <a:latin typeface="DejaVu Sans"/>
                <a:ea typeface="DejaVu Sans"/>
                <a:cs typeface="DejaVu Sans"/>
              </a:rPr>
              <a:t>principal axis with Imax.</a:t>
            </a:r>
          </a:p>
        </p:txBody>
      </p:sp>
      <p:pic>
        <p:nvPicPr>
          <p:cNvPr id="10" name="Picture 9">
            <a:extLst>
              <a:ext uri="{FF2B5EF4-FFF2-40B4-BE49-F238E27FC236}">
                <a16:creationId xmlns:a16="http://schemas.microsoft.com/office/drawing/2014/main" id="{6461C853-ABA1-4A35-A664-9DE9C85DD3C4}"/>
              </a:ext>
            </a:extLst>
          </p:cNvPr>
          <p:cNvPicPr>
            <a:picLocks noChangeAspect="1"/>
          </p:cNvPicPr>
          <p:nvPr/>
        </p:nvPicPr>
        <p:blipFill>
          <a:blip r:embed="rId6"/>
          <a:stretch/>
        </p:blipFill>
        <p:spPr>
          <a:xfrm>
            <a:off x="7646458" y="3114675"/>
            <a:ext cx="3471333" cy="2667000"/>
          </a:xfrm>
          <a:prstGeom prst="rect">
            <a:avLst/>
          </a:prstGeom>
        </p:spPr>
      </p:pic>
      <p:sp>
        <p:nvSpPr>
          <p:cNvPr id="11" name="Rectangle 10">
            <a:extLst>
              <a:ext uri="{FF2B5EF4-FFF2-40B4-BE49-F238E27FC236}">
                <a16:creationId xmlns:a16="http://schemas.microsoft.com/office/drawing/2014/main" id="{7D3D05DF-A38C-4801-BD57-EAD4AB326B8F}"/>
              </a:ext>
            </a:extLst>
          </p:cNvPr>
          <p:cNvSpPr>
            <a:spLocks noGrp="1"/>
          </p:cNvSpPr>
          <p:nvPr/>
        </p:nvSpPr>
        <p:spPr>
          <a:xfrm>
            <a:off x="7115175" y="5886450"/>
            <a:ext cx="4572000" cy="266700"/>
          </a:xfrm>
          <a:prstGeom prst="rect">
            <a:avLst/>
          </a:prstGeom>
          <a:noFill/>
          <a:ln w="0">
            <a:noFill/>
            <a:prstDash val="solid"/>
          </a:ln>
        </p:spPr>
        <p:txBody>
          <a:bodyPr/>
          <a:lstStyle>
            <a:defPPr>
              <a:defRPr sz="1350" b="0">
                <a:solidFill>
                  <a:srgbClr val="B6C3D8"/>
                </a:solidFill>
                <a:latin typeface="DejaVu Sans"/>
                <a:ea typeface="DejaVu Sans"/>
                <a:cs typeface="DejaVu Sans"/>
              </a:defRPr>
            </a:defPPr>
            <a:lvl1pPr>
              <a:defRPr sz="1350" b="0">
                <a:solidFill>
                  <a:srgbClr val="B6C3D8"/>
                </a:solidFill>
                <a:latin typeface="DejaVu Sans"/>
                <a:ea typeface="DejaVu Sans"/>
                <a:cs typeface="DejaVu Sans"/>
              </a:defRPr>
            </a:lvl1pPr>
            <a:lvl2pPr>
              <a:defRPr sz="1350" b="0">
                <a:solidFill>
                  <a:srgbClr val="B6C3D8"/>
                </a:solidFill>
                <a:latin typeface="DejaVu Sans"/>
                <a:ea typeface="DejaVu Sans"/>
                <a:cs typeface="DejaVu Sans"/>
              </a:defRPr>
            </a:lvl2pPr>
            <a:lvl3pPr>
              <a:defRPr sz="1350" b="0">
                <a:solidFill>
                  <a:srgbClr val="B6C3D8"/>
                </a:solidFill>
                <a:latin typeface="DejaVu Sans"/>
                <a:ea typeface="DejaVu Sans"/>
                <a:cs typeface="DejaVu Sans"/>
              </a:defRPr>
            </a:lvl3pPr>
            <a:lvl4pPr>
              <a:defRPr sz="1350" b="0">
                <a:solidFill>
                  <a:srgbClr val="B6C3D8"/>
                </a:solidFill>
                <a:latin typeface="DejaVu Sans"/>
                <a:ea typeface="DejaVu Sans"/>
                <a:cs typeface="DejaVu Sans"/>
              </a:defRPr>
            </a:lvl4pPr>
            <a:lvl5pPr>
              <a:defRPr sz="1350" b="0">
                <a:solidFill>
                  <a:srgbClr val="B6C3D8"/>
                </a:solidFill>
                <a:latin typeface="DejaVu Sans"/>
                <a:ea typeface="DejaVu Sans"/>
                <a:cs typeface="DejaVu Sans"/>
              </a:defRPr>
            </a:lvl5pPr>
            <a:lvl6pPr>
              <a:defRPr sz="1350" b="0">
                <a:solidFill>
                  <a:srgbClr val="B6C3D8"/>
                </a:solidFill>
                <a:latin typeface="DejaVu Sans"/>
                <a:ea typeface="DejaVu Sans"/>
                <a:cs typeface="DejaVu Sans"/>
              </a:defRPr>
            </a:lvl6pPr>
            <a:lvl7pPr>
              <a:defRPr sz="1350" b="0">
                <a:solidFill>
                  <a:srgbClr val="B6C3D8"/>
                </a:solidFill>
                <a:latin typeface="DejaVu Sans"/>
                <a:ea typeface="DejaVu Sans"/>
                <a:cs typeface="DejaVu Sans"/>
              </a:defRPr>
            </a:lvl7pPr>
            <a:lvl8pPr>
              <a:defRPr sz="1350" b="0">
                <a:solidFill>
                  <a:srgbClr val="B6C3D8"/>
                </a:solidFill>
                <a:latin typeface="DejaVu Sans"/>
                <a:ea typeface="DejaVu Sans"/>
                <a:cs typeface="DejaVu Sans"/>
              </a:defRPr>
            </a:lvl8pPr>
            <a:lvl9pPr>
              <a:defRPr sz="1350" b="0">
                <a:solidFill>
                  <a:srgbClr val="B6C3D8"/>
                </a:solidFill>
                <a:latin typeface="DejaVu Sans"/>
                <a:ea typeface="DejaVu Sans"/>
                <a:cs typeface="DejaVu Sans"/>
              </a:defRPr>
            </a:lvl9pPr>
          </a:lstStyle>
          <a:p>
            <a:pPr>
              <a:defRPr sz="1350" b="0">
                <a:solidFill>
                  <a:srgbClr val="B6C3D8"/>
                </a:solidFill>
                <a:latin typeface="DejaVu Sans"/>
                <a:ea typeface="DejaVu Sans"/>
                <a:cs typeface="DejaVu Sans"/>
              </a:defRPr>
            </a:pPr>
            <a:r>
              <a:rPr sz="1350" b="0">
                <a:solidFill>
                  <a:srgbClr val="B6C3D8"/>
                </a:solidFill>
                <a:latin typeface="DejaVu Sans"/>
                <a:ea typeface="DejaVu Sans"/>
                <a:cs typeface="DejaVu Sans"/>
              </a:rPr>
              <a:t>Example: L = 6, Imax = 3, Imin = 1 (SI)</a:t>
            </a:r>
          </a:p>
        </p:txBody>
      </p:sp>
    </p:spTree>
    <p:extLst>
      <p:ext uri="{BB962C8B-B14F-4D97-AF65-F5344CB8AC3E}">
        <p14:creationId xmlns:p14="http://schemas.microsoft.com/office/powerpoint/2010/main" val="10839315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0CA68C1-EF46-4DDF-B53F-837C6E9BCAB2}"/>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15622ED9-C756-4B85-9092-9239A74E2514}"/>
              </a:ext>
            </a:extLst>
          </p:cNvPr>
          <p:cNvSpPr>
            <a:spLocks noGrp="1"/>
          </p:cNvSpPr>
          <p:nvPr/>
        </p:nvSpPr>
        <p:spPr>
          <a:xfrm>
            <a:off x="0" y="0"/>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E757F5B4-F652-44DF-B3DC-8A49D73A5598}"/>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76034BD1-EDD0-4E43-90AF-1CDD3DAA164C}"/>
              </a:ext>
            </a:extLst>
          </p:cNvPr>
          <p:cNvSpPr>
            <a:spLocks noGrp="1"/>
          </p:cNvSpPr>
          <p:nvPr/>
        </p:nvSpPr>
        <p:spPr>
          <a:xfrm>
            <a:off x="609600" y="933450"/>
            <a:ext cx="10858500" cy="1000125"/>
          </a:xfrm>
          <a:prstGeom prst="rect">
            <a:avLst/>
          </a:prstGeom>
          <a:noFill/>
          <a:ln w="0">
            <a:noFill/>
            <a:prstDash val="solid"/>
          </a:ln>
        </p:spPr>
        <p:txBody>
          <a:bodyPr/>
          <a:lstStyle>
            <a:defPPr>
              <a:defRPr sz="3225" b="1">
                <a:solidFill>
                  <a:srgbClr val="F6F7FF"/>
                </a:solidFill>
                <a:latin typeface="DejaVu Sans"/>
                <a:ea typeface="DejaVu Sans"/>
                <a:cs typeface="DejaVu Sans"/>
              </a:defRPr>
            </a:defPPr>
            <a:lvl1pPr>
              <a:defRPr sz="3225" b="1">
                <a:solidFill>
                  <a:srgbClr val="F6F7FF"/>
                </a:solidFill>
                <a:latin typeface="DejaVu Sans"/>
                <a:ea typeface="DejaVu Sans"/>
                <a:cs typeface="DejaVu Sans"/>
              </a:defRPr>
            </a:lvl1pPr>
            <a:lvl2pPr>
              <a:defRPr sz="3225" b="1">
                <a:solidFill>
                  <a:srgbClr val="F6F7FF"/>
                </a:solidFill>
                <a:latin typeface="DejaVu Sans"/>
                <a:ea typeface="DejaVu Sans"/>
                <a:cs typeface="DejaVu Sans"/>
              </a:defRPr>
            </a:lvl2pPr>
            <a:lvl3pPr>
              <a:defRPr sz="3225" b="1">
                <a:solidFill>
                  <a:srgbClr val="F6F7FF"/>
                </a:solidFill>
                <a:latin typeface="DejaVu Sans"/>
                <a:ea typeface="DejaVu Sans"/>
                <a:cs typeface="DejaVu Sans"/>
              </a:defRPr>
            </a:lvl3pPr>
            <a:lvl4pPr>
              <a:defRPr sz="3225" b="1">
                <a:solidFill>
                  <a:srgbClr val="F6F7FF"/>
                </a:solidFill>
                <a:latin typeface="DejaVu Sans"/>
                <a:ea typeface="DejaVu Sans"/>
                <a:cs typeface="DejaVu Sans"/>
              </a:defRPr>
            </a:lvl4pPr>
            <a:lvl5pPr>
              <a:defRPr sz="3225" b="1">
                <a:solidFill>
                  <a:srgbClr val="F6F7FF"/>
                </a:solidFill>
                <a:latin typeface="DejaVu Sans"/>
                <a:ea typeface="DejaVu Sans"/>
                <a:cs typeface="DejaVu Sans"/>
              </a:defRPr>
            </a:lvl5pPr>
            <a:lvl6pPr>
              <a:defRPr sz="3225" b="1">
                <a:solidFill>
                  <a:srgbClr val="F6F7FF"/>
                </a:solidFill>
                <a:latin typeface="DejaVu Sans"/>
                <a:ea typeface="DejaVu Sans"/>
                <a:cs typeface="DejaVu Sans"/>
              </a:defRPr>
            </a:lvl6pPr>
            <a:lvl7pPr>
              <a:defRPr sz="3225" b="1">
                <a:solidFill>
                  <a:srgbClr val="F6F7FF"/>
                </a:solidFill>
                <a:latin typeface="DejaVu Sans"/>
                <a:ea typeface="DejaVu Sans"/>
                <a:cs typeface="DejaVu Sans"/>
              </a:defRPr>
            </a:lvl7pPr>
            <a:lvl8pPr>
              <a:defRPr sz="3225" b="1">
                <a:solidFill>
                  <a:srgbClr val="F6F7FF"/>
                </a:solidFill>
                <a:latin typeface="DejaVu Sans"/>
                <a:ea typeface="DejaVu Sans"/>
                <a:cs typeface="DejaVu Sans"/>
              </a:defRPr>
            </a:lvl8pPr>
            <a:lvl9pPr>
              <a:defRPr sz="3225" b="1">
                <a:solidFill>
                  <a:srgbClr val="F6F7FF"/>
                </a:solidFill>
                <a:latin typeface="DejaVu Sans"/>
                <a:ea typeface="DejaVu Sans"/>
                <a:cs typeface="DejaVu Sans"/>
              </a:defRPr>
            </a:lvl9pPr>
          </a:lstStyle>
          <a:p>
            <a:pPr>
              <a:defRPr sz="3225" b="1">
                <a:solidFill>
                  <a:srgbClr val="F6F7FF"/>
                </a:solidFill>
                <a:latin typeface="DejaVu Sans"/>
                <a:ea typeface="DejaVu Sans"/>
                <a:cs typeface="DejaVu Sans"/>
              </a:defRPr>
            </a:pPr>
            <a:r>
              <a:rPr sz="3225" b="1">
                <a:solidFill>
                  <a:srgbClr val="F6F7FF"/>
                </a:solidFill>
                <a:latin typeface="DejaVu Sans"/>
                <a:ea typeface="DejaVu Sans"/>
                <a:cs typeface="DejaVu Sans"/>
              </a:rPr>
              <a:t>Point masses give a direct numerical check</a:t>
            </a:r>
          </a:p>
        </p:txBody>
      </p:sp>
      <p:sp>
        <p:nvSpPr>
          <p:cNvPr id="5" name="Rectangle 4">
            <a:extLst>
              <a:ext uri="{FF2B5EF4-FFF2-40B4-BE49-F238E27FC236}">
                <a16:creationId xmlns:a16="http://schemas.microsoft.com/office/drawing/2014/main" id="{A307762C-1FE5-4CAF-89D9-E9A541DEFED7}"/>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B1.2  /  ROTATIONAL ENERGY</a:t>
            </a:r>
          </a:p>
        </p:txBody>
      </p:sp>
      <p:sp>
        <p:nvSpPr>
          <p:cNvPr id="6" name="Rectangle 5">
            <a:extLst>
              <a:ext uri="{FF2B5EF4-FFF2-40B4-BE49-F238E27FC236}">
                <a16:creationId xmlns:a16="http://schemas.microsoft.com/office/drawing/2014/main" id="{E903013F-CC8F-4D4C-B887-28EB01A72F1C}"/>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15</a:t>
            </a:r>
          </a:p>
        </p:txBody>
      </p:sp>
      <p:sp>
        <p:nvSpPr>
          <p:cNvPr id="7" name="Rectangle 6">
            <a:extLst>
              <a:ext uri="{FF2B5EF4-FFF2-40B4-BE49-F238E27FC236}">
                <a16:creationId xmlns:a16="http://schemas.microsoft.com/office/drawing/2014/main" id="{1C73B85B-AD8C-4EC3-986F-2FD7442F4E13}"/>
              </a:ext>
            </a:extLst>
          </p:cNvPr>
          <p:cNvSpPr>
            <a:spLocks noGrp="1"/>
          </p:cNvSpPr>
          <p:nvPr/>
        </p:nvSpPr>
        <p:spPr>
          <a:xfrm>
            <a:off x="638175" y="1828800"/>
            <a:ext cx="10477500" cy="571500"/>
          </a:xfrm>
          <a:prstGeom prst="rect">
            <a:avLst/>
          </a:prstGeom>
          <a:noFill/>
          <a:ln w="0">
            <a:noFill/>
            <a:prstDash val="solid"/>
          </a:ln>
        </p:spPr>
        <p:txBody>
          <a:bodyPr/>
          <a:lstStyle>
            <a:defPPr>
              <a:defRPr sz="2100" b="0">
                <a:solidFill>
                  <a:srgbClr val="B6C3D8"/>
                </a:solidFill>
                <a:latin typeface="DejaVu Sans"/>
                <a:ea typeface="DejaVu Sans"/>
                <a:cs typeface="DejaVu Sans"/>
              </a:defRPr>
            </a:defPPr>
            <a:lvl1pPr>
              <a:defRPr sz="2100" b="0">
                <a:solidFill>
                  <a:srgbClr val="B6C3D8"/>
                </a:solidFill>
                <a:latin typeface="DejaVu Sans"/>
                <a:ea typeface="DejaVu Sans"/>
                <a:cs typeface="DejaVu Sans"/>
              </a:defRPr>
            </a:lvl1pPr>
            <a:lvl2pPr>
              <a:defRPr sz="2100" b="0">
                <a:solidFill>
                  <a:srgbClr val="B6C3D8"/>
                </a:solidFill>
                <a:latin typeface="DejaVu Sans"/>
                <a:ea typeface="DejaVu Sans"/>
                <a:cs typeface="DejaVu Sans"/>
              </a:defRPr>
            </a:lvl2pPr>
            <a:lvl3pPr>
              <a:defRPr sz="2100" b="0">
                <a:solidFill>
                  <a:srgbClr val="B6C3D8"/>
                </a:solidFill>
                <a:latin typeface="DejaVu Sans"/>
                <a:ea typeface="DejaVu Sans"/>
                <a:cs typeface="DejaVu Sans"/>
              </a:defRPr>
            </a:lvl3pPr>
            <a:lvl4pPr>
              <a:defRPr sz="2100" b="0">
                <a:solidFill>
                  <a:srgbClr val="B6C3D8"/>
                </a:solidFill>
                <a:latin typeface="DejaVu Sans"/>
                <a:ea typeface="DejaVu Sans"/>
                <a:cs typeface="DejaVu Sans"/>
              </a:defRPr>
            </a:lvl4pPr>
            <a:lvl5pPr>
              <a:defRPr sz="2100" b="0">
                <a:solidFill>
                  <a:srgbClr val="B6C3D8"/>
                </a:solidFill>
                <a:latin typeface="DejaVu Sans"/>
                <a:ea typeface="DejaVu Sans"/>
                <a:cs typeface="DejaVu Sans"/>
              </a:defRPr>
            </a:lvl5pPr>
            <a:lvl6pPr>
              <a:defRPr sz="2100" b="0">
                <a:solidFill>
                  <a:srgbClr val="B6C3D8"/>
                </a:solidFill>
                <a:latin typeface="DejaVu Sans"/>
                <a:ea typeface="DejaVu Sans"/>
                <a:cs typeface="DejaVu Sans"/>
              </a:defRPr>
            </a:lvl6pPr>
            <a:lvl7pPr>
              <a:defRPr sz="2100" b="0">
                <a:solidFill>
                  <a:srgbClr val="B6C3D8"/>
                </a:solidFill>
                <a:latin typeface="DejaVu Sans"/>
                <a:ea typeface="DejaVu Sans"/>
                <a:cs typeface="DejaVu Sans"/>
              </a:defRPr>
            </a:lvl7pPr>
            <a:lvl8pPr>
              <a:defRPr sz="2100" b="0">
                <a:solidFill>
                  <a:srgbClr val="B6C3D8"/>
                </a:solidFill>
                <a:latin typeface="DejaVu Sans"/>
                <a:ea typeface="DejaVu Sans"/>
                <a:cs typeface="DejaVu Sans"/>
              </a:defRPr>
            </a:lvl8pPr>
            <a:lvl9pPr>
              <a:defRPr sz="2100" b="0">
                <a:solidFill>
                  <a:srgbClr val="B6C3D8"/>
                </a:solidFill>
                <a:latin typeface="DejaVu Sans"/>
                <a:ea typeface="DejaVu Sans"/>
                <a:cs typeface="DejaVu Sans"/>
              </a:defRPr>
            </a:lvl9pPr>
          </a:lstStyle>
          <a:p>
            <a:pPr>
              <a:defRPr sz="2100" b="0">
                <a:solidFill>
                  <a:srgbClr val="B6C3D8"/>
                </a:solidFill>
                <a:latin typeface="DejaVu Sans"/>
                <a:ea typeface="DejaVu Sans"/>
                <a:cs typeface="DejaVu Sans"/>
              </a:defRPr>
            </a:pPr>
            <a:r>
              <a:rPr sz="2100" b="0">
                <a:solidFill>
                  <a:srgbClr val="B6C3D8"/>
                </a:solidFill>
                <a:latin typeface="DejaVu Sans"/>
                <a:ea typeface="DejaVu Sans"/>
                <a:cs typeface="DejaVu Sans"/>
              </a:rPr>
              <a:t>Six 2 kg masses at ±1 m on the x, y and z axes.</a:t>
            </a:r>
          </a:p>
        </p:txBody>
      </p:sp>
      <p:pic>
        <p:nvPicPr>
          <p:cNvPr id="9" name="Picture 8">
            <a:extLst>
              <a:ext uri="{FF2B5EF4-FFF2-40B4-BE49-F238E27FC236}">
                <a16:creationId xmlns:a16="http://schemas.microsoft.com/office/drawing/2014/main" id="{1D090A58-40CC-439A-A0EE-AAD69BF363CA}"/>
              </a:ext>
            </a:extLst>
          </p:cNvPr>
          <p:cNvPicPr>
            <a:picLocks noChangeAspect="1"/>
          </p:cNvPicPr>
          <p:nvPr/>
        </p:nvPicPr>
        <p:blipFill>
          <a:blip r:embed="rId4"/>
          <a:stretch/>
        </p:blipFill>
        <p:spPr>
          <a:xfrm>
            <a:off x="6171474" y="2289290"/>
            <a:ext cx="5674163" cy="723456"/>
          </a:xfrm>
          <a:prstGeom prst="rect">
            <a:avLst/>
          </a:prstGeom>
        </p:spPr>
      </p:pic>
      <p:pic>
        <p:nvPicPr>
          <p:cNvPr id="10" name="Picture 9">
            <a:extLst>
              <a:ext uri="{FF2B5EF4-FFF2-40B4-BE49-F238E27FC236}">
                <a16:creationId xmlns:a16="http://schemas.microsoft.com/office/drawing/2014/main" id="{F0646C5B-D686-4B08-8681-5DA3FC6CB89C}"/>
              </a:ext>
            </a:extLst>
          </p:cNvPr>
          <p:cNvPicPr>
            <a:picLocks noChangeAspect="1"/>
          </p:cNvPicPr>
          <p:nvPr/>
        </p:nvPicPr>
        <p:blipFill>
          <a:blip r:embed="rId5"/>
          <a:stretch/>
        </p:blipFill>
        <p:spPr>
          <a:xfrm>
            <a:off x="8545529" y="4200352"/>
            <a:ext cx="1662499" cy="570791"/>
          </a:xfrm>
          <a:prstGeom prst="rect">
            <a:avLst/>
          </a:prstGeom>
        </p:spPr>
      </p:pic>
      <p:pic>
        <p:nvPicPr>
          <p:cNvPr id="15" name="Picture 14">
            <a:extLst>
              <a:ext uri="{FF2B5EF4-FFF2-40B4-BE49-F238E27FC236}">
                <a16:creationId xmlns:a16="http://schemas.microsoft.com/office/drawing/2014/main" id="{323858A4-F99B-5F75-1C69-92466612B5F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01635" y="1880061"/>
            <a:ext cx="4603865" cy="4603865"/>
          </a:xfrm>
          <a:prstGeom prst="rect">
            <a:avLst/>
          </a:prstGeom>
        </p:spPr>
      </p:pic>
      <p:pic>
        <p:nvPicPr>
          <p:cNvPr id="16" name="Picture 15">
            <a:extLst>
              <a:ext uri="{FF2B5EF4-FFF2-40B4-BE49-F238E27FC236}">
                <a16:creationId xmlns:a16="http://schemas.microsoft.com/office/drawing/2014/main" id="{9F1F51C8-6909-5C48-3A89-6BAD1F7932D9}"/>
              </a:ext>
            </a:extLst>
          </p:cNvPr>
          <p:cNvPicPr>
            <a:picLocks noChangeAspect="1"/>
          </p:cNvPicPr>
          <p:nvPr/>
        </p:nvPicPr>
        <p:blipFill>
          <a:blip r:embed="rId7"/>
          <a:stretch/>
        </p:blipFill>
        <p:spPr>
          <a:xfrm>
            <a:off x="8538625" y="3148271"/>
            <a:ext cx="1959325" cy="924965"/>
          </a:xfrm>
          <a:prstGeom prst="rect">
            <a:avLst/>
          </a:prstGeom>
        </p:spPr>
      </p:pic>
    </p:spTree>
    <p:extLst>
      <p:ext uri="{BB962C8B-B14F-4D97-AF65-F5344CB8AC3E}">
        <p14:creationId xmlns:p14="http://schemas.microsoft.com/office/powerpoint/2010/main" val="8754603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40916"/>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77BB9E8-3F8B-4ABD-9550-90BC5ED53DFD}"/>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1DE773AE-1D11-488D-B0F8-63C9CC7BDEF4}"/>
              </a:ext>
            </a:extLst>
          </p:cNvPr>
          <p:cNvSpPr>
            <a:spLocks noGrp="1"/>
          </p:cNvSpPr>
          <p:nvPr/>
        </p:nvSpPr>
        <p:spPr>
          <a:xfrm>
            <a:off x="0" y="0"/>
            <a:ext cx="12192000" cy="6858000"/>
          </a:xfrm>
          <a:prstGeom prst="rect">
            <a:avLst/>
          </a:prstGeom>
          <a:solidFill>
            <a:srgbClr val="030817">
              <a:alpha val="87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2B5BCA1E-7C16-4969-8D89-B12FDCDBB412}"/>
              </a:ext>
            </a:extLst>
          </p:cNvPr>
          <p:cNvSpPr>
            <a:spLocks noGrp="1"/>
          </p:cNvSpPr>
          <p:nvPr/>
        </p:nvSpPr>
        <p:spPr>
          <a:xfrm>
            <a:off x="609600" y="600075"/>
            <a:ext cx="457200" cy="38100"/>
          </a:xfrm>
          <a:prstGeom prst="rect">
            <a:avLst/>
          </a:prstGeom>
          <a:solidFill>
            <a:srgbClr val="55F3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5F90314F-9E1C-4C41-BDE1-B4BB115F7658}"/>
              </a:ext>
            </a:extLst>
          </p:cNvPr>
          <p:cNvSpPr>
            <a:spLocks noGrp="1"/>
          </p:cNvSpPr>
          <p:nvPr/>
        </p:nvSpPr>
        <p:spPr>
          <a:xfrm>
            <a:off x="609600" y="933450"/>
            <a:ext cx="10858500" cy="1000125"/>
          </a:xfrm>
          <a:prstGeom prst="rect">
            <a:avLst/>
          </a:prstGeom>
          <a:noFill/>
          <a:ln w="0">
            <a:noFill/>
            <a:prstDash val="solid"/>
          </a:ln>
        </p:spPr>
        <p:txBody>
          <a:bodyPr/>
          <a:lstStyle>
            <a:defPPr>
              <a:defRPr sz="3225" b="1">
                <a:solidFill>
                  <a:srgbClr val="F6F7FF"/>
                </a:solidFill>
                <a:latin typeface="DejaVu Sans"/>
                <a:ea typeface="DejaVu Sans"/>
                <a:cs typeface="DejaVu Sans"/>
              </a:defRPr>
            </a:defPPr>
            <a:lvl1pPr>
              <a:defRPr sz="3225" b="1">
                <a:solidFill>
                  <a:srgbClr val="F6F7FF"/>
                </a:solidFill>
                <a:latin typeface="DejaVu Sans"/>
                <a:ea typeface="DejaVu Sans"/>
                <a:cs typeface="DejaVu Sans"/>
              </a:defRPr>
            </a:lvl1pPr>
            <a:lvl2pPr>
              <a:defRPr sz="3225" b="1">
                <a:solidFill>
                  <a:srgbClr val="F6F7FF"/>
                </a:solidFill>
                <a:latin typeface="DejaVu Sans"/>
                <a:ea typeface="DejaVu Sans"/>
                <a:cs typeface="DejaVu Sans"/>
              </a:defRPr>
            </a:lvl2pPr>
            <a:lvl3pPr>
              <a:defRPr sz="3225" b="1">
                <a:solidFill>
                  <a:srgbClr val="F6F7FF"/>
                </a:solidFill>
                <a:latin typeface="DejaVu Sans"/>
                <a:ea typeface="DejaVu Sans"/>
                <a:cs typeface="DejaVu Sans"/>
              </a:defRPr>
            </a:lvl3pPr>
            <a:lvl4pPr>
              <a:defRPr sz="3225" b="1">
                <a:solidFill>
                  <a:srgbClr val="F6F7FF"/>
                </a:solidFill>
                <a:latin typeface="DejaVu Sans"/>
                <a:ea typeface="DejaVu Sans"/>
                <a:cs typeface="DejaVu Sans"/>
              </a:defRPr>
            </a:lvl4pPr>
            <a:lvl5pPr>
              <a:defRPr sz="3225" b="1">
                <a:solidFill>
                  <a:srgbClr val="F6F7FF"/>
                </a:solidFill>
                <a:latin typeface="DejaVu Sans"/>
                <a:ea typeface="DejaVu Sans"/>
                <a:cs typeface="DejaVu Sans"/>
              </a:defRPr>
            </a:lvl5pPr>
            <a:lvl6pPr>
              <a:defRPr sz="3225" b="1">
                <a:solidFill>
                  <a:srgbClr val="F6F7FF"/>
                </a:solidFill>
                <a:latin typeface="DejaVu Sans"/>
                <a:ea typeface="DejaVu Sans"/>
                <a:cs typeface="DejaVu Sans"/>
              </a:defRPr>
            </a:lvl6pPr>
            <a:lvl7pPr>
              <a:defRPr sz="3225" b="1">
                <a:solidFill>
                  <a:srgbClr val="F6F7FF"/>
                </a:solidFill>
                <a:latin typeface="DejaVu Sans"/>
                <a:ea typeface="DejaVu Sans"/>
                <a:cs typeface="DejaVu Sans"/>
              </a:defRPr>
            </a:lvl7pPr>
            <a:lvl8pPr>
              <a:defRPr sz="3225" b="1">
                <a:solidFill>
                  <a:srgbClr val="F6F7FF"/>
                </a:solidFill>
                <a:latin typeface="DejaVu Sans"/>
                <a:ea typeface="DejaVu Sans"/>
                <a:cs typeface="DejaVu Sans"/>
              </a:defRPr>
            </a:lvl8pPr>
            <a:lvl9pPr>
              <a:defRPr sz="3225" b="1">
                <a:solidFill>
                  <a:srgbClr val="F6F7FF"/>
                </a:solidFill>
                <a:latin typeface="DejaVu Sans"/>
                <a:ea typeface="DejaVu Sans"/>
                <a:cs typeface="DejaVu Sans"/>
              </a:defRPr>
            </a:lvl9pPr>
          </a:lstStyle>
          <a:p>
            <a:pPr>
              <a:defRPr sz="3225" b="1">
                <a:solidFill>
                  <a:srgbClr val="F6F7FF"/>
                </a:solidFill>
                <a:latin typeface="DejaVu Sans"/>
                <a:ea typeface="DejaVu Sans"/>
                <a:cs typeface="DejaVu Sans"/>
              </a:defRPr>
            </a:pPr>
            <a:r>
              <a:rPr sz="3225" b="1">
                <a:solidFill>
                  <a:srgbClr val="F6F7FF"/>
                </a:solidFill>
                <a:latin typeface="DejaVu Sans"/>
                <a:ea typeface="DejaVu Sans"/>
                <a:cs typeface="DejaVu Sans"/>
              </a:rPr>
              <a:t>The essential relationships</a:t>
            </a:r>
          </a:p>
        </p:txBody>
      </p:sp>
      <p:sp>
        <p:nvSpPr>
          <p:cNvPr id="5" name="Rectangle 4">
            <a:extLst>
              <a:ext uri="{FF2B5EF4-FFF2-40B4-BE49-F238E27FC236}">
                <a16:creationId xmlns:a16="http://schemas.microsoft.com/office/drawing/2014/main" id="{261E1AE2-89FA-4620-BA21-EEE00792E99C}"/>
              </a:ext>
            </a:extLst>
          </p:cNvPr>
          <p:cNvSpPr>
            <a:spLocks noGrp="1"/>
          </p:cNvSpPr>
          <p:nvPr/>
        </p:nvSpPr>
        <p:spPr>
          <a:xfrm>
            <a:off x="609600" y="6362700"/>
            <a:ext cx="57150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B1.2  /  ROTATIONAL ENERGY</a:t>
            </a:r>
          </a:p>
        </p:txBody>
      </p:sp>
      <p:sp>
        <p:nvSpPr>
          <p:cNvPr id="6" name="Rectangle 5">
            <a:extLst>
              <a:ext uri="{FF2B5EF4-FFF2-40B4-BE49-F238E27FC236}">
                <a16:creationId xmlns:a16="http://schemas.microsoft.com/office/drawing/2014/main" id="{92A4A651-4FB5-4B2C-9EA7-18C96353DE2A}"/>
              </a:ext>
            </a:extLst>
          </p:cNvPr>
          <p:cNvSpPr>
            <a:spLocks noGrp="1"/>
          </p:cNvSpPr>
          <p:nvPr/>
        </p:nvSpPr>
        <p:spPr>
          <a:xfrm>
            <a:off x="11049000" y="6362700"/>
            <a:ext cx="571500" cy="228600"/>
          </a:xfrm>
          <a:prstGeom prst="rect">
            <a:avLst/>
          </a:prstGeom>
          <a:noFill/>
          <a:ln w="0">
            <a:noFill/>
            <a:prstDash val="solid"/>
          </a:ln>
        </p:spPr>
        <p:txBody>
          <a:bodyPr/>
          <a:lstStyle>
            <a:defPPr>
              <a:defRPr sz="1050" b="0">
                <a:solidFill>
                  <a:srgbClr val="B6C3D8"/>
                </a:solidFill>
                <a:latin typeface="DejaVu Sans"/>
                <a:ea typeface="DejaVu Sans"/>
                <a:cs typeface="DejaVu Sans"/>
              </a:defRPr>
            </a:defPPr>
            <a:lvl1pPr>
              <a:defRPr sz="1050" b="0">
                <a:solidFill>
                  <a:srgbClr val="B6C3D8"/>
                </a:solidFill>
                <a:latin typeface="DejaVu Sans"/>
                <a:ea typeface="DejaVu Sans"/>
                <a:cs typeface="DejaVu Sans"/>
              </a:defRPr>
            </a:lvl1pPr>
            <a:lvl2pPr>
              <a:defRPr sz="1050" b="0">
                <a:solidFill>
                  <a:srgbClr val="B6C3D8"/>
                </a:solidFill>
                <a:latin typeface="DejaVu Sans"/>
                <a:ea typeface="DejaVu Sans"/>
                <a:cs typeface="DejaVu Sans"/>
              </a:defRPr>
            </a:lvl2pPr>
            <a:lvl3pPr>
              <a:defRPr sz="1050" b="0">
                <a:solidFill>
                  <a:srgbClr val="B6C3D8"/>
                </a:solidFill>
                <a:latin typeface="DejaVu Sans"/>
                <a:ea typeface="DejaVu Sans"/>
                <a:cs typeface="DejaVu Sans"/>
              </a:defRPr>
            </a:lvl3pPr>
            <a:lvl4pPr>
              <a:defRPr sz="1050" b="0">
                <a:solidFill>
                  <a:srgbClr val="B6C3D8"/>
                </a:solidFill>
                <a:latin typeface="DejaVu Sans"/>
                <a:ea typeface="DejaVu Sans"/>
                <a:cs typeface="DejaVu Sans"/>
              </a:defRPr>
            </a:lvl4pPr>
            <a:lvl5pPr>
              <a:defRPr sz="1050" b="0">
                <a:solidFill>
                  <a:srgbClr val="B6C3D8"/>
                </a:solidFill>
                <a:latin typeface="DejaVu Sans"/>
                <a:ea typeface="DejaVu Sans"/>
                <a:cs typeface="DejaVu Sans"/>
              </a:defRPr>
            </a:lvl5pPr>
            <a:lvl6pPr>
              <a:defRPr sz="1050" b="0">
                <a:solidFill>
                  <a:srgbClr val="B6C3D8"/>
                </a:solidFill>
                <a:latin typeface="DejaVu Sans"/>
                <a:ea typeface="DejaVu Sans"/>
                <a:cs typeface="DejaVu Sans"/>
              </a:defRPr>
            </a:lvl6pPr>
            <a:lvl7pPr>
              <a:defRPr sz="1050" b="0">
                <a:solidFill>
                  <a:srgbClr val="B6C3D8"/>
                </a:solidFill>
                <a:latin typeface="DejaVu Sans"/>
                <a:ea typeface="DejaVu Sans"/>
                <a:cs typeface="DejaVu Sans"/>
              </a:defRPr>
            </a:lvl7pPr>
            <a:lvl8pPr>
              <a:defRPr sz="1050" b="0">
                <a:solidFill>
                  <a:srgbClr val="B6C3D8"/>
                </a:solidFill>
                <a:latin typeface="DejaVu Sans"/>
                <a:ea typeface="DejaVu Sans"/>
                <a:cs typeface="DejaVu Sans"/>
              </a:defRPr>
            </a:lvl8pPr>
            <a:lvl9pPr>
              <a:defRPr sz="1050" b="0">
                <a:solidFill>
                  <a:srgbClr val="B6C3D8"/>
                </a:solidFill>
                <a:latin typeface="DejaVu Sans"/>
                <a:ea typeface="DejaVu Sans"/>
                <a:cs typeface="DejaVu Sans"/>
              </a:defRPr>
            </a:lvl9pPr>
          </a:lstStyle>
          <a:p>
            <a:pPr>
              <a:defRPr sz="1050" b="0">
                <a:solidFill>
                  <a:srgbClr val="B6C3D8"/>
                </a:solidFill>
                <a:latin typeface="DejaVu Sans"/>
                <a:ea typeface="DejaVu Sans"/>
                <a:cs typeface="DejaVu Sans"/>
              </a:defRPr>
            </a:pPr>
            <a:r>
              <a:rPr sz="1050" b="0">
                <a:solidFill>
                  <a:srgbClr val="B6C3D8"/>
                </a:solidFill>
                <a:latin typeface="DejaVu Sans"/>
                <a:ea typeface="DejaVu Sans"/>
                <a:cs typeface="DejaVu Sans"/>
              </a:rPr>
              <a:t>16</a:t>
            </a:r>
          </a:p>
        </p:txBody>
      </p:sp>
      <p:pic>
        <p:nvPicPr>
          <p:cNvPr id="7" name="Picture 6">
            <a:extLst>
              <a:ext uri="{FF2B5EF4-FFF2-40B4-BE49-F238E27FC236}">
                <a16:creationId xmlns:a16="http://schemas.microsoft.com/office/drawing/2014/main" id="{B483C220-39C0-46D6-8E2D-9EF1AF2ECCCB}"/>
              </a:ext>
            </a:extLst>
          </p:cNvPr>
          <p:cNvPicPr>
            <a:picLocks noChangeAspect="1"/>
          </p:cNvPicPr>
          <p:nvPr/>
        </p:nvPicPr>
        <p:blipFill>
          <a:blip r:embed="rId4"/>
          <a:stretch/>
        </p:blipFill>
        <p:spPr>
          <a:xfrm>
            <a:off x="4772849" y="1809750"/>
            <a:ext cx="2017652" cy="952500"/>
          </a:xfrm>
          <a:prstGeom prst="rect">
            <a:avLst/>
          </a:prstGeom>
        </p:spPr>
      </p:pic>
      <p:pic>
        <p:nvPicPr>
          <p:cNvPr id="8" name="Picture 7">
            <a:extLst>
              <a:ext uri="{FF2B5EF4-FFF2-40B4-BE49-F238E27FC236}">
                <a16:creationId xmlns:a16="http://schemas.microsoft.com/office/drawing/2014/main" id="{5C78104C-B318-4CB9-BC07-6A36C80382B3}"/>
              </a:ext>
            </a:extLst>
          </p:cNvPr>
          <p:cNvPicPr>
            <a:picLocks noChangeAspect="1"/>
          </p:cNvPicPr>
          <p:nvPr/>
        </p:nvPicPr>
        <p:blipFill>
          <a:blip r:embed="rId5"/>
          <a:stretch/>
        </p:blipFill>
        <p:spPr>
          <a:xfrm>
            <a:off x="4059950" y="3095625"/>
            <a:ext cx="3538700" cy="952500"/>
          </a:xfrm>
          <a:prstGeom prst="rect">
            <a:avLst/>
          </a:prstGeom>
        </p:spPr>
      </p:pic>
      <p:sp>
        <p:nvSpPr>
          <p:cNvPr id="9" name="Rectangle 8">
            <a:extLst>
              <a:ext uri="{FF2B5EF4-FFF2-40B4-BE49-F238E27FC236}">
                <a16:creationId xmlns:a16="http://schemas.microsoft.com/office/drawing/2014/main" id="{45062A07-0507-40C3-BD0F-B7E384671B29}"/>
              </a:ext>
            </a:extLst>
          </p:cNvPr>
          <p:cNvSpPr>
            <a:spLocks noGrp="1"/>
          </p:cNvSpPr>
          <p:nvPr/>
        </p:nvSpPr>
        <p:spPr>
          <a:xfrm>
            <a:off x="638175" y="4648200"/>
            <a:ext cx="10477500" cy="762000"/>
          </a:xfrm>
          <a:prstGeom prst="rect">
            <a:avLst/>
          </a:prstGeom>
          <a:noFill/>
          <a:ln w="0">
            <a:noFill/>
            <a:prstDash val="solid"/>
          </a:ln>
        </p:spPr>
        <p:txBody>
          <a:bodyPr/>
          <a:lstStyle>
            <a:defPPr>
              <a:defRPr sz="2250" b="0">
                <a:solidFill>
                  <a:srgbClr val="55F3D2"/>
                </a:solidFill>
                <a:latin typeface="DejaVu Sans"/>
                <a:ea typeface="DejaVu Sans"/>
                <a:cs typeface="DejaVu Sans"/>
              </a:defRPr>
            </a:defPPr>
            <a:lvl1pPr>
              <a:defRPr sz="2250" b="0">
                <a:solidFill>
                  <a:srgbClr val="55F3D2"/>
                </a:solidFill>
                <a:latin typeface="DejaVu Sans"/>
                <a:ea typeface="DejaVu Sans"/>
                <a:cs typeface="DejaVu Sans"/>
              </a:defRPr>
            </a:lvl1pPr>
            <a:lvl2pPr>
              <a:defRPr sz="2250" b="0">
                <a:solidFill>
                  <a:srgbClr val="55F3D2"/>
                </a:solidFill>
                <a:latin typeface="DejaVu Sans"/>
                <a:ea typeface="DejaVu Sans"/>
                <a:cs typeface="DejaVu Sans"/>
              </a:defRPr>
            </a:lvl2pPr>
            <a:lvl3pPr>
              <a:defRPr sz="2250" b="0">
                <a:solidFill>
                  <a:srgbClr val="55F3D2"/>
                </a:solidFill>
                <a:latin typeface="DejaVu Sans"/>
                <a:ea typeface="DejaVu Sans"/>
                <a:cs typeface="DejaVu Sans"/>
              </a:defRPr>
            </a:lvl3pPr>
            <a:lvl4pPr>
              <a:defRPr sz="2250" b="0">
                <a:solidFill>
                  <a:srgbClr val="55F3D2"/>
                </a:solidFill>
                <a:latin typeface="DejaVu Sans"/>
                <a:ea typeface="DejaVu Sans"/>
                <a:cs typeface="DejaVu Sans"/>
              </a:defRPr>
            </a:lvl4pPr>
            <a:lvl5pPr>
              <a:defRPr sz="2250" b="0">
                <a:solidFill>
                  <a:srgbClr val="55F3D2"/>
                </a:solidFill>
                <a:latin typeface="DejaVu Sans"/>
                <a:ea typeface="DejaVu Sans"/>
                <a:cs typeface="DejaVu Sans"/>
              </a:defRPr>
            </a:lvl5pPr>
            <a:lvl6pPr>
              <a:defRPr sz="2250" b="0">
                <a:solidFill>
                  <a:srgbClr val="55F3D2"/>
                </a:solidFill>
                <a:latin typeface="DejaVu Sans"/>
                <a:ea typeface="DejaVu Sans"/>
                <a:cs typeface="DejaVu Sans"/>
              </a:defRPr>
            </a:lvl6pPr>
            <a:lvl7pPr>
              <a:defRPr sz="2250" b="0">
                <a:solidFill>
                  <a:srgbClr val="55F3D2"/>
                </a:solidFill>
                <a:latin typeface="DejaVu Sans"/>
                <a:ea typeface="DejaVu Sans"/>
                <a:cs typeface="DejaVu Sans"/>
              </a:defRPr>
            </a:lvl7pPr>
            <a:lvl8pPr>
              <a:defRPr sz="2250" b="0">
                <a:solidFill>
                  <a:srgbClr val="55F3D2"/>
                </a:solidFill>
                <a:latin typeface="DejaVu Sans"/>
                <a:ea typeface="DejaVu Sans"/>
                <a:cs typeface="DejaVu Sans"/>
              </a:defRPr>
            </a:lvl8pPr>
            <a:lvl9pPr>
              <a:defRPr sz="2250" b="0">
                <a:solidFill>
                  <a:srgbClr val="55F3D2"/>
                </a:solidFill>
                <a:latin typeface="DejaVu Sans"/>
                <a:ea typeface="DejaVu Sans"/>
                <a:cs typeface="DejaVu Sans"/>
              </a:defRPr>
            </a:lvl9pPr>
          </a:lstStyle>
          <a:p>
            <a:pPr>
              <a:defRPr sz="2250" b="0">
                <a:solidFill>
                  <a:srgbClr val="55F3D2"/>
                </a:solidFill>
                <a:latin typeface="DejaVu Sans"/>
                <a:ea typeface="DejaVu Sans"/>
                <a:cs typeface="DejaVu Sans"/>
              </a:defRPr>
            </a:pPr>
            <a:r>
              <a:rPr sz="2250" b="0">
                <a:solidFill>
                  <a:srgbClr val="55F3D2"/>
                </a:solidFill>
                <a:latin typeface="DejaVu Sans"/>
                <a:ea typeface="DejaVu Sans"/>
                <a:cs typeface="DejaVu Sans"/>
              </a:rPr>
              <a:t>The tensor carries geometry. The dot product gives energy.</a:t>
            </a:r>
          </a:p>
        </p:txBody>
      </p:sp>
      <p:sp>
        <p:nvSpPr>
          <p:cNvPr id="10" name="Rectangle 9">
            <a:extLst>
              <a:ext uri="{FF2B5EF4-FFF2-40B4-BE49-F238E27FC236}">
                <a16:creationId xmlns:a16="http://schemas.microsoft.com/office/drawing/2014/main" id="{E3A026EE-2E6C-4045-82E2-8FD681AB30DE}"/>
              </a:ext>
            </a:extLst>
          </p:cNvPr>
          <p:cNvSpPr>
            <a:spLocks noGrp="1"/>
          </p:cNvSpPr>
          <p:nvPr/>
        </p:nvSpPr>
        <p:spPr>
          <a:xfrm>
            <a:off x="638175" y="5534025"/>
            <a:ext cx="10572750" cy="523875"/>
          </a:xfrm>
          <a:prstGeom prst="rect">
            <a:avLst/>
          </a:prstGeom>
          <a:noFill/>
          <a:ln w="0">
            <a:noFill/>
            <a:prstDash val="solid"/>
          </a:ln>
        </p:spPr>
        <p:txBody>
          <a:bodyPr/>
          <a:lstStyle>
            <a:defPPr>
              <a:defRPr sz="1950" b="0">
                <a:solidFill>
                  <a:srgbClr val="B5A2FF"/>
                </a:solidFill>
                <a:latin typeface="DejaVu Sans"/>
                <a:ea typeface="DejaVu Sans"/>
                <a:cs typeface="DejaVu Sans"/>
              </a:defRPr>
            </a:defPPr>
            <a:lvl1pPr>
              <a:defRPr sz="1950" b="0">
                <a:solidFill>
                  <a:srgbClr val="B5A2FF"/>
                </a:solidFill>
                <a:latin typeface="DejaVu Sans"/>
                <a:ea typeface="DejaVu Sans"/>
                <a:cs typeface="DejaVu Sans"/>
              </a:defRPr>
            </a:lvl1pPr>
            <a:lvl2pPr>
              <a:defRPr sz="1950" b="0">
                <a:solidFill>
                  <a:srgbClr val="B5A2FF"/>
                </a:solidFill>
                <a:latin typeface="DejaVu Sans"/>
                <a:ea typeface="DejaVu Sans"/>
                <a:cs typeface="DejaVu Sans"/>
              </a:defRPr>
            </a:lvl2pPr>
            <a:lvl3pPr>
              <a:defRPr sz="1950" b="0">
                <a:solidFill>
                  <a:srgbClr val="B5A2FF"/>
                </a:solidFill>
                <a:latin typeface="DejaVu Sans"/>
                <a:ea typeface="DejaVu Sans"/>
                <a:cs typeface="DejaVu Sans"/>
              </a:defRPr>
            </a:lvl3pPr>
            <a:lvl4pPr>
              <a:defRPr sz="1950" b="0">
                <a:solidFill>
                  <a:srgbClr val="B5A2FF"/>
                </a:solidFill>
                <a:latin typeface="DejaVu Sans"/>
                <a:ea typeface="DejaVu Sans"/>
                <a:cs typeface="DejaVu Sans"/>
              </a:defRPr>
            </a:lvl4pPr>
            <a:lvl5pPr>
              <a:defRPr sz="1950" b="0">
                <a:solidFill>
                  <a:srgbClr val="B5A2FF"/>
                </a:solidFill>
                <a:latin typeface="DejaVu Sans"/>
                <a:ea typeface="DejaVu Sans"/>
                <a:cs typeface="DejaVu Sans"/>
              </a:defRPr>
            </a:lvl5pPr>
            <a:lvl6pPr>
              <a:defRPr sz="1950" b="0">
                <a:solidFill>
                  <a:srgbClr val="B5A2FF"/>
                </a:solidFill>
                <a:latin typeface="DejaVu Sans"/>
                <a:ea typeface="DejaVu Sans"/>
                <a:cs typeface="DejaVu Sans"/>
              </a:defRPr>
            </a:lvl6pPr>
            <a:lvl7pPr>
              <a:defRPr sz="1950" b="0">
                <a:solidFill>
                  <a:srgbClr val="B5A2FF"/>
                </a:solidFill>
                <a:latin typeface="DejaVu Sans"/>
                <a:ea typeface="DejaVu Sans"/>
                <a:cs typeface="DejaVu Sans"/>
              </a:defRPr>
            </a:lvl7pPr>
            <a:lvl8pPr>
              <a:defRPr sz="1950" b="0">
                <a:solidFill>
                  <a:srgbClr val="B5A2FF"/>
                </a:solidFill>
                <a:latin typeface="DejaVu Sans"/>
                <a:ea typeface="DejaVu Sans"/>
                <a:cs typeface="DejaVu Sans"/>
              </a:defRPr>
            </a:lvl8pPr>
            <a:lvl9pPr>
              <a:defRPr sz="1950" b="0">
                <a:solidFill>
                  <a:srgbClr val="B5A2FF"/>
                </a:solidFill>
                <a:latin typeface="DejaVu Sans"/>
                <a:ea typeface="DejaVu Sans"/>
                <a:cs typeface="DejaVu Sans"/>
              </a:defRPr>
            </a:lvl9pPr>
          </a:lstStyle>
          <a:p>
            <a:pPr>
              <a:defRPr sz="1950" b="0">
                <a:solidFill>
                  <a:srgbClr val="B5A2FF"/>
                </a:solidFill>
                <a:latin typeface="DejaVu Sans"/>
                <a:ea typeface="DejaVu Sans"/>
                <a:cs typeface="DejaVu Sans"/>
              </a:defRPr>
            </a:pPr>
            <a:r>
              <a:rPr sz="1950" b="0">
                <a:solidFill>
                  <a:srgbClr val="B5A2FF"/>
                </a:solidFill>
                <a:latin typeface="DejaVu Sans"/>
                <a:ea typeface="DejaVu Sans"/>
                <a:cs typeface="DejaVu Sans"/>
              </a:rPr>
              <a:t>At fixed |L|, the largest principal inertia gives the least energy.</a:t>
            </a:r>
          </a:p>
        </p:txBody>
      </p:sp>
    </p:spTree>
    <p:extLst>
      <p:ext uri="{BB962C8B-B14F-4D97-AF65-F5344CB8AC3E}">
        <p14:creationId xmlns:p14="http://schemas.microsoft.com/office/powerpoint/2010/main" val="34804294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TotalTime>
  <Words>2065</Words>
  <Application>Microsoft Macintosh PowerPoint</Application>
  <DocSecurity>0</DocSecurity>
  <PresentationFormat>Widescreen</PresentationFormat>
  <Paragraphs>146</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DejaVu Sans</vt:lpstr>
      <vt:lpstr>Aptos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Kim Nielsen</cp:lastModifiedBy>
  <cp:revision>5</cp:revision>
  <dcterms:created xsi:type="dcterms:W3CDTF">2026-10-28T19:44:14Z</dcterms:created>
  <dcterms:modified xsi:type="dcterms:W3CDTF">2026-10-29T03:40:16Z</dcterms:modified>
</cp:coreProperties>
</file>